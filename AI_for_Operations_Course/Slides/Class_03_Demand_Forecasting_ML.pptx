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Demand Forecasting with Machine Learning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| Module 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Agenda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Baselines: ARIMA, ETS, Prophet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Models: XGBoost, LightGBM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554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Learning: LSTM, N-BEATS, Temporal Fusion Transformer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9202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Forecasting &amp; Reconciliation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286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Forecasting &amp; Risk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6517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Evaluation Metrics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0175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Lab: Multi-Product XGBoost Forecaster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Statistical Baselines: ARIMA, ETS, Prophet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645920" cy="2743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85039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ARIMA(p,d,q)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94560" y="85039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 p: AR lags, d: differencing, q: MA lags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194560" y="117043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Stationary series; AIC-based parameter selection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194560" y="1463040"/>
            <a:ext cx="3657600" cy="22860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9" name="Text 7"/>
          <p:cNvSpPr/>
          <p:nvPr/>
        </p:nvSpPr>
        <p:spPr>
          <a:xfrm>
            <a:off x="2286000" y="149047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statsmodels.tsa.arima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965960"/>
            <a:ext cx="1645920" cy="2743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99339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ETS (Error/Trend/Seasonal)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194560" y="199339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 Error (A/M), Trend (N/A/M), Seasonal (N/A/M)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194560" y="231343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Multiplicative seasonality; inventory planning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194560" y="2606040"/>
            <a:ext cx="3657600" cy="22860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5" name="Text 13"/>
          <p:cNvSpPr/>
          <p:nvPr/>
        </p:nvSpPr>
        <p:spPr>
          <a:xfrm>
            <a:off x="2286000" y="263347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statsmodels.tsa.ets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1645920" cy="2743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13639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Prophet (Facebook)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94560" y="313639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 Trend, seasonality, holidays, external regressors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194560" y="345643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Automatic configuration; business calendar support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194560" y="3749040"/>
            <a:ext cx="3657600" cy="22860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1" name="Text 19"/>
          <p:cNvSpPr/>
          <p:nvPr/>
        </p:nvSpPr>
        <p:spPr>
          <a:xfrm>
            <a:off x="2286000" y="377647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fbprophet (nowcasting focused)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Models: XGBoost &amp; LightGBM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463040" cy="2743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79552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0" y="777240"/>
            <a:ext cx="3657600" cy="2743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7" name="Text 5"/>
          <p:cNvSpPr/>
          <p:nvPr/>
        </p:nvSpPr>
        <p:spPr>
          <a:xfrm>
            <a:off x="4206240" y="79552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0" y="777240"/>
            <a:ext cx="3657600" cy="2743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79552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078992"/>
            <a:ext cx="8229600" cy="32004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1155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011680" y="11155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(cart)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669280" y="11155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(leaf-wise)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1399032"/>
            <a:ext cx="822960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143560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011680" y="14356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(CPU/GPU)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669280" y="14356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Fast (GPU optimized)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1719072"/>
            <a:ext cx="8229600" cy="32004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175564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011680" y="17556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0" y="17556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(histogram-based)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2039112"/>
            <a:ext cx="822960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207568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11680" y="207568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SHAP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669280" y="207568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SHAP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359152"/>
            <a:ext cx="8229600" cy="32004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239572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011680" y="23957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stability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669280" y="23957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datasets, speed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 Learning for Forecasting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LSTM (Long Short-Term Memory)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Recurrent cells + gates (forget, input, output)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8046720" cy="320040"/>
          </a:xfrm>
          <a:prstGeom prst="rect">
            <a:avLst/>
          </a:prstGeom>
          <a:solidFill>
            <a:srgbClr val="E8E8E8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58191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Strength: Captures long-range dependencies; handles variable-length sequences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N-BEATS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Stacks basis expansion blocks; interpretable trends/seasonality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697480"/>
            <a:ext cx="8046720" cy="320040"/>
          </a:xfrm>
          <a:prstGeom prst="rect">
            <a:avLst/>
          </a:prstGeom>
          <a:solidFill>
            <a:srgbClr val="E8E8E8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72491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Strength: State-of-the-art M4 competition winner; no external regressors needed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7200" y="3200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Temporal Fusion Transformer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4747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Multi-head attention over time steps; variable importance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40080" y="3840480"/>
            <a:ext cx="8046720" cy="320040"/>
          </a:xfrm>
          <a:prstGeom prst="rect">
            <a:avLst/>
          </a:prstGeom>
          <a:solidFill>
            <a:srgbClr val="E8E8E8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86791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Strength: Handles static/temporal/known-future features; explainable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Hierarchical Forecasting &amp; MinT Reconciliation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0" y="822960"/>
            <a:ext cx="1371600" cy="3200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5" name="Text 3"/>
          <p:cNvSpPr/>
          <p:nvPr/>
        </p:nvSpPr>
        <p:spPr>
          <a:xfrm>
            <a:off x="4251960" y="86868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Demand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800600" y="1143000"/>
            <a:ext cx="-2286000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0" y="1280160"/>
            <a:ext cx="1371600" cy="2743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8" name="Text 6"/>
          <p:cNvSpPr/>
          <p:nvPr/>
        </p:nvSpPr>
        <p:spPr>
          <a:xfrm>
            <a:off x="1920240" y="1316736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800600" y="1143000"/>
            <a:ext cx="-274320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0" y="1280160"/>
            <a:ext cx="1371600" cy="2743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1" name="Text 9"/>
          <p:cNvSpPr/>
          <p:nvPr/>
        </p:nvSpPr>
        <p:spPr>
          <a:xfrm>
            <a:off x="3931920" y="1316736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B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800600" y="1143000"/>
            <a:ext cx="1737360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52160" y="1280160"/>
            <a:ext cx="1371600" cy="2743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0" y="1316736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C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371600" y="1737360"/>
            <a:ext cx="822960" cy="2286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6" name="Text 14"/>
          <p:cNvSpPr/>
          <p:nvPr/>
        </p:nvSpPr>
        <p:spPr>
          <a:xfrm>
            <a:off x="1417320" y="1764792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1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286000" y="1737360"/>
            <a:ext cx="822960" cy="2286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8" name="Text 16"/>
          <p:cNvSpPr/>
          <p:nvPr/>
        </p:nvSpPr>
        <p:spPr>
          <a:xfrm>
            <a:off x="2331720" y="1764792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2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3383280" y="1737360"/>
            <a:ext cx="822960" cy="2286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64792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3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297680" y="1737360"/>
            <a:ext cx="822960" cy="2286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2" name="Text 20"/>
          <p:cNvSpPr/>
          <p:nvPr/>
        </p:nvSpPr>
        <p:spPr>
          <a:xfrm>
            <a:off x="4343400" y="1764792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4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94960" y="1737360"/>
            <a:ext cx="822960" cy="2286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4" name="Text 22"/>
          <p:cNvSpPr/>
          <p:nvPr/>
        </p:nvSpPr>
        <p:spPr>
          <a:xfrm>
            <a:off x="5440680" y="1764792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5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6309360" y="1737360"/>
            <a:ext cx="822960" cy="2286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1764792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6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5720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Top-Down: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920240" y="2286000"/>
            <a:ext cx="6675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total, disaggregate down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26517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Bottom-Up: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920240" y="2651760"/>
            <a:ext cx="6675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stores, aggregate up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30175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MinT: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920240" y="3017520"/>
            <a:ext cx="6675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trace reconciliation (optimal weights)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Probabilistic Forecasting &amp; Risk-Aware Planning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3657600" cy="2743200"/>
          </a:xfrm>
          <a:prstGeom prst="rect">
            <a:avLst/>
          </a:prstGeom>
          <a:solidFill>
            <a:srgbClr val="E8E8E8"/>
          </a:solidFill>
          <a:ln w="25400">
            <a:solidFill>
              <a:srgbClr val="2E86A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9144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Quantile Forecasts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(Median)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0" y="86868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Risk-Aware Planning: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63440" y="12344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Stock: Use 95th percentile for buffer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663440" y="16459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Level: 99% = higher quantile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63440" y="20574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Overbooking Risk: 75th percentile demand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663440" y="24688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Planning: Low demand scenario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63440" y="28803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Allocation: Match uncertainty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Evaluation: Accuracy Metrics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MAPE (Mean Absolute % Error)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Formula: Avg(|Actual - Forecast| / Actual)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426464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Scale-independent; interpretable %  |  Caution: Undefined when Actual=0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8836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RMSSE (Root Mean Squared Scaled Error)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139696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Formula: RMSE / RMSE(naive seasonal)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2395728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M5 competition metric; scale-free  |  Caution: Requires seasonal baseline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285292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WAPE (Weighted Absolute % Error)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10896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Formula: Sum(|Actual - Forecast|) / Sum(|Actual|)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36499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Portfolio accuracy; large items weighted  |  Caution: Requires aggregation strategy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Lab: Multi-Product XGBoost Forecaster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Load retail data (pandas): product × store × time series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Feature engineering: calendar (month, day-of-week, holiday), promotions, lag features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 XGBoost on all products; evaluate MAPE per product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6974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Plot forecast vs actual for top 5 SKUs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2918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Compute forecast intervals using quantile regression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931920"/>
            <a:ext cx="8229600" cy="822960"/>
          </a:xfrm>
          <a:prstGeom prst="rect">
            <a:avLst/>
          </a:prstGeom>
          <a:solidFill>
            <a:srgbClr val="2B2B2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4023360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xgboost import XGBRegressor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XGBRegressor(n_estimators=100, learning_rate=0.1)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model.fit(X_train, y_train)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y_pred = model.predict(X_test)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09728" cy="109728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850392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baselines (ARIMA, ETS, Prophet) provide interpretable, low-maintenance forecasts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09728" cy="109728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353312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XGBoost/LightGBM leverage external features (promotions, weather, calendar) for higher accuracy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109728" cy="109728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56232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(LSTM, N-BEATS) excels at capturing long-term seasonality &amp; trends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109728" cy="109728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359152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forecasting ensures consistency across business levels (top-down vs bottom-up)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880360"/>
            <a:ext cx="109728" cy="109728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862072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forecasting enables risk-aware inventory &amp; supply planning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3383280"/>
            <a:ext cx="109728" cy="109728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364992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evaluation metrics (MAPE, RMSSE, WAPE) required for portfolio assessment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&amp; Answers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 — www.proxiant.com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AI. Professionally.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2026-02-14T12:25:22Z</dcterms:created>
  <dcterms:modified xsi:type="dcterms:W3CDTF">2026-02-14T12:25:22Z</dcterms:modified>
</cp:coreProperties>
</file>