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Forecasting with Machine Learning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| Module 3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Baselines: ARIMA, ETS, Prophet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Models: XGBoost, LightGBM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Learning: LSTM, N-BEATS, Temporal Fusion Transformer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Forecasting &amp; Reconciliation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Forecasting &amp; Risk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Metrics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017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Lab: Multi-Product XGBoost Forecaster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Baselines: ARIMA, ETS, Prophet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645920" cy="2743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85039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ARIMA(p,d,q)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94560" y="850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p: AR lags, d: differencing, q: MA lags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194560" y="11704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Stationary series; AIC-based parameter selection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94560" y="1463040"/>
            <a:ext cx="3657600" cy="22860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286000" y="149047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statsmodels.tsa.arima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1645920" cy="2743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2920" y="199339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ETS (Error/Trend/Seasonal)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94560" y="1993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Error (A/M), Trend (N/A/M), Seasonal (N/A/M)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94560" y="23134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Multiplicative seasonality; inventory planning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94560" y="2606040"/>
            <a:ext cx="3657600" cy="22860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286000" y="263347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statsmodels.tsa.ets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1645920" cy="2743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2920" y="313639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Prophet (Facebook)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94560" y="3136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Trend, seasonality, holidays, external regressors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94560" y="34564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Automatic configuration; business calendar support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194560" y="3749040"/>
            <a:ext cx="3657600" cy="22860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286000" y="377647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fbprophet (nowcasting focused)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Models: XGBoost &amp; LightGBM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463040" cy="2743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79552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0" y="777240"/>
            <a:ext cx="3657600" cy="2743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206240" y="79552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0" y="777240"/>
            <a:ext cx="3657600" cy="27432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863840" y="79552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11155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11680" y="11155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(cart)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0" y="11155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(leaf-wise)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399032"/>
            <a:ext cx="82296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14356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11680" y="14356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(CPU/GPU)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0" y="14356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 (GPU optimized)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719072"/>
            <a:ext cx="8229600" cy="32004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8640" y="17556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17556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0" y="17556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(histogram-based)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039112"/>
            <a:ext cx="82296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8640" y="20756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11680" y="20756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SHAP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69280" y="20756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SHAP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359152"/>
            <a:ext cx="8229600" cy="32004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48640" y="23957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011680" y="23957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stability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0" y="23957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datasets, speed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 for Forecasting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LSTM (Long Short-Term Memory)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Recurrent cells + gates (forget, input, output)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8046720" cy="320040"/>
          </a:xfrm>
          <a:prstGeom prst="rect">
            <a:avLst/>
          </a:prstGeom>
          <a:solidFill>
            <a:srgbClr val="E8E8E8"/>
          </a:solidFill>
          <a:ln w="127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5819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Captures long-range dependencies; handles variable-length sequences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N-BEATS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Stacks basis expansion blocks; interpretable trends/seasonality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8046720" cy="320040"/>
          </a:xfrm>
          <a:prstGeom prst="rect">
            <a:avLst/>
          </a:prstGeom>
          <a:solidFill>
            <a:srgbClr val="E8E8E8"/>
          </a:solidFill>
          <a:ln w="127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27249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State-of-the-art M4 competition winner; no external regressors needed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Fusion Transformer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Multi-head attention over time steps; variable importance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8046720" cy="320040"/>
          </a:xfrm>
          <a:prstGeom prst="rect">
            <a:avLst/>
          </a:prstGeom>
          <a:solidFill>
            <a:srgbClr val="E8E8E8"/>
          </a:solidFill>
          <a:ln w="127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38679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Handles static/temporal/known-future features; explainable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Hierarchical Forecasting &amp; MinT Reconciliation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0" y="822960"/>
            <a:ext cx="1371600" cy="32004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251960" y="8686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Demand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800600" y="1143000"/>
            <a:ext cx="-22860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828800" y="1280160"/>
            <a:ext cx="1371600" cy="2743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920240" y="13167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-2743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840480" y="1280160"/>
            <a:ext cx="1371600" cy="2743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931920" y="13167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B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00600" y="1143000"/>
            <a:ext cx="17373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852160" y="1280160"/>
            <a:ext cx="1371600" cy="2743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43600" y="13167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71600" y="1737360"/>
            <a:ext cx="822960" cy="22860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17320" y="17647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1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286000" y="1737360"/>
            <a:ext cx="822960" cy="22860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331720" y="17647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2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383280" y="1737360"/>
            <a:ext cx="822960" cy="22860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429000" y="17647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3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297680" y="1737360"/>
            <a:ext cx="822960" cy="22860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343400" y="17647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4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394960" y="1737360"/>
            <a:ext cx="822960" cy="22860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440680" y="17647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5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737360"/>
            <a:ext cx="822960" cy="22860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355080" y="17647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6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5720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Top-Down: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20240" y="2286000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total, disaggregate down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2651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Bottom-Up: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920240" y="2651760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stores, aggregate up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017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MinT: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920240" y="3017520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trace reconciliation (optimal weights)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Probabilistic Forecasting &amp; Risk-Aware Planning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657600" cy="2743200"/>
          </a:xfrm>
          <a:prstGeom prst="rect">
            <a:avLst/>
          </a:prstGeom>
          <a:solidFill>
            <a:srgbClr val="E8E8E8"/>
          </a:solidFill>
          <a:ln w="25400">
            <a:solidFill>
              <a:srgbClr val="2E86A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9144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Quantile Forecasts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(Median)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0" y="8686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Risk-Aware Planning: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Stock: Use 95th percentile for buffer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1645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Level: 99% = higher quantile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2057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Overbooking Risk: 75th percentile demand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3440" y="2468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Planning: Low demand scenario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2880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Allocation: Match uncertainty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Evaluation: Accuracy Metrics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MAPE (Mean Absolute % Error)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Formula: Avg(|Actual - Forecast| / Actual)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42646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Scale-independent; interpretable %  |  Caution: Undefined when Actual=0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8836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RMSSE (Root Mean Squared Scaled Error)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39696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Formula: RMSE / RMSE(naive seasonal)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3957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M5 competition metric; scale-free  |  Caution: Requires seasonal baseline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8529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WAPE (Weighted Absolute % Error)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Formula: Sum(|Actual - Forecast|) / Sum(|Actual|)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3649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Portfolio accuracy; large items weighted  |  Caution: Requires aggregation strategy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Lab: Multi-Product XGBoost Forecaster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retail data (pandas): product × store × time series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Feature engineering: calendar (month, day-of-week, holiday), promotions, lag features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Train XGBoost on all products; evaluate MAPE per product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Plot forecast vs actual for top 5 SKUs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Compute forecast intervals using quantile regression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2B2B2B"/>
          </a:solidFill>
          <a:ln w="12700">
            <a:solidFill>
              <a:srgbClr val="2E86A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94360" y="402336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xgboost import XGBRegressor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XGBRegressor(n_estimators=100, learning_rate=0.1)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= model.predict(X_test)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8503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baselines (ARIMA, ETS, Prophet) provide interpretable, low-maintenance forecasts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35331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XGBoost/LightGBM leverage external features (promotions, weather, calendar) for higher accuracy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18562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(LSTM, N-BEATS) excels at capturing long-term seasonality &amp; trends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235915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forecasting ensures consistency across business levels (top-down vs bottom-up)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28620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forecasting enables risk-aware inventory &amp; supply planning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33649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evaluation metrics (MAPE, RMSSE, WAPE) required for portfolio assessment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Answers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 | proxiant.ai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AI. Professionally.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2026-02-14T12:25:22Z</dcterms:created>
  <dcterms:modified xsi:type="dcterms:W3CDTF">2026-02-14T12:25:22Z</dcterms:modified>
</cp:coreProperties>
</file>