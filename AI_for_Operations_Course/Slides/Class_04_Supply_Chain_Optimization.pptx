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Proxiant Academy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457200" y="16459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Supply Chain Optimization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| Module 4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Module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914400" y="822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Design: Facility Location Problem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12801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Optimization: EOQ, Safety Stock, Multi-Echelon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17373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Selection: Multi-Criteria Scoring &amp; TCO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21945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Bullwhip Effect: Causes &amp; AI-Powered Solutions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26517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&amp; ESG in Supply Chain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Lab: Multi-Echelon Inventory Optimization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Network Design: Facility Location Problem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097280" y="1097280"/>
            <a:ext cx="548640" cy="45720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1143000" y="1188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DC1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3840480" y="1097280"/>
            <a:ext cx="548640" cy="45720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886200" y="1188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0" y="1097280"/>
            <a:ext cx="548640" cy="45720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629400" y="11887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DC3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2920" y="274320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4864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C1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14600" y="274320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256032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26280" y="274320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C3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537960" y="274320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58368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183880" y="2743200"/>
            <a:ext cx="457200" cy="457200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229600" y="283464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C5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3832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Optimization Approaches: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0080" y="374904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P-Median: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103120" y="374904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total distance to p facilities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40080" y="406908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P-Center: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03120" y="406908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Minimize max distance (service coverage)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40080" y="43891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MIP (Gurobi/PuLP):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103120" y="4389120"/>
            <a:ext cx="65836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Mixed-integer: open/close facilities + route flows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Inventory Optimization Framework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82880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48640" y="79552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0" y="777240"/>
            <a:ext cx="320040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3749040" y="795528"/>
            <a:ext cx="30175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029200" y="777240"/>
            <a:ext cx="228600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120640" y="795528"/>
            <a:ext cx="21031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Timeframe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1097280"/>
            <a:ext cx="7315200" cy="41148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94360" y="114300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377440" y="114300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inventory levels, multi-year demand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577840" y="114300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Quarterly/Annual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1463040"/>
            <a:ext cx="73152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94360" y="150876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Tactical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377440" y="150876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frequency, safety stock, EOQ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577840" y="150876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1828800"/>
            <a:ext cx="7315200" cy="41148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94360" y="1874520"/>
            <a:ext cx="1554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377440" y="1874520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 points, expediting, allocation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577840" y="187452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57200" y="2560320"/>
            <a:ext cx="8229600" cy="1188720"/>
          </a:xfrm>
          <a:prstGeom prst="rect">
            <a:avLst/>
          </a:prstGeom>
          <a:solidFill>
            <a:srgbClr val="E8E8E8"/>
          </a:solidFill>
          <a:ln w="254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265176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Economic Order Quantity (EOQ) with ML Demand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371600" y="2971800"/>
            <a:ext cx="6400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EOQ = √(2 × D × S / H)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3383280"/>
            <a:ext cx="7863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= ML forecast demand  |  S = Order cost  |  H = Holding cost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Supplier Selection: Multi-Criteria &amp; TCO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77240"/>
            <a:ext cx="182880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502920" y="795528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Criterion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1554480" y="777240"/>
            <a:ext cx="109728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600200" y="795528"/>
            <a:ext cx="1005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943600" y="777240"/>
            <a:ext cx="274320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989320" y="795528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Method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686800" y="777240"/>
            <a:ext cx="2743200" cy="274320"/>
          </a:xfrm>
          <a:prstGeom prst="rect">
            <a:avLst/>
          </a:prstGeom>
          <a:solidFill>
            <a:srgbClr val="1B365D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732520" y="795528"/>
            <a:ext cx="26517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Impact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" y="1097280"/>
            <a:ext cx="7315200" cy="41148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594360" y="116128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Quality Score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2331720" y="116128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429000" y="1143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Historical defect rate trend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72200" y="1143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 scrap cost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1463040"/>
            <a:ext cx="73152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94360" y="152704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Lead Time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2331720" y="152704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342900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variability + reliability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172200" y="150876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Stock-out penalty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457200" y="1828800"/>
            <a:ext cx="7315200" cy="41148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594360" y="189280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2331720" y="189280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42900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history + discount prediction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172200" y="187452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Purchase + carrying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2194560"/>
            <a:ext cx="7315200" cy="41148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94360" y="225856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Risk Profile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2331720" y="225856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429000" y="22402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disruption probability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172200" y="224028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Expedite/mitigation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57200" y="2560320"/>
            <a:ext cx="7315200" cy="41148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2624328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Sustainability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2331720" y="2624328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3429000" y="26060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footprint score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6172200" y="260604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Regulatory/brand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Bullwhip Effect: Causes &amp; Solutions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86868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Demand Signal Amplification Across Tiers: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2344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Consumer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011680" y="1188720"/>
            <a:ext cx="45720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560320" y="12344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units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57200" y="19202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Retailer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011680" y="1874520"/>
            <a:ext cx="155448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657600" y="1920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units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57200" y="2606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Distributor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011680" y="2560320"/>
            <a:ext cx="265176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754880" y="26060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units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7200" y="3291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Manufacturer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011680" y="3246120"/>
            <a:ext cx="3749040" cy="365760"/>
          </a:xfrm>
          <a:prstGeom prst="rect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852160" y="32918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units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0" y="868680"/>
            <a:ext cx="4114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Root Causes: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54880" y="123444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 signal processing delays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754880" y="164592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 batching (weekly → monthly)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754880" y="205740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fluctuations &amp; promotions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754880" y="246888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uncertainty &amp; hoarding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754880" y="2880360"/>
            <a:ext cx="3931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Lack of information sharing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4572000" y="2926080"/>
            <a:ext cx="4114800" cy="1554480"/>
          </a:xfrm>
          <a:prstGeom prst="rect">
            <a:avLst/>
          </a:prstGeom>
          <a:solidFill>
            <a:srgbClr val="E8E8E8"/>
          </a:solidFill>
          <a:ln w="127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4754880" y="3017520"/>
            <a:ext cx="37490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65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AI Solutions: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0" y="3337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VMI: Vendor-managed inventory (ML forecasts)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4846320" y="37947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CPFR: Collaborative forecasting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846320" y="42519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data sharing (IoT + APIs)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Sustainability &amp; ESG in Supply Chain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Environmental (E)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207008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 footprint (Scope 3)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731520" y="146304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 waste reduction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731520" y="1719072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efficiency scoring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31520" y="1929384"/>
            <a:ext cx="795528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1975104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Route optimization for emissions; supplier emissions prediction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57200" y="2432304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Social (S)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2724912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 labor practices (audits)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31520" y="2980944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impact score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731520" y="3236976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Supply chain transparency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1520" y="3447288"/>
            <a:ext cx="795528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493008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Risk clustering; ethical sourcing compliance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57200" y="395020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86A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Governance (G)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242816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 certifications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1520" y="4498848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tracking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31520" y="4754880"/>
            <a:ext cx="7955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Dispute resolution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731520" y="4965192"/>
            <a:ext cx="7955280" cy="320040"/>
          </a:xfrm>
          <a:prstGeom prst="rect">
            <a:avLst/>
          </a:prstGeom>
          <a:solidFill>
            <a:srgbClr val="E8E8E8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868680" y="5010912"/>
            <a:ext cx="7680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AI/ML: Contract NLP analysis; supplier health monitoring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Hands-On Lab: Multi-Echelon Inventory Optimization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Define 3-level supply chain (plant → DC → stores) with demand forecast (from Class 3)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Formulate MIP with PuLP: inventory cost + transportation cost + service level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0080" y="2048256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Constraints: supply capacity, demand fulfillment, inventory bounds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40080" y="2615184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Solve with open-source solver (CBC) or commercial (Gurobi trial)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40080" y="3182112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Visualize optimal allocation &amp; safety stock levels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57200" y="3886200"/>
            <a:ext cx="8229600" cy="868680"/>
          </a:xfrm>
          <a:prstGeom prst="rect">
            <a:avLst/>
          </a:prstGeom>
          <a:solidFill>
            <a:srgbClr val="2B2B2B"/>
          </a:solidFill>
          <a:ln w="12700">
            <a:solidFill>
              <a:srgbClr val="2E86A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59436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from pulp import *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 = LpProblem("MultiEchelon", LpMinimize)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Decision variables: x[i,t] = inventory at node i, time t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= [[LpVariable(f"inv_{i}_{t}", lowBound=0) for t in range(T)] for i in range(3)]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Objective: minimize inventory holding + transportation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00FF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 += lpSum([holding_cost[i] * x[i][t] for i in range(3) for t in range(T)])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2E86A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274320" y="7315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85039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Facility location optimization (p-median, MIP) balances costs &amp; service coverage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548640" y="137160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868680" y="135331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EOQ formula enhanced with ML demand forecasts improves order planning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868680" y="185623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Multi-criteria supplier selection (quality, cost, risk, ESG) requires weighted scoring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48640" y="237744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235915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Bullwhip effect mitigated through VMI, CPFR, and real-time data transparency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48640" y="288036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68680" y="286207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Sustainability integrated into supply chain via carbon optimization &amp; ESG scoring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8640" y="3383280"/>
            <a:ext cx="109728" cy="109728"/>
          </a:xfrm>
          <a:prstGeom prst="ellipse">
            <a:avLst/>
          </a:prstGeom>
          <a:solidFill>
            <a:srgbClr val="4CAF5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868680" y="3364992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Multi-echelon optimization (strategic, tactical, operational) ensures end-to-end efficiency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74320" y="47777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365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 &amp; Answers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Proxiant Academy | proxiant.ai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AI. Professionally.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2026-02-14T12:26:06Z</dcterms:created>
  <dcterms:modified xsi:type="dcterms:W3CDTF">2026-02-14T12:26:06Z</dcterms:modified>
</cp:coreProperties>
</file>