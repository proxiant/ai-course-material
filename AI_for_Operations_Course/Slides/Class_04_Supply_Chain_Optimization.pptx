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Proxiant Academy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Supply Chain Optimization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| Module 4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822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Design: Facility Location Problem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280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Optimization: EOQ, Safety Stock, Multi-Echelon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Selection: Multi-Criteria Scoring &amp; TCO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Bullwhip Effect: Causes &amp; AI-Powered Solutions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&amp; ESG in Supply Chain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108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Lab: Multi-Echelon Inventory Optimization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Design: Facility Location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" y="1097280"/>
            <a:ext cx="548640" cy="45720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188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840480" y="1097280"/>
            <a:ext cx="548640" cy="45720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7" name="Text 5"/>
          <p:cNvSpPr/>
          <p:nvPr/>
        </p:nvSpPr>
        <p:spPr>
          <a:xfrm>
            <a:off x="3886200" y="1188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0" y="1097280"/>
            <a:ext cx="548640" cy="45720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1188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743200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346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14600" y="2743200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28346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26280" y="2743200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28346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37960" y="2743200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28346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183880" y="2743200"/>
            <a:ext cx="457200" cy="45720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28346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383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Optimization Approaches: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3749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P-Median: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03120" y="3749040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total distance to p facilities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4069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P-Center: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03120" y="4069080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max distance (service coverage)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43891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MIP (Gurobi/PuLP):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03120" y="4389120"/>
            <a:ext cx="6583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Mixed-integer: open/close facilities + route flows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Inventory Optimization Framework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828800" cy="2743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79552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0" y="777240"/>
            <a:ext cx="3200400" cy="2743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7" name="Text 5"/>
          <p:cNvSpPr/>
          <p:nvPr/>
        </p:nvSpPr>
        <p:spPr>
          <a:xfrm>
            <a:off x="3749040" y="79552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0" y="777240"/>
            <a:ext cx="2286000" cy="2743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795528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Timeframe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7315200" cy="41148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1143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77440" y="11430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inventory levels, multi-year demand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577840" y="11430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Quarterly/Annual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463040"/>
            <a:ext cx="73152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150876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Tactical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77440" y="15087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frequency, safety stock, EOQ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77840" y="15087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1828800"/>
            <a:ext cx="7315200" cy="41148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18745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77440" y="18745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points, expediting, allocation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577840" y="1874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Daily/Weekly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560320"/>
            <a:ext cx="8229600" cy="1188720"/>
          </a:xfrm>
          <a:prstGeom prst="rect">
            <a:avLst/>
          </a:prstGeom>
          <a:solidFill>
            <a:srgbClr val="E8E8E8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6517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Economic Order Quantity (EOQ) with ML Demand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371600" y="2971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EOQ = √(2 × D × S / H)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3383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ML forecast demand  |  S = Order cost  |  H = Holding cost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Supplier Selection: Multi-Criteria &amp; TCO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828800" cy="2743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79552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54480" y="777240"/>
            <a:ext cx="1097280" cy="2743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7" name="Text 5"/>
          <p:cNvSpPr/>
          <p:nvPr/>
        </p:nvSpPr>
        <p:spPr>
          <a:xfrm>
            <a:off x="1600200" y="79552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0" y="777240"/>
            <a:ext cx="2743200" cy="2743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9" name="Text 7"/>
          <p:cNvSpPr/>
          <p:nvPr/>
        </p:nvSpPr>
        <p:spPr>
          <a:xfrm>
            <a:off x="5989320" y="79552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Method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686800" y="777240"/>
            <a:ext cx="2743200" cy="2743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11" name="Text 9"/>
          <p:cNvSpPr/>
          <p:nvPr/>
        </p:nvSpPr>
        <p:spPr>
          <a:xfrm>
            <a:off x="8732520" y="79552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Impact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1097280"/>
            <a:ext cx="7315200" cy="41148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116128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Score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331720" y="116128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29000" y="1143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defect rate trend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172200" y="1143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scrap cost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57200" y="1463040"/>
            <a:ext cx="73152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15270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Time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331720" y="15270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2900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variability + reliability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17220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Stock-out penalty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1828800"/>
            <a:ext cx="7315200" cy="41148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18928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331720" y="189280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29000" y="1874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history + discount prediction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72200" y="18745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+ carrying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2194560"/>
            <a:ext cx="73152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22585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Profile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331720" y="225856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29000" y="2240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disruption probability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172200" y="2240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Expedite/mitigation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57200" y="2560320"/>
            <a:ext cx="7315200" cy="41148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26243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Sustainability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331720" y="26243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429000" y="2606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footprint score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172200" y="2606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Regulatory/brand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7432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Bullwhip Effect: Causes &amp; Solutions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 Signal Amplification Across Tiers: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Consumer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0" y="1188720"/>
            <a:ext cx="457200" cy="3657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0" y="1234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units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Retailer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0" y="1874520"/>
            <a:ext cx="1554480" cy="3657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1920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units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11680" y="2560320"/>
            <a:ext cx="2651760" cy="3657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606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units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Manufacturer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011680" y="3246120"/>
            <a:ext cx="3749040" cy="3657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6" name="Text 14"/>
          <p:cNvSpPr/>
          <p:nvPr/>
        </p:nvSpPr>
        <p:spPr>
          <a:xfrm>
            <a:off x="5852160" y="3291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units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0" y="8686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Root Causes: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1234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signal processing delays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16459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batching (weekly → monthly)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0" y="2057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fluctuations &amp; promotions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2468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uncertainty &amp; hoarding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28803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information sharing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2926080"/>
            <a:ext cx="4114800" cy="1554480"/>
          </a:xfrm>
          <a:prstGeom prst="rect">
            <a:avLst/>
          </a:prstGeom>
          <a:solidFill>
            <a:srgbClr val="E8E8E8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30175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6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Solutions: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3337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VMI: Vendor-managed inventory (ML forecasts)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46320" y="3794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CPFR: Collaborative forecasting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46320" y="4251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sharing (IoT + APIs)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432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Sustainability &amp; ESG in Supply Chain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Environmental (E)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207008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footprint (Scope 3)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waste reduction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719072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efficiency scoring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1929384"/>
            <a:ext cx="7955280" cy="32004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97510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AI/ML: Route optimization for emissions; supplier emissions prediction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243230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 (S)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724912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labor practices (audits)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2980944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impact score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236976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transparency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3447288"/>
            <a:ext cx="7955280" cy="32004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49300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AI/ML: Risk clustering; ethical sourcing compliance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39502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(G)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4242816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certifications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4498848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tracking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475488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resolution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4965192"/>
            <a:ext cx="7955280" cy="320040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01091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AI/ML: Contract NLP analysis; supplier health monitoring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7432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Lab: Multi-Echelon Inventory Optimization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Define 3-level supply chain (plant → DC → stores) with demand forecast (from Class 3)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4813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Formulate MIP with PuLP: inventory cost + transportation cost + service level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2048256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Constraints: supply capacity, demand fulfillment, inventory bounds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615184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Solve with open-source solver (CBC) or commercial (Gurobi trial)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18211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Visualize optimal allocation &amp; safety stock levels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886200"/>
            <a:ext cx="8229600" cy="868680"/>
          </a:xfrm>
          <a:prstGeom prst="rect">
            <a:avLst/>
          </a:prstGeom>
          <a:solidFill>
            <a:srgbClr val="2B2B2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97764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pulp import *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 = LpProblem("MultiEchelon", LpMinimize)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Decision variables: x[i,t] = inventory at node i, time 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[[LpVariable(f"inv_{i}_{t}", lowBound=0) for t in range(T)] for i in range(3)]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Objective: minimize inventory holding + transportation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00F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 += lpSum([holding_cost[i] * x[i][t] for i in range(3) for t in range(T)])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7432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09728" cy="10972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8503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location optimization (p-median, MIP) balances costs &amp; service coverage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09728" cy="10972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35331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EOQ formula enhanced with ML demand forecasts improves order planning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109728" cy="10972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85623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Multi-criteria supplier selection (quality, cost, risk, ESG) requires weighted scoring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109728" cy="10972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35915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Bullwhip effect mitigated through VMI, CPFR, and real-time data transparency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880360"/>
            <a:ext cx="109728" cy="10972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86207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integrated into supply chain via carbon optimization &amp; ESG scoring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109728" cy="10972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3649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Multi-echelon optimization (strategic, tactical, operational) ensures end-to-end efficiency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4320" y="47777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Answers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 — www.proxiant.com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AI. Professionally.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2026-02-14T12:26:06Z</dcterms:created>
  <dcterms:modified xsi:type="dcterms:W3CDTF">2026-02-14T12:26:06Z</dcterms:modified>
</cp:coreProperties>
</file>