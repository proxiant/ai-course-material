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AI Fundamentals Week 1. This course introduces foundational concepts in artificial intelligence, including defining AI, understanding different AI paradigms, and exploring search and knowledge representation techniques.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1 focuses on foundational concepts of artificial intelligence, including what intelligence is, different definitions of AI, the Turing Test, and the history of AI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Intelligence can be viewed from different perspectives. Human intelligence is characterized by consciousness, emotion, creativity, and social understanding. Artificial intelligence focuses on pattern recognition, logical reasoning, task optimization, and data processing capabilities.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Russell &amp; Norvig framework provides four perspectives on AI. Thinking Humanly focuses on cognitive science, Thinking Rationally on formal logic, Acting Humanly on the Turing Test, and Acting Rationally on maximizing success as a rational agent. Most modern AI systems use the rational agent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Turing Test, proposed in 1950, measures whether a machine can exhibit behavior indistinguishable from a human. An interrogator tests hidden participants and tries to determine which is human. While influential, the test has limitations - it focuses only on language and behavioral imitation rather than true understanding.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AI's history spans from the optimistic Dartmouth Conference in 1956, through the expert systems boom of the 1970s-80s, the disappointment of AI Winter, the machine learning renaissance, the deep learning revolution starting in 2012, and today's large language model era beginning in 2020.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can be categorized by capability level. Narrow AI, the current state of all AI systems, is designed for specific tasks. General AI (AGI) would match human-level intelligence across domains but remains theoretical. Super AI (ASI) would surpass human intelligence and is purely speculative.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Modern AI demonstrates remarkable capabilities across multiple domains. Virtual assistants power smart devices, autonomous vehicles are being deployed, AI aids medical diagnosis, game-playing AIs outperform humans, language models enable natural communication, and computer vision systems recognize faces and objects with superhuman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AI field spans multiple subfields: Machine Learning encompasses supervised, unsupervised, and reinforcement learning. Natural Language Processing handles sentiment analysis, translation, and question answering. Computer Vision performs image classification, detection, and segmentation. Robotics integrates physical systems with intelligence. Expert Systems encode domain-specific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Major milestones in AI history demonstrate rapid progress. Deep Blue's victory over Kasparov in 1997 proved computers could master complex games. Watson's Jeopardy! win in 2011 showed language understanding capabilities. AlphaGo's defeat of Lee Sedol in 2016 shocked the world with intuition-like play. BERT in 2018 revolutionized language tasks. ChatGPT's rapid adoption in 2022 brought AI to mainstream consciousness.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1 covered the foundations of AI. We explored what intelligence means, the different definitions and frameworks for AI, the historic Turing Test, AI's cyclical history, the types of AI (narrow to superintelligence), current real-world capabilities, and the landscape of AI subfields. All modern AI systems are narrow and task-specific, but increasingly powerful.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2 explores the relationship between AI, ML, DL, and data science, introduces intelligent agents, and discusses how agents interact with their environments.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is the broadest field encompassing all intelligent systems. Machine Learning is a subset of AI where systems learn from data. Deep Learning is a subset of ML using neural networks with multiple layers. Data Science overlaps with all three, focusing on deriving insights from data using statistical and computational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intelligent agent is an autonomous system that perceives its environment through sensors, reasons about the perceptions to make decisions, and takes actions through actuators to achieve goals. The agent architecture follows a cycle: perceive environment, reason about perceptions, execute actions.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Agents vary in sophistication. Simple reflex agents directly respond to stimuli. Model-based agents maintain an internal model of the world. Goal-based agents actively work toward specific objectives. Utility-based agents maximize satisfaction. Learning agents improve through experience. Autonomous agents operate independently.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Environment characteristics determine agent design complexity. Observable vs partially observable affects sensing requirements. Deterministic vs stochastic affects predictability. Episodic vs sequential affects memory needs. Static vs dynamic affects time pressure. Discrete vs continuous affects representation. Single vs multiagent affects interaction complexity.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2 covered the paradigm relationships and agent-based AI. We explored how AI, machine learning, deep learning, and data science relate to each other. We defined intelligent agents and their architecture, discussed different agent types from simple reflex to learning agents, and examined how environment characteristics affect agent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3 covers search algorithms and knowledge representation techniques that enable agents to solve problems and reason about the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Uninformed search strategies, or blind search, explore the problem space without using problem-specific knowledge. Three main strategies are breadth-first search, depth-first search, and uniform cost search. While often less efficient than informed methods, they guarantee certain properties and serve as useful benchmarks.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BFS expands the shallowest node first using a FIFO queue. It explores the search space level by level. BFS is complete and optimal for unit-cost problems but can be space-intensive since it may store many nodes at deeper levels.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DFS expands the deepest node first using a LIFO stack. It backtracks when it reaches a dead-end. DFS is space-efficient but not guaranteed to find optimal solutions. The choice between BFS and DFS depends on whether optimality or space efficiency is more important.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UCS expands the lowest-cost node first, using a priority queue. It's a generalization of BFS that handles varying edge costs optimally. UCS is useful for problems where the cost to reach a goal matters more than the number of steps, such as path planning where roads have different distances or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Informed search uses heuristics, estimates of the cost to reach a goal, to guide the search more efficiently. Greedy best-first search expands the most promising node according to a heuristic. While faster than uninformed methods, greedy search doesn't guarantee optimality and can get trapped in local minima.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combines the benefits of uniform cost search (actual cost g(n)) and greedy best-first search (heuristic h(n)). It evaluates nodes using f(n) = g(n) + h(n). With admissible heuristics that never overestimate, A* is guaranteed to be both complete and optimal while being much more efficient than uninformed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comparison table shows how different search algorithms trade off completeness, optimality, and efficiency. BFS is complete and optimal but slow. DFS is fast and space-efficient but not optimal. UCS handles varying costs optimally. Greedy is fast but neither complete nor optimal. A* combines the best of both uninformed and informed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representation is how AI systems encode information about the world. Good representations enable reasoning, inference, and problem-solving. Different methods like logic, semantic networks, ontologies, and frames suit different domains and applications.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Propositional logic uses simple true/false statements combined with logical operators. First-order logic extends this with objects, predicates, and variables, allowing expression of relationships and quantifiers. First-order logic is more expressive and widely used in AI knowledge representation.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Semantic networks represent knowledge as nodes (concepts) and edges (relationships), providing visual and intuitive representations. Ontologies are more formal specifications of concepts with hierarchical classification, enabling semantic reasoning across domains. Ontologies like SUMO, DBpedia, and Schema.org standardize knowledge representation.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3 covered search algorithms and knowledge representation. Uninformed search methods like BFS, DFS, and UCS explore systematically. Informed search uses heuristics to guide exploration, with A* providing optimal solutions efficiently. Knowledge representation through logic, semantic networks, and ontologies enables AI systems to reason about the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1 established foundational concepts for AI. Key takeaways include understanding what AI is, how different types of agents work, and the fundamental techniques of search and knowledge representation that underpin AI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1 deliverables include a programming exercise to implement search algorithms, an essay assignment on AI definitions and the Turing Test, and a practical project to build a simple agent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2 builds on foundational concepts to explore machine learning in depth. Topics include the supervised vs unsupervised paradigms, regression and classification tasks, training and evaluating models, feature engineering, and managing the overfitting problem through regularization.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completing Week 1! This foundational material provides the basis for deeper exploration of machine learning, deep learning, and practical AI applications in subsequent weeks.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57200" y="1371600"/>
            <a:ext cx="8229600" cy="914400"/>
          </a:xfrm>
          <a:prstGeom prst="rect">
            <a:avLst/>
          </a:prstGeom>
          <a:noFill/>
          <a:ln/>
        </p:spPr>
        <p:txBody>
          <a:bodyPr wrap="square" rtlCol="0" anchor="ctr"/>
          <a:lstStyle/>
          <a:p>
            <a:pPr algn="ctr" indent="0" marL="0">
              <a:buNone/>
            </a:pPr>
            <a:r>
              <a:rPr lang="en-US" sz="6000" b="1" dirty="0">
                <a:solidFill>
                  <a:srgbClr val="FFFFFF"/>
                </a:solidFill>
                <a:latin typeface="Georgia" pitchFamily="34" charset="0"/>
                <a:ea typeface="Georgia" pitchFamily="34" charset="-122"/>
                <a:cs typeface="Georgia" pitchFamily="34" charset="-120"/>
              </a:rPr>
              <a:t>AI FUNDAMENTALS</a:t>
            </a:r>
            <a:endParaRPr lang="en-US" sz="6000" dirty="0"/>
          </a:p>
        </p:txBody>
      </p:sp>
      <p:sp>
        <p:nvSpPr>
          <p:cNvPr id="3" name="Text 1"/>
          <p:cNvSpPr/>
          <p:nvPr/>
        </p:nvSpPr>
        <p:spPr>
          <a:xfrm>
            <a:off x="457200" y="2377440"/>
            <a:ext cx="8229600" cy="548640"/>
          </a:xfrm>
          <a:prstGeom prst="rect">
            <a:avLst/>
          </a:prstGeom>
          <a:noFill/>
          <a:ln/>
        </p:spPr>
        <p:txBody>
          <a:bodyPr wrap="square" rtlCol="0" anchor="ctr"/>
          <a:lstStyle/>
          <a:p>
            <a:pPr algn="ctr" indent="0" marL="0">
              <a:buNone/>
            </a:pPr>
            <a:r>
              <a:rPr lang="en-US" sz="2800" dirty="0">
                <a:solidFill>
                  <a:srgbClr val="E8F4F8"/>
                </a:solidFill>
                <a:latin typeface="Calibri" pitchFamily="34" charset="0"/>
                <a:ea typeface="Calibri" pitchFamily="34" charset="-122"/>
                <a:cs typeface="Calibri" pitchFamily="34" charset="-120"/>
              </a:rPr>
              <a:t>Week 1: Foundations of Artificial Intelligence</a:t>
            </a:r>
            <a:endParaRPr lang="en-US" sz="2800" dirty="0"/>
          </a:p>
        </p:txBody>
      </p:sp>
      <p:sp>
        <p:nvSpPr>
          <p:cNvPr id="4" name="Text 2"/>
          <p:cNvSpPr/>
          <p:nvPr/>
        </p:nvSpPr>
        <p:spPr>
          <a:xfrm>
            <a:off x="457200" y="3840480"/>
            <a:ext cx="8229600" cy="365760"/>
          </a:xfrm>
          <a:prstGeom prst="rect">
            <a:avLst/>
          </a:prstGeom>
          <a:noFill/>
          <a:ln/>
        </p:spPr>
        <p:txBody>
          <a:bodyPr wrap="square" rtlCol="0" anchor="ctr"/>
          <a:lstStyle/>
          <a:p>
            <a:pPr algn="ctr" indent="0" marL="0">
              <a:buNone/>
            </a:pPr>
            <a:r>
              <a:rPr lang="en-US" sz="1600" dirty="0">
                <a:solidFill>
                  <a:srgbClr val="00B4D8"/>
                </a:solidFill>
                <a:latin typeface="Calibri" pitchFamily="34" charset="0"/>
                <a:ea typeface="Calibri" pitchFamily="34" charset="-122"/>
                <a:cs typeface="Calibri" pitchFamily="34" charset="-120"/>
              </a:rPr>
              <a:t>Proxiant AI Academy</a:t>
            </a:r>
            <a:endParaRPr lang="en-US" sz="1600" dirty="0"/>
          </a:p>
        </p:txBody>
      </p:sp>
      <p:sp>
        <p:nvSpPr>
          <p:cNvPr id="5" name="Shape 3"/>
          <p:cNvSpPr/>
          <p:nvPr/>
        </p:nvSpPr>
        <p:spPr>
          <a:xfrm>
            <a:off x="2743200" y="4389120"/>
            <a:ext cx="3657600" cy="45720"/>
          </a:xfrm>
          <a:prstGeom prst="rect">
            <a:avLst/>
          </a:prstGeom>
          <a:solidFill>
            <a:srgbClr val="2E86AB"/>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3A5C"/>
        </a:solidFill>
      </p:bgPr>
    </p:bg>
    <p:spTree>
      <p:nvGrpSpPr>
        <p:cNvPr id="1" name=""/>
        <p:cNvGrpSpPr/>
        <p:nvPr/>
      </p:nvGrpSpPr>
      <p:grpSpPr>
        <a:xfrm>
          <a:off x="0" y="0"/>
          <a:ext cx="0" cy="0"/>
          <a:chOff x="0" y="0"/>
          <a:chExt cx="0" cy="0"/>
        </a:xfrm>
      </p:grpSpPr>
      <p:sp>
        <p:nvSpPr>
          <p:cNvPr id="2" name="Text 0"/>
          <p:cNvSpPr/>
          <p:nvPr/>
        </p:nvSpPr>
        <p:spPr>
          <a:xfrm>
            <a:off x="457200" y="1371600"/>
            <a:ext cx="8229600" cy="914400"/>
          </a:xfrm>
          <a:prstGeom prst="rect">
            <a:avLst/>
          </a:prstGeom>
          <a:noFill/>
          <a:ln/>
        </p:spPr>
        <p:txBody>
          <a:bodyPr wrap="square" rtlCol="0" anchor="ctr"/>
          <a:lstStyle/>
          <a:p>
            <a:pPr algn="ctr" indent="0" marL="0">
              <a:buNone/>
            </a:pPr>
            <a:r>
              <a:rPr lang="en-US" sz="7200" b="1" dirty="0">
                <a:solidFill>
                  <a:srgbClr val="00B4D8"/>
                </a:solidFill>
                <a:latin typeface="Georgia" pitchFamily="34" charset="0"/>
                <a:ea typeface="Georgia" pitchFamily="34" charset="-122"/>
                <a:cs typeface="Georgia" pitchFamily="34" charset="-120"/>
              </a:rPr>
              <a:t>SESSION 1</a:t>
            </a:r>
            <a:endParaRPr lang="en-US" sz="7200" dirty="0"/>
          </a:p>
        </p:txBody>
      </p:sp>
      <p:sp>
        <p:nvSpPr>
          <p:cNvPr id="3" name="Text 1"/>
          <p:cNvSpPr/>
          <p:nvPr/>
        </p:nvSpPr>
        <p:spPr>
          <a:xfrm>
            <a:off x="457200" y="2468880"/>
            <a:ext cx="8229600" cy="548640"/>
          </a:xfrm>
          <a:prstGeom prst="rect">
            <a:avLst/>
          </a:prstGeom>
          <a:noFill/>
          <a:ln/>
        </p:spPr>
        <p:txBody>
          <a:bodyPr wrap="square" rtlCol="0" anchor="ctr"/>
          <a:lstStyle/>
          <a:p>
            <a:pPr algn="ctr" indent="0" marL="0">
              <a:buNone/>
            </a:pPr>
            <a:r>
              <a:rPr lang="en-US" sz="4400" dirty="0">
                <a:solidFill>
                  <a:srgbClr val="FFFFFF"/>
                </a:solidFill>
                <a:latin typeface="Georgia" pitchFamily="34" charset="0"/>
                <a:ea typeface="Georgia" pitchFamily="34" charset="-122"/>
                <a:cs typeface="Georgia" pitchFamily="34" charset="-120"/>
              </a:rPr>
              <a:t>What is AI?</a:t>
            </a:r>
            <a:endParaRPr lang="en-US" sz="4400" dirty="0"/>
          </a:p>
        </p:txBody>
      </p:sp>
      <p:sp>
        <p:nvSpPr>
          <p:cNvPr id="4" name="Shape 2"/>
          <p:cNvSpPr/>
          <p:nvPr/>
        </p:nvSpPr>
        <p:spPr>
          <a:xfrm>
            <a:off x="1828800" y="3200400"/>
            <a:ext cx="5486400" cy="54864"/>
          </a:xfrm>
          <a:prstGeom prst="rect">
            <a:avLst/>
          </a:prstGeom>
          <a:solidFill>
            <a:srgbClr val="2E86AB"/>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8F4F8"/>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4000" b="1" dirty="0">
                <a:solidFill>
                  <a:srgbClr val="0D1B2A"/>
                </a:solidFill>
                <a:latin typeface="Georgia" pitchFamily="34" charset="0"/>
                <a:ea typeface="Georgia" pitchFamily="34" charset="-122"/>
                <a:cs typeface="Georgia" pitchFamily="34" charset="-120"/>
              </a:rPr>
              <a:t>What is Intelligence?</a:t>
            </a:r>
            <a:endParaRPr lang="en-US" sz="4000" dirty="0"/>
          </a:p>
        </p:txBody>
      </p:sp>
      <p:sp>
        <p:nvSpPr>
          <p:cNvPr id="3" name="Shape 1"/>
          <p:cNvSpPr/>
          <p:nvPr/>
        </p:nvSpPr>
        <p:spPr>
          <a:xfrm>
            <a:off x="457200" y="1097280"/>
            <a:ext cx="3840480" cy="3474720"/>
          </a:xfrm>
          <a:prstGeom prst="rect">
            <a:avLst/>
          </a:prstGeom>
          <a:solidFill>
            <a:srgbClr val="FFFFFF"/>
          </a:solidFill>
          <a:ln w="25400">
            <a:solidFill>
              <a:srgbClr val="2E86AB"/>
            </a:solidFill>
            <a:prstDash val="solid"/>
          </a:ln>
        </p:spPr>
      </p:sp>
      <p:sp>
        <p:nvSpPr>
          <p:cNvPr id="4" name="Text 2"/>
          <p:cNvSpPr/>
          <p:nvPr/>
        </p:nvSpPr>
        <p:spPr>
          <a:xfrm>
            <a:off x="640080" y="1280160"/>
            <a:ext cx="3474720" cy="274320"/>
          </a:xfrm>
          <a:prstGeom prst="rect">
            <a:avLst/>
          </a:prstGeom>
          <a:noFill/>
          <a:ln/>
        </p:spPr>
        <p:txBody>
          <a:bodyPr wrap="square" rtlCol="0" anchor="ctr"/>
          <a:lstStyle/>
          <a:p>
            <a:pPr indent="0" marL="0">
              <a:buNone/>
            </a:pPr>
            <a:r>
              <a:rPr lang="en-US" sz="1600" b="1" dirty="0">
                <a:solidFill>
                  <a:srgbClr val="2E86AB"/>
                </a:solidFill>
                <a:latin typeface="Georgia" pitchFamily="34" charset="0"/>
                <a:ea typeface="Georgia" pitchFamily="34" charset="-122"/>
                <a:cs typeface="Georgia" pitchFamily="34" charset="-120"/>
              </a:rPr>
              <a:t>Human Intelligence</a:t>
            </a:r>
            <a:endParaRPr lang="en-US" sz="1600" dirty="0"/>
          </a:p>
        </p:txBody>
      </p:sp>
      <p:sp>
        <p:nvSpPr>
          <p:cNvPr id="5" name="Text 3"/>
          <p:cNvSpPr/>
          <p:nvPr/>
        </p:nvSpPr>
        <p:spPr>
          <a:xfrm>
            <a:off x="731520" y="1737360"/>
            <a:ext cx="3291840" cy="2651760"/>
          </a:xfrm>
          <a:prstGeom prst="rect">
            <a:avLst/>
          </a:prstGeom>
          <a:noFill/>
          <a:ln/>
        </p:spPr>
        <p:txBody>
          <a:bodyPr wrap="square" rtlCol="0" anchor="ctr"/>
          <a:lstStyle/>
          <a:p>
            <a:pPr indent="0" marL="0">
              <a:buNone/>
            </a:pPr>
            <a:r>
              <a:rPr lang="en-US" sz="1200" dirty="0">
                <a:solidFill>
                  <a:srgbClr val="1A1A2E"/>
                </a:solidFill>
                <a:latin typeface="Calibri" pitchFamily="34" charset="0"/>
                <a:ea typeface="Calibri" pitchFamily="34" charset="-122"/>
                <a:cs typeface="Calibri" pitchFamily="34" charset="-120"/>
              </a:rPr>
              <a:t>Consciousness &amp; self-awareness</a:t>
            </a:r>
            <a:pPr indent="0" marL="0">
              <a:buNone/>
            </a:pPr>
            <a:r>
              <a:rPr lang="en-US" sz="1200" dirty="0">
                <a:solidFill>
                  <a:srgbClr val="1A1A2E"/>
                </a:solidFill>
                <a:latin typeface="Calibri" pitchFamily="34" charset="0"/>
                <a:ea typeface="Calibri" pitchFamily="34" charset="-122"/>
                <a:cs typeface="Calibri" pitchFamily="34" charset="-120"/>
              </a:rPr>
              <a:t>Emotional understanding</a:t>
            </a:r>
            <a:pPr indent="0" marL="0">
              <a:buNone/>
            </a:pPr>
            <a:r>
              <a:rPr lang="en-US" sz="1200" dirty="0">
                <a:solidFill>
                  <a:srgbClr val="1A1A2E"/>
                </a:solidFill>
                <a:latin typeface="Calibri" pitchFamily="34" charset="0"/>
                <a:ea typeface="Calibri" pitchFamily="34" charset="-122"/>
                <a:cs typeface="Calibri" pitchFamily="34" charset="-120"/>
              </a:rPr>
              <a:t>Creative thinking</a:t>
            </a:r>
            <a:pPr indent="0" marL="0">
              <a:buNone/>
            </a:pPr>
            <a:r>
              <a:rPr lang="en-US" sz="1200" dirty="0">
                <a:solidFill>
                  <a:srgbClr val="1A1A2E"/>
                </a:solidFill>
                <a:latin typeface="Calibri" pitchFamily="34" charset="0"/>
                <a:ea typeface="Calibri" pitchFamily="34" charset="-122"/>
                <a:cs typeface="Calibri" pitchFamily="34" charset="-120"/>
              </a:rPr>
              <a:t>Social cognition</a:t>
            </a:r>
            <a:pPr indent="0" marL="0">
              <a:buNone/>
            </a:pPr>
            <a:r>
              <a:rPr lang="en-US" sz="1200" dirty="0">
                <a:solidFill>
                  <a:srgbClr val="1A1A2E"/>
                </a:solidFill>
                <a:latin typeface="Calibri" pitchFamily="34" charset="0"/>
                <a:ea typeface="Calibri" pitchFamily="34" charset="-122"/>
                <a:cs typeface="Calibri" pitchFamily="34" charset="-120"/>
              </a:rPr>
              <a:t>Adaptability to novelty</a:t>
            </a:r>
            <a:endParaRPr lang="en-US" sz="1200" dirty="0"/>
          </a:p>
        </p:txBody>
      </p:sp>
      <p:sp>
        <p:nvSpPr>
          <p:cNvPr id="6" name="Shape 4"/>
          <p:cNvSpPr/>
          <p:nvPr/>
        </p:nvSpPr>
        <p:spPr>
          <a:xfrm>
            <a:off x="4846320" y="1097280"/>
            <a:ext cx="3840480" cy="3474720"/>
          </a:xfrm>
          <a:prstGeom prst="rect">
            <a:avLst/>
          </a:prstGeom>
          <a:solidFill>
            <a:srgbClr val="FFFFFF"/>
          </a:solidFill>
          <a:ln w="25400">
            <a:solidFill>
              <a:srgbClr val="00B4D8"/>
            </a:solidFill>
            <a:prstDash val="solid"/>
          </a:ln>
        </p:spPr>
      </p:sp>
      <p:sp>
        <p:nvSpPr>
          <p:cNvPr id="7" name="Text 5"/>
          <p:cNvSpPr/>
          <p:nvPr/>
        </p:nvSpPr>
        <p:spPr>
          <a:xfrm>
            <a:off x="5029200" y="1280160"/>
            <a:ext cx="3474720" cy="274320"/>
          </a:xfrm>
          <a:prstGeom prst="rect">
            <a:avLst/>
          </a:prstGeom>
          <a:noFill/>
          <a:ln/>
        </p:spPr>
        <p:txBody>
          <a:bodyPr wrap="square" rtlCol="0" anchor="ctr"/>
          <a:lstStyle/>
          <a:p>
            <a:pPr indent="0" marL="0">
              <a:buNone/>
            </a:pPr>
            <a:r>
              <a:rPr lang="en-US" sz="1600" b="1" dirty="0">
                <a:solidFill>
                  <a:srgbClr val="00B4D8"/>
                </a:solidFill>
                <a:latin typeface="Georgia" pitchFamily="34" charset="0"/>
                <a:ea typeface="Georgia" pitchFamily="34" charset="-122"/>
                <a:cs typeface="Georgia" pitchFamily="34" charset="-120"/>
              </a:rPr>
              <a:t>Artificial Intelligence</a:t>
            </a:r>
            <a:endParaRPr lang="en-US" sz="1600" dirty="0"/>
          </a:p>
        </p:txBody>
      </p:sp>
      <p:sp>
        <p:nvSpPr>
          <p:cNvPr id="8" name="Text 6"/>
          <p:cNvSpPr/>
          <p:nvPr/>
        </p:nvSpPr>
        <p:spPr>
          <a:xfrm>
            <a:off x="5120640" y="1737360"/>
            <a:ext cx="3291840" cy="2651760"/>
          </a:xfrm>
          <a:prstGeom prst="rect">
            <a:avLst/>
          </a:prstGeom>
          <a:noFill/>
          <a:ln/>
        </p:spPr>
        <p:txBody>
          <a:bodyPr wrap="square" rtlCol="0" anchor="ctr"/>
          <a:lstStyle/>
          <a:p>
            <a:pPr indent="0" marL="0">
              <a:buNone/>
            </a:pPr>
            <a:r>
              <a:rPr lang="en-US" sz="1200" dirty="0">
                <a:solidFill>
                  <a:srgbClr val="1A1A2E"/>
                </a:solidFill>
                <a:latin typeface="Calibri" pitchFamily="34" charset="0"/>
                <a:ea typeface="Calibri" pitchFamily="34" charset="-122"/>
                <a:cs typeface="Calibri" pitchFamily="34" charset="-120"/>
              </a:rPr>
              <a:t>Pattern recognition</a:t>
            </a:r>
            <a:pPr indent="0" marL="0">
              <a:buNone/>
            </a:pPr>
            <a:r>
              <a:rPr lang="en-US" sz="1200" dirty="0">
                <a:solidFill>
                  <a:srgbClr val="1A1A2E"/>
                </a:solidFill>
                <a:latin typeface="Calibri" pitchFamily="34" charset="0"/>
                <a:ea typeface="Calibri" pitchFamily="34" charset="-122"/>
                <a:cs typeface="Calibri" pitchFamily="34" charset="-120"/>
              </a:rPr>
              <a:t>Logical reasoning</a:t>
            </a:r>
            <a:pPr indent="0" marL="0">
              <a:buNone/>
            </a:pPr>
            <a:r>
              <a:rPr lang="en-US" sz="1200" dirty="0">
                <a:solidFill>
                  <a:srgbClr val="1A1A2E"/>
                </a:solidFill>
                <a:latin typeface="Calibri" pitchFamily="34" charset="0"/>
                <a:ea typeface="Calibri" pitchFamily="34" charset="-122"/>
                <a:cs typeface="Calibri" pitchFamily="34" charset="-120"/>
              </a:rPr>
              <a:t>Task optimization</a:t>
            </a:r>
            <a:pPr indent="0" marL="0">
              <a:buNone/>
            </a:pPr>
            <a:r>
              <a:rPr lang="en-US" sz="1200" dirty="0">
                <a:solidFill>
                  <a:srgbClr val="1A1A2E"/>
                </a:solidFill>
                <a:latin typeface="Calibri" pitchFamily="34" charset="0"/>
                <a:ea typeface="Calibri" pitchFamily="34" charset="-122"/>
                <a:cs typeface="Calibri" pitchFamily="34" charset="-120"/>
              </a:rPr>
              <a:t>Data processing</a:t>
            </a:r>
            <a:pPr indent="0" marL="0">
              <a:buNone/>
            </a:pPr>
            <a:r>
              <a:rPr lang="en-US" sz="1200" dirty="0">
                <a:solidFill>
                  <a:srgbClr val="1A1A2E"/>
                </a:solidFill>
                <a:latin typeface="Calibri" pitchFamily="34" charset="0"/>
                <a:ea typeface="Calibri" pitchFamily="34" charset="-122"/>
                <a:cs typeface="Calibri" pitchFamily="34" charset="-120"/>
              </a:rPr>
              <a:t>Consistent performance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8F4F8"/>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4000" b="1" dirty="0">
                <a:solidFill>
                  <a:srgbClr val="0D1B2A"/>
                </a:solidFill>
                <a:latin typeface="Georgia" pitchFamily="34" charset="0"/>
                <a:ea typeface="Georgia" pitchFamily="34" charset="-122"/>
                <a:cs typeface="Georgia" pitchFamily="34" charset="-120"/>
              </a:rPr>
              <a:t>Defining AI: Russell &amp; Norvig Framework</a:t>
            </a:r>
            <a:endParaRPr lang="en-US" sz="4000" dirty="0"/>
          </a:p>
        </p:txBody>
      </p:sp>
      <p:sp>
        <p:nvSpPr>
          <p:cNvPr id="3" name="Shape 1"/>
          <p:cNvSpPr/>
          <p:nvPr/>
        </p:nvSpPr>
        <p:spPr>
          <a:xfrm>
            <a:off x="457200" y="1188720"/>
            <a:ext cx="8229600" cy="3566160"/>
          </a:xfrm>
          <a:prstGeom prst="rect">
            <a:avLst/>
          </a:prstGeom>
          <a:solidFill>
            <a:srgbClr val="FFFFFF"/>
          </a:solidFill>
          <a:ln w="12700">
            <a:solidFill>
              <a:srgbClr val="1B3A5C"/>
            </a:solidFill>
            <a:prstDash val="solid"/>
          </a:ln>
        </p:spPr>
      </p:sp>
      <p:sp>
        <p:nvSpPr>
          <p:cNvPr id="4" name="Shape 2"/>
          <p:cNvSpPr/>
          <p:nvPr/>
        </p:nvSpPr>
        <p:spPr>
          <a:xfrm>
            <a:off x="640080" y="1371600"/>
            <a:ext cx="1554480" cy="1554480"/>
          </a:xfrm>
          <a:prstGeom prst="roundRect">
            <a:avLst/>
          </a:prstGeom>
          <a:solidFill>
            <a:srgbClr val="2E86AB"/>
          </a:solidFill>
          <a:ln/>
        </p:spPr>
      </p:sp>
      <p:sp>
        <p:nvSpPr>
          <p:cNvPr id="5" name="Text 3"/>
          <p:cNvSpPr/>
          <p:nvPr/>
        </p:nvSpPr>
        <p:spPr>
          <a:xfrm>
            <a:off x="731520" y="1554480"/>
            <a:ext cx="1371600" cy="365760"/>
          </a:xfrm>
          <a:prstGeom prst="rect">
            <a:avLst/>
          </a:prstGeom>
          <a:noFill/>
          <a:ln/>
        </p:spPr>
        <p:txBody>
          <a:bodyPr wrap="square" rtlCol="0" anchor="t"/>
          <a:lstStyle/>
          <a:p>
            <a:pPr algn="ctr" indent="0" marL="0">
              <a:buNone/>
            </a:pPr>
            <a:r>
              <a:rPr lang="en-US" sz="1200" b="1" dirty="0">
                <a:solidFill>
                  <a:srgbClr val="FFFFFF"/>
                </a:solidFill>
                <a:latin typeface="Georgia" pitchFamily="34" charset="0"/>
                <a:ea typeface="Georgia" pitchFamily="34" charset="-122"/>
                <a:cs typeface="Georgia" pitchFamily="34" charset="-120"/>
              </a:rPr>
              <a:t>Thinking Humanly</a:t>
            </a:r>
            <a:endParaRPr lang="en-US" sz="1200" dirty="0"/>
          </a:p>
        </p:txBody>
      </p:sp>
      <p:sp>
        <p:nvSpPr>
          <p:cNvPr id="6" name="Text 4"/>
          <p:cNvSpPr/>
          <p:nvPr/>
        </p:nvSpPr>
        <p:spPr>
          <a:xfrm>
            <a:off x="731520" y="2011680"/>
            <a:ext cx="1371600" cy="91440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Cognitive science approach - mimic human thought</a:t>
            </a:r>
            <a:endParaRPr lang="en-US" sz="1000" dirty="0"/>
          </a:p>
        </p:txBody>
      </p:sp>
      <p:sp>
        <p:nvSpPr>
          <p:cNvPr id="7" name="Shape 5"/>
          <p:cNvSpPr/>
          <p:nvPr/>
        </p:nvSpPr>
        <p:spPr>
          <a:xfrm>
            <a:off x="2286000" y="1371600"/>
            <a:ext cx="1554480" cy="1554480"/>
          </a:xfrm>
          <a:prstGeom prst="roundRect">
            <a:avLst/>
          </a:prstGeom>
          <a:solidFill>
            <a:srgbClr val="2E86AB"/>
          </a:solidFill>
          <a:ln/>
        </p:spPr>
      </p:sp>
      <p:sp>
        <p:nvSpPr>
          <p:cNvPr id="8" name="Text 6"/>
          <p:cNvSpPr/>
          <p:nvPr/>
        </p:nvSpPr>
        <p:spPr>
          <a:xfrm>
            <a:off x="2377440" y="1554480"/>
            <a:ext cx="1371600" cy="365760"/>
          </a:xfrm>
          <a:prstGeom prst="rect">
            <a:avLst/>
          </a:prstGeom>
          <a:noFill/>
          <a:ln/>
        </p:spPr>
        <p:txBody>
          <a:bodyPr wrap="square" rtlCol="0" anchor="t"/>
          <a:lstStyle/>
          <a:p>
            <a:pPr algn="ctr" indent="0" marL="0">
              <a:buNone/>
            </a:pPr>
            <a:r>
              <a:rPr lang="en-US" sz="1200" b="1" dirty="0">
                <a:solidFill>
                  <a:srgbClr val="FFFFFF"/>
                </a:solidFill>
                <a:latin typeface="Georgia" pitchFamily="34" charset="0"/>
                <a:ea typeface="Georgia" pitchFamily="34" charset="-122"/>
                <a:cs typeface="Georgia" pitchFamily="34" charset="-120"/>
              </a:rPr>
              <a:t>Thinking Rationally</a:t>
            </a:r>
            <a:endParaRPr lang="en-US" sz="1200" dirty="0"/>
          </a:p>
        </p:txBody>
      </p:sp>
      <p:sp>
        <p:nvSpPr>
          <p:cNvPr id="9" name="Text 7"/>
          <p:cNvSpPr/>
          <p:nvPr/>
        </p:nvSpPr>
        <p:spPr>
          <a:xfrm>
            <a:off x="2377440" y="2011680"/>
            <a:ext cx="1371600" cy="91440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Logical approach - use formal logic &amp; reasoning</a:t>
            </a:r>
            <a:endParaRPr lang="en-US" sz="1000" dirty="0"/>
          </a:p>
        </p:txBody>
      </p:sp>
      <p:sp>
        <p:nvSpPr>
          <p:cNvPr id="10" name="Shape 8"/>
          <p:cNvSpPr/>
          <p:nvPr/>
        </p:nvSpPr>
        <p:spPr>
          <a:xfrm>
            <a:off x="3931920" y="1371600"/>
            <a:ext cx="1554480" cy="1554480"/>
          </a:xfrm>
          <a:prstGeom prst="roundRect">
            <a:avLst/>
          </a:prstGeom>
          <a:solidFill>
            <a:srgbClr val="2E86AB"/>
          </a:solidFill>
          <a:ln/>
        </p:spPr>
      </p:sp>
      <p:sp>
        <p:nvSpPr>
          <p:cNvPr id="11" name="Text 9"/>
          <p:cNvSpPr/>
          <p:nvPr/>
        </p:nvSpPr>
        <p:spPr>
          <a:xfrm>
            <a:off x="4023360" y="1554480"/>
            <a:ext cx="1371600" cy="365760"/>
          </a:xfrm>
          <a:prstGeom prst="rect">
            <a:avLst/>
          </a:prstGeom>
          <a:noFill/>
          <a:ln/>
        </p:spPr>
        <p:txBody>
          <a:bodyPr wrap="square" rtlCol="0" anchor="t"/>
          <a:lstStyle/>
          <a:p>
            <a:pPr algn="ctr" indent="0" marL="0">
              <a:buNone/>
            </a:pPr>
            <a:r>
              <a:rPr lang="en-US" sz="1200" b="1" dirty="0">
                <a:solidFill>
                  <a:srgbClr val="FFFFFF"/>
                </a:solidFill>
                <a:latin typeface="Georgia" pitchFamily="34" charset="0"/>
                <a:ea typeface="Georgia" pitchFamily="34" charset="-122"/>
                <a:cs typeface="Georgia" pitchFamily="34" charset="-120"/>
              </a:rPr>
              <a:t>Acting Humanly</a:t>
            </a:r>
            <a:endParaRPr lang="en-US" sz="1200" dirty="0"/>
          </a:p>
        </p:txBody>
      </p:sp>
      <p:sp>
        <p:nvSpPr>
          <p:cNvPr id="12" name="Text 10"/>
          <p:cNvSpPr/>
          <p:nvPr/>
        </p:nvSpPr>
        <p:spPr>
          <a:xfrm>
            <a:off x="4023360" y="2011680"/>
            <a:ext cx="1371600" cy="91440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Behavioral approach - pass the Turing Test</a:t>
            </a:r>
            <a:endParaRPr lang="en-US" sz="1000" dirty="0"/>
          </a:p>
        </p:txBody>
      </p:sp>
      <p:sp>
        <p:nvSpPr>
          <p:cNvPr id="13" name="Shape 11"/>
          <p:cNvSpPr/>
          <p:nvPr/>
        </p:nvSpPr>
        <p:spPr>
          <a:xfrm>
            <a:off x="5577840" y="1371600"/>
            <a:ext cx="1554480" cy="1554480"/>
          </a:xfrm>
          <a:prstGeom prst="roundRect">
            <a:avLst/>
          </a:prstGeom>
          <a:solidFill>
            <a:srgbClr val="2E86AB"/>
          </a:solidFill>
          <a:ln/>
        </p:spPr>
      </p:sp>
      <p:sp>
        <p:nvSpPr>
          <p:cNvPr id="14" name="Text 12"/>
          <p:cNvSpPr/>
          <p:nvPr/>
        </p:nvSpPr>
        <p:spPr>
          <a:xfrm>
            <a:off x="5669280" y="1554480"/>
            <a:ext cx="1371600" cy="365760"/>
          </a:xfrm>
          <a:prstGeom prst="rect">
            <a:avLst/>
          </a:prstGeom>
          <a:noFill/>
          <a:ln/>
        </p:spPr>
        <p:txBody>
          <a:bodyPr wrap="square" rtlCol="0" anchor="t"/>
          <a:lstStyle/>
          <a:p>
            <a:pPr algn="ctr" indent="0" marL="0">
              <a:buNone/>
            </a:pPr>
            <a:r>
              <a:rPr lang="en-US" sz="1200" b="1" dirty="0">
                <a:solidFill>
                  <a:srgbClr val="FFFFFF"/>
                </a:solidFill>
                <a:latin typeface="Georgia" pitchFamily="34" charset="0"/>
                <a:ea typeface="Georgia" pitchFamily="34" charset="-122"/>
                <a:cs typeface="Georgia" pitchFamily="34" charset="-120"/>
              </a:rPr>
              <a:t>Acting Rationally</a:t>
            </a:r>
            <a:endParaRPr lang="en-US" sz="1200" dirty="0"/>
          </a:p>
        </p:txBody>
      </p:sp>
      <p:sp>
        <p:nvSpPr>
          <p:cNvPr id="15" name="Text 13"/>
          <p:cNvSpPr/>
          <p:nvPr/>
        </p:nvSpPr>
        <p:spPr>
          <a:xfrm>
            <a:off x="5669280" y="2011680"/>
            <a:ext cx="1371600" cy="91440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Rational agent approach - maximize success</a:t>
            </a:r>
            <a:endParaRPr lang="en-US" sz="1000" dirty="0"/>
          </a:p>
        </p:txBody>
      </p:sp>
      <p:sp>
        <p:nvSpPr>
          <p:cNvPr id="16" name="Text 14"/>
          <p:cNvSpPr/>
          <p:nvPr/>
        </p:nvSpPr>
        <p:spPr>
          <a:xfrm>
            <a:off x="640080" y="3291840"/>
            <a:ext cx="7863840" cy="457200"/>
          </a:xfrm>
          <a:prstGeom prst="rect">
            <a:avLst/>
          </a:prstGeom>
          <a:noFill/>
          <a:ln/>
        </p:spPr>
        <p:txBody>
          <a:bodyPr wrap="square" rtlCol="0" anchor="ctr"/>
          <a:lstStyle/>
          <a:p>
            <a:pPr algn="ctr" indent="0" marL="0">
              <a:buNone/>
            </a:pPr>
            <a:r>
              <a:rPr lang="en-US" sz="1200" i="1" dirty="0">
                <a:solidFill>
                  <a:srgbClr val="1A1A2E"/>
                </a:solidFill>
                <a:latin typeface="Calibri" pitchFamily="34" charset="0"/>
                <a:ea typeface="Calibri" pitchFamily="34" charset="-122"/>
                <a:cs typeface="Calibri" pitchFamily="34" charset="-120"/>
              </a:rPr>
              <a:t>Most modern AI systems follow the 'Acting Rationally' approach</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F4F8"/>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4000" b="1" dirty="0">
                <a:solidFill>
                  <a:srgbClr val="0D1B2A"/>
                </a:solidFill>
                <a:latin typeface="Georgia" pitchFamily="34" charset="0"/>
                <a:ea typeface="Georgia" pitchFamily="34" charset="-122"/>
                <a:cs typeface="Georgia" pitchFamily="34" charset="-120"/>
              </a:rPr>
              <a:t>The Turing Test: Measuring Machine Intelligence</a:t>
            </a:r>
            <a:endParaRPr lang="en-US" sz="4000" dirty="0"/>
          </a:p>
        </p:txBody>
      </p:sp>
      <p:sp>
        <p:nvSpPr>
          <p:cNvPr id="3" name="Shape 1"/>
          <p:cNvSpPr/>
          <p:nvPr/>
        </p:nvSpPr>
        <p:spPr>
          <a:xfrm>
            <a:off x="457200" y="1188720"/>
            <a:ext cx="4114800" cy="3474720"/>
          </a:xfrm>
          <a:prstGeom prst="rect">
            <a:avLst/>
          </a:prstGeom>
          <a:solidFill>
            <a:srgbClr val="FFFFFF"/>
          </a:solidFill>
          <a:ln w="25400">
            <a:solidFill>
              <a:srgbClr val="2E86AB"/>
            </a:solidFill>
            <a:prstDash val="solid"/>
          </a:ln>
        </p:spPr>
      </p:sp>
      <p:sp>
        <p:nvSpPr>
          <p:cNvPr id="4" name="Text 2"/>
          <p:cNvSpPr/>
          <p:nvPr/>
        </p:nvSpPr>
        <p:spPr>
          <a:xfrm>
            <a:off x="640080" y="1371600"/>
            <a:ext cx="3749040" cy="274320"/>
          </a:xfrm>
          <a:prstGeom prst="rect">
            <a:avLst/>
          </a:prstGeom>
          <a:noFill/>
          <a:ln/>
        </p:spPr>
        <p:txBody>
          <a:bodyPr wrap="square" rtlCol="0" anchor="ctr"/>
          <a:lstStyle/>
          <a:p>
            <a:pPr indent="0" marL="0">
              <a:buNone/>
            </a:pPr>
            <a:r>
              <a:rPr lang="en-US" sz="1400" b="1" dirty="0">
                <a:solidFill>
                  <a:srgbClr val="2E86AB"/>
                </a:solidFill>
                <a:latin typeface="Georgia" pitchFamily="34" charset="0"/>
                <a:ea typeface="Georgia" pitchFamily="34" charset="-122"/>
                <a:cs typeface="Georgia" pitchFamily="34" charset="-120"/>
              </a:rPr>
              <a:t>Proposed by Alan Turing (1950)</a:t>
            </a:r>
            <a:endParaRPr lang="en-US" sz="1400" dirty="0"/>
          </a:p>
        </p:txBody>
      </p:sp>
      <p:sp>
        <p:nvSpPr>
          <p:cNvPr id="5" name="Text 3"/>
          <p:cNvSpPr/>
          <p:nvPr/>
        </p:nvSpPr>
        <p:spPr>
          <a:xfrm>
            <a:off x="731520" y="1828800"/>
            <a:ext cx="3657600" cy="2651760"/>
          </a:xfrm>
          <a:prstGeom prst="rect">
            <a:avLst/>
          </a:prstGeom>
          <a:noFill/>
          <a:ln/>
        </p:spPr>
        <p:txBody>
          <a:bodyPr wrap="square" rtlCol="0" anchor="ctr"/>
          <a:lstStyle/>
          <a:p>
            <a:pPr indent="0" marL="0">
              <a:buNone/>
            </a:pPr>
            <a:r>
              <a:rPr lang="en-US" sz="1200" dirty="0">
                <a:solidFill>
                  <a:srgbClr val="1A1A2E"/>
                </a:solidFill>
                <a:latin typeface="Calibri" pitchFamily="34" charset="0"/>
                <a:ea typeface="Calibri" pitchFamily="34" charset="-122"/>
                <a:cs typeface="Calibri" pitchFamily="34" charset="-120"/>
              </a:rPr>
              <a:t>Human interrogator tests two hidden participants</a:t>
            </a:r>
            <a:pPr indent="0" marL="0">
              <a:buNone/>
            </a:pPr>
            <a:r>
              <a:rPr lang="en-US" sz="1200" dirty="0">
                <a:solidFill>
                  <a:srgbClr val="1A1A2E"/>
                </a:solidFill>
                <a:latin typeface="Calibri" pitchFamily="34" charset="0"/>
                <a:ea typeface="Calibri" pitchFamily="34" charset="-122"/>
                <a:cs typeface="Calibri" pitchFamily="34" charset="-120"/>
              </a:rPr>
              <a:t>Cannot determine machine from human</a:t>
            </a:r>
            <a:pPr indent="0" marL="0">
              <a:buNone/>
            </a:pPr>
            <a:r>
              <a:rPr lang="en-US" sz="1200" dirty="0">
                <a:solidFill>
                  <a:srgbClr val="1A1A2E"/>
                </a:solidFill>
                <a:latin typeface="Calibri" pitchFamily="34" charset="0"/>
                <a:ea typeface="Calibri" pitchFamily="34" charset="-122"/>
                <a:cs typeface="Calibri" pitchFamily="34" charset="-120"/>
              </a:rPr>
              <a:t>If indistinguishable, machine exhibits intelligence</a:t>
            </a:r>
            <a:pPr indent="0" marL="0">
              <a:buNone/>
            </a:pPr>
            <a:r>
              <a:rPr lang="en-US" sz="1200" dirty="0">
                <a:solidFill>
                  <a:srgbClr val="1A1A2E"/>
                </a:solidFill>
                <a:latin typeface="Calibri" pitchFamily="34" charset="0"/>
                <a:ea typeface="Calibri" pitchFamily="34" charset="-122"/>
                <a:cs typeface="Calibri" pitchFamily="34" charset="-120"/>
              </a:rPr>
              <a:t>Tests behavior, not internal processes</a:t>
            </a:r>
            <a:endParaRPr lang="en-US" sz="1200" dirty="0"/>
          </a:p>
        </p:txBody>
      </p:sp>
      <p:sp>
        <p:nvSpPr>
          <p:cNvPr id="6" name="Shape 4"/>
          <p:cNvSpPr/>
          <p:nvPr/>
        </p:nvSpPr>
        <p:spPr>
          <a:xfrm>
            <a:off x="4846320" y="1188720"/>
            <a:ext cx="3840480" cy="3474720"/>
          </a:xfrm>
          <a:prstGeom prst="rect">
            <a:avLst/>
          </a:prstGeom>
          <a:solidFill>
            <a:srgbClr val="FFFFFF"/>
          </a:solidFill>
          <a:ln w="25400">
            <a:solidFill>
              <a:srgbClr val="00B4D8"/>
            </a:solidFill>
            <a:prstDash val="solid"/>
          </a:ln>
        </p:spPr>
      </p:sp>
      <p:sp>
        <p:nvSpPr>
          <p:cNvPr id="7" name="Text 5"/>
          <p:cNvSpPr/>
          <p:nvPr/>
        </p:nvSpPr>
        <p:spPr>
          <a:xfrm>
            <a:off x="5029200" y="1371600"/>
            <a:ext cx="3474720" cy="274320"/>
          </a:xfrm>
          <a:prstGeom prst="rect">
            <a:avLst/>
          </a:prstGeom>
          <a:noFill/>
          <a:ln/>
        </p:spPr>
        <p:txBody>
          <a:bodyPr wrap="square" rtlCol="0" anchor="ctr"/>
          <a:lstStyle/>
          <a:p>
            <a:pPr indent="0" marL="0">
              <a:buNone/>
            </a:pPr>
            <a:r>
              <a:rPr lang="en-US" sz="1400" b="1" dirty="0">
                <a:solidFill>
                  <a:srgbClr val="00B4D8"/>
                </a:solidFill>
                <a:latin typeface="Georgia" pitchFamily="34" charset="0"/>
                <a:ea typeface="Georgia" pitchFamily="34" charset="-122"/>
                <a:cs typeface="Georgia" pitchFamily="34" charset="-120"/>
              </a:rPr>
              <a:t>Significance &amp; Limitations</a:t>
            </a:r>
            <a:endParaRPr lang="en-US" sz="1400" dirty="0"/>
          </a:p>
        </p:txBody>
      </p:sp>
      <p:sp>
        <p:nvSpPr>
          <p:cNvPr id="8" name="Text 6"/>
          <p:cNvSpPr/>
          <p:nvPr/>
        </p:nvSpPr>
        <p:spPr>
          <a:xfrm>
            <a:off x="5120640" y="1828800"/>
            <a:ext cx="3566160" cy="2651760"/>
          </a:xfrm>
          <a:prstGeom prst="rect">
            <a:avLst/>
          </a:prstGeom>
          <a:noFill/>
          <a:ln/>
        </p:spPr>
        <p:txBody>
          <a:bodyPr wrap="square" rtlCol="0" anchor="ctr"/>
          <a:lstStyle/>
          <a:p>
            <a:pPr indent="0" marL="0">
              <a:buNone/>
            </a:pPr>
            <a:r>
              <a:rPr lang="en-US" sz="1200" dirty="0">
                <a:solidFill>
                  <a:srgbClr val="1A1A2E"/>
                </a:solidFill>
                <a:latin typeface="Calibri" pitchFamily="34" charset="0"/>
                <a:ea typeface="Calibri" pitchFamily="34" charset="-122"/>
                <a:cs typeface="Calibri" pitchFamily="34" charset="-120"/>
              </a:rPr>
              <a:t>Shift focus from internal reasoning</a:t>
            </a:r>
            <a:pPr indent="0" marL="0">
              <a:buNone/>
            </a:pPr>
            <a:r>
              <a:rPr lang="en-US" sz="1200" dirty="0">
                <a:solidFill>
                  <a:srgbClr val="1A1A2E"/>
                </a:solidFill>
                <a:latin typeface="Calibri" pitchFamily="34" charset="0"/>
                <a:ea typeface="Calibri" pitchFamily="34" charset="-122"/>
                <a:cs typeface="Calibri" pitchFamily="34" charset="-120"/>
              </a:rPr>
              <a:t>Still relevant benchmark today</a:t>
            </a:r>
            <a:pPr indent="0" marL="0">
              <a:buNone/>
            </a:pPr>
            <a:r>
              <a:rPr lang="en-US" sz="1200" dirty="0">
                <a:solidFill>
                  <a:srgbClr val="1A1A2E"/>
                </a:solidFill>
                <a:latin typeface="Calibri" pitchFamily="34" charset="0"/>
                <a:ea typeface="Calibri" pitchFamily="34" charset="-122"/>
                <a:cs typeface="Calibri" pitchFamily="34" charset="-120"/>
              </a:rPr>
              <a:t>Limited to language understanding</a:t>
            </a:r>
            <a:pPr indent="0" marL="0">
              <a:buNone/>
            </a:pPr>
            <a:r>
              <a:rPr lang="en-US" sz="1200" dirty="0">
                <a:solidFill>
                  <a:srgbClr val="1A1A2E"/>
                </a:solidFill>
                <a:latin typeface="Calibri" pitchFamily="34" charset="0"/>
                <a:ea typeface="Calibri" pitchFamily="34" charset="-122"/>
                <a:cs typeface="Calibri" pitchFamily="34" charset="-120"/>
              </a:rPr>
              <a:t>Doesn't measure all forms of intelligence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8F4F8"/>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4000" b="1" dirty="0">
                <a:solidFill>
                  <a:srgbClr val="0D1B2A"/>
                </a:solidFill>
                <a:latin typeface="Georgia" pitchFamily="34" charset="0"/>
                <a:ea typeface="Georgia" pitchFamily="34" charset="-122"/>
                <a:cs typeface="Georgia" pitchFamily="34" charset="-120"/>
              </a:rPr>
              <a:t>AI Timeline: From Dreams to Reality</a:t>
            </a:r>
            <a:endParaRPr lang="en-US" sz="4000" dirty="0"/>
          </a:p>
        </p:txBody>
      </p:sp>
      <p:sp>
        <p:nvSpPr>
          <p:cNvPr id="3" name="Shape 1"/>
          <p:cNvSpPr/>
          <p:nvPr/>
        </p:nvSpPr>
        <p:spPr>
          <a:xfrm>
            <a:off x="640080" y="1188720"/>
            <a:ext cx="1828800" cy="457200"/>
          </a:xfrm>
          <a:prstGeom prst="roundRect">
            <a:avLst/>
          </a:prstGeom>
          <a:solidFill>
            <a:srgbClr val="2E86AB"/>
          </a:solidFill>
          <a:ln/>
        </p:spPr>
      </p:sp>
      <p:sp>
        <p:nvSpPr>
          <p:cNvPr id="4" name="Text 2"/>
          <p:cNvSpPr/>
          <p:nvPr/>
        </p:nvSpPr>
        <p:spPr>
          <a:xfrm>
            <a:off x="731520" y="1234440"/>
            <a:ext cx="1645920" cy="365760"/>
          </a:xfrm>
          <a:prstGeom prst="rect">
            <a:avLst/>
          </a:prstGeom>
          <a:noFill/>
          <a:ln/>
        </p:spPr>
        <p:txBody>
          <a:bodyPr wrap="square"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1956</a:t>
            </a:r>
            <a:endParaRPr lang="en-US" sz="1300" dirty="0"/>
          </a:p>
        </p:txBody>
      </p:sp>
      <p:sp>
        <p:nvSpPr>
          <p:cNvPr id="5" name="Text 3"/>
          <p:cNvSpPr/>
          <p:nvPr/>
        </p:nvSpPr>
        <p:spPr>
          <a:xfrm>
            <a:off x="2651760" y="1188720"/>
            <a:ext cx="6035040" cy="457200"/>
          </a:xfrm>
          <a:prstGeom prst="rect">
            <a:avLst/>
          </a:prstGeom>
          <a:noFill/>
          <a:ln/>
        </p:spPr>
        <p:txBody>
          <a:bodyPr wrap="square" rtlCol="0" anchor="ctr"/>
          <a:lstStyle/>
          <a:p>
            <a:pPr indent="0" marL="0">
              <a:buNone/>
            </a:pPr>
            <a:r>
              <a:rPr lang="en-US" sz="1200" dirty="0">
                <a:solidFill>
                  <a:srgbClr val="1A1A2E"/>
                </a:solidFill>
                <a:latin typeface="Calibri" pitchFamily="34" charset="0"/>
                <a:ea typeface="Calibri" pitchFamily="34" charset="-122"/>
                <a:cs typeface="Calibri" pitchFamily="34" charset="-120"/>
              </a:rPr>
              <a:t>Dartmouth Conference - AI field born</a:t>
            </a:r>
            <a:endParaRPr lang="en-US" sz="1200" dirty="0"/>
          </a:p>
        </p:txBody>
      </p:sp>
      <p:sp>
        <p:nvSpPr>
          <p:cNvPr id="6" name="Shape 4"/>
          <p:cNvSpPr/>
          <p:nvPr/>
        </p:nvSpPr>
        <p:spPr>
          <a:xfrm>
            <a:off x="640080" y="1764792"/>
            <a:ext cx="1828800" cy="457200"/>
          </a:xfrm>
          <a:prstGeom prst="roundRect">
            <a:avLst/>
          </a:prstGeom>
          <a:solidFill>
            <a:srgbClr val="2E86AB"/>
          </a:solidFill>
          <a:ln/>
        </p:spPr>
      </p:sp>
      <p:sp>
        <p:nvSpPr>
          <p:cNvPr id="7" name="Text 5"/>
          <p:cNvSpPr/>
          <p:nvPr/>
        </p:nvSpPr>
        <p:spPr>
          <a:xfrm>
            <a:off x="731520" y="1810512"/>
            <a:ext cx="1645920" cy="365760"/>
          </a:xfrm>
          <a:prstGeom prst="rect">
            <a:avLst/>
          </a:prstGeom>
          <a:noFill/>
          <a:ln/>
        </p:spPr>
        <p:txBody>
          <a:bodyPr wrap="square"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1970s-80s</a:t>
            </a:r>
            <a:endParaRPr lang="en-US" sz="1300" dirty="0"/>
          </a:p>
        </p:txBody>
      </p:sp>
      <p:sp>
        <p:nvSpPr>
          <p:cNvPr id="8" name="Text 6"/>
          <p:cNvSpPr/>
          <p:nvPr/>
        </p:nvSpPr>
        <p:spPr>
          <a:xfrm>
            <a:off x="2651760" y="1764792"/>
            <a:ext cx="6035040" cy="457200"/>
          </a:xfrm>
          <a:prstGeom prst="rect">
            <a:avLst/>
          </a:prstGeom>
          <a:noFill/>
          <a:ln/>
        </p:spPr>
        <p:txBody>
          <a:bodyPr wrap="square" rtlCol="0" anchor="ctr"/>
          <a:lstStyle/>
          <a:p>
            <a:pPr indent="0" marL="0">
              <a:buNone/>
            </a:pPr>
            <a:r>
              <a:rPr lang="en-US" sz="1200" dirty="0">
                <a:solidFill>
                  <a:srgbClr val="1A1A2E"/>
                </a:solidFill>
                <a:latin typeface="Calibri" pitchFamily="34" charset="0"/>
                <a:ea typeface="Calibri" pitchFamily="34" charset="-122"/>
                <a:cs typeface="Calibri" pitchFamily="34" charset="-120"/>
              </a:rPr>
              <a:t>Expert Systems boom</a:t>
            </a:r>
            <a:endParaRPr lang="en-US" sz="1200" dirty="0"/>
          </a:p>
        </p:txBody>
      </p:sp>
      <p:sp>
        <p:nvSpPr>
          <p:cNvPr id="9" name="Shape 7"/>
          <p:cNvSpPr/>
          <p:nvPr/>
        </p:nvSpPr>
        <p:spPr>
          <a:xfrm>
            <a:off x="640080" y="2340864"/>
            <a:ext cx="1828800" cy="457200"/>
          </a:xfrm>
          <a:prstGeom prst="roundRect">
            <a:avLst/>
          </a:prstGeom>
          <a:solidFill>
            <a:srgbClr val="2E86AB"/>
          </a:solidFill>
          <a:ln/>
        </p:spPr>
      </p:sp>
      <p:sp>
        <p:nvSpPr>
          <p:cNvPr id="10" name="Text 8"/>
          <p:cNvSpPr/>
          <p:nvPr/>
        </p:nvSpPr>
        <p:spPr>
          <a:xfrm>
            <a:off x="731520" y="2386584"/>
            <a:ext cx="1645920" cy="365760"/>
          </a:xfrm>
          <a:prstGeom prst="rect">
            <a:avLst/>
          </a:prstGeom>
          <a:noFill/>
          <a:ln/>
        </p:spPr>
        <p:txBody>
          <a:bodyPr wrap="square"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1987-93</a:t>
            </a:r>
            <a:endParaRPr lang="en-US" sz="1300" dirty="0"/>
          </a:p>
        </p:txBody>
      </p:sp>
      <p:sp>
        <p:nvSpPr>
          <p:cNvPr id="11" name="Text 9"/>
          <p:cNvSpPr/>
          <p:nvPr/>
        </p:nvSpPr>
        <p:spPr>
          <a:xfrm>
            <a:off x="2651760" y="2340864"/>
            <a:ext cx="6035040" cy="457200"/>
          </a:xfrm>
          <a:prstGeom prst="rect">
            <a:avLst/>
          </a:prstGeom>
          <a:noFill/>
          <a:ln/>
        </p:spPr>
        <p:txBody>
          <a:bodyPr wrap="square" rtlCol="0" anchor="ctr"/>
          <a:lstStyle/>
          <a:p>
            <a:pPr indent="0" marL="0">
              <a:buNone/>
            </a:pPr>
            <a:r>
              <a:rPr lang="en-US" sz="1200" dirty="0">
                <a:solidFill>
                  <a:srgbClr val="1A1A2E"/>
                </a:solidFill>
                <a:latin typeface="Calibri" pitchFamily="34" charset="0"/>
                <a:ea typeface="Calibri" pitchFamily="34" charset="-122"/>
                <a:cs typeface="Calibri" pitchFamily="34" charset="-120"/>
              </a:rPr>
              <a:t>First AI Winter</a:t>
            </a:r>
            <a:endParaRPr lang="en-US" sz="1200" dirty="0"/>
          </a:p>
        </p:txBody>
      </p:sp>
      <p:sp>
        <p:nvSpPr>
          <p:cNvPr id="12" name="Shape 10"/>
          <p:cNvSpPr/>
          <p:nvPr/>
        </p:nvSpPr>
        <p:spPr>
          <a:xfrm>
            <a:off x="640080" y="2916936"/>
            <a:ext cx="1828800" cy="457200"/>
          </a:xfrm>
          <a:prstGeom prst="roundRect">
            <a:avLst/>
          </a:prstGeom>
          <a:solidFill>
            <a:srgbClr val="2E86AB"/>
          </a:solidFill>
          <a:ln/>
        </p:spPr>
      </p:sp>
      <p:sp>
        <p:nvSpPr>
          <p:cNvPr id="13" name="Text 11"/>
          <p:cNvSpPr/>
          <p:nvPr/>
        </p:nvSpPr>
        <p:spPr>
          <a:xfrm>
            <a:off x="731520" y="2962656"/>
            <a:ext cx="1645920" cy="365760"/>
          </a:xfrm>
          <a:prstGeom prst="rect">
            <a:avLst/>
          </a:prstGeom>
          <a:noFill/>
          <a:ln/>
        </p:spPr>
        <p:txBody>
          <a:bodyPr wrap="square"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2000s</a:t>
            </a:r>
            <a:endParaRPr lang="en-US" sz="1300" dirty="0"/>
          </a:p>
        </p:txBody>
      </p:sp>
      <p:sp>
        <p:nvSpPr>
          <p:cNvPr id="14" name="Text 12"/>
          <p:cNvSpPr/>
          <p:nvPr/>
        </p:nvSpPr>
        <p:spPr>
          <a:xfrm>
            <a:off x="2651760" y="2916936"/>
            <a:ext cx="6035040" cy="457200"/>
          </a:xfrm>
          <a:prstGeom prst="rect">
            <a:avLst/>
          </a:prstGeom>
          <a:noFill/>
          <a:ln/>
        </p:spPr>
        <p:txBody>
          <a:bodyPr wrap="square" rtlCol="0" anchor="ctr"/>
          <a:lstStyle/>
          <a:p>
            <a:pPr indent="0" marL="0">
              <a:buNone/>
            </a:pPr>
            <a:r>
              <a:rPr lang="en-US" sz="1200" dirty="0">
                <a:solidFill>
                  <a:srgbClr val="1A1A2E"/>
                </a:solidFill>
                <a:latin typeface="Calibri" pitchFamily="34" charset="0"/>
                <a:ea typeface="Calibri" pitchFamily="34" charset="-122"/>
                <a:cs typeface="Calibri" pitchFamily="34" charset="-120"/>
              </a:rPr>
              <a:t>Machine Learning renaissance</a:t>
            </a:r>
            <a:endParaRPr lang="en-US" sz="1200" dirty="0"/>
          </a:p>
        </p:txBody>
      </p:sp>
      <p:sp>
        <p:nvSpPr>
          <p:cNvPr id="15" name="Shape 13"/>
          <p:cNvSpPr/>
          <p:nvPr/>
        </p:nvSpPr>
        <p:spPr>
          <a:xfrm>
            <a:off x="640080" y="3493008"/>
            <a:ext cx="1828800" cy="457200"/>
          </a:xfrm>
          <a:prstGeom prst="roundRect">
            <a:avLst/>
          </a:prstGeom>
          <a:solidFill>
            <a:srgbClr val="2E86AB"/>
          </a:solidFill>
          <a:ln/>
        </p:spPr>
      </p:sp>
      <p:sp>
        <p:nvSpPr>
          <p:cNvPr id="16" name="Text 14"/>
          <p:cNvSpPr/>
          <p:nvPr/>
        </p:nvSpPr>
        <p:spPr>
          <a:xfrm>
            <a:off x="731520" y="3538728"/>
            <a:ext cx="1645920" cy="365760"/>
          </a:xfrm>
          <a:prstGeom prst="rect">
            <a:avLst/>
          </a:prstGeom>
          <a:noFill/>
          <a:ln/>
        </p:spPr>
        <p:txBody>
          <a:bodyPr wrap="square"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2012+</a:t>
            </a:r>
            <a:endParaRPr lang="en-US" sz="1300" dirty="0"/>
          </a:p>
        </p:txBody>
      </p:sp>
      <p:sp>
        <p:nvSpPr>
          <p:cNvPr id="17" name="Text 15"/>
          <p:cNvSpPr/>
          <p:nvPr/>
        </p:nvSpPr>
        <p:spPr>
          <a:xfrm>
            <a:off x="2651760" y="3493008"/>
            <a:ext cx="6035040" cy="457200"/>
          </a:xfrm>
          <a:prstGeom prst="rect">
            <a:avLst/>
          </a:prstGeom>
          <a:noFill/>
          <a:ln/>
        </p:spPr>
        <p:txBody>
          <a:bodyPr wrap="square" rtlCol="0" anchor="ctr"/>
          <a:lstStyle/>
          <a:p>
            <a:pPr indent="0" marL="0">
              <a:buNone/>
            </a:pPr>
            <a:r>
              <a:rPr lang="en-US" sz="1200" dirty="0">
                <a:solidFill>
                  <a:srgbClr val="1A1A2E"/>
                </a:solidFill>
                <a:latin typeface="Calibri" pitchFamily="34" charset="0"/>
                <a:ea typeface="Calibri" pitchFamily="34" charset="-122"/>
                <a:cs typeface="Calibri" pitchFamily="34" charset="-120"/>
              </a:rPr>
              <a:t>Deep Learning revolution</a:t>
            </a:r>
            <a:endParaRPr lang="en-US" sz="1200" dirty="0"/>
          </a:p>
        </p:txBody>
      </p:sp>
      <p:sp>
        <p:nvSpPr>
          <p:cNvPr id="18" name="Shape 16"/>
          <p:cNvSpPr/>
          <p:nvPr/>
        </p:nvSpPr>
        <p:spPr>
          <a:xfrm>
            <a:off x="640080" y="4069080"/>
            <a:ext cx="1828800" cy="457200"/>
          </a:xfrm>
          <a:prstGeom prst="roundRect">
            <a:avLst/>
          </a:prstGeom>
          <a:solidFill>
            <a:srgbClr val="2E86AB"/>
          </a:solidFill>
          <a:ln/>
        </p:spPr>
      </p:sp>
      <p:sp>
        <p:nvSpPr>
          <p:cNvPr id="19" name="Text 17"/>
          <p:cNvSpPr/>
          <p:nvPr/>
        </p:nvSpPr>
        <p:spPr>
          <a:xfrm>
            <a:off x="731520" y="4114800"/>
            <a:ext cx="1645920" cy="365760"/>
          </a:xfrm>
          <a:prstGeom prst="rect">
            <a:avLst/>
          </a:prstGeom>
          <a:noFill/>
          <a:ln/>
        </p:spPr>
        <p:txBody>
          <a:bodyPr wrap="square"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2020s</a:t>
            </a:r>
            <a:endParaRPr lang="en-US" sz="1300" dirty="0"/>
          </a:p>
        </p:txBody>
      </p:sp>
      <p:sp>
        <p:nvSpPr>
          <p:cNvPr id="20" name="Text 18"/>
          <p:cNvSpPr/>
          <p:nvPr/>
        </p:nvSpPr>
        <p:spPr>
          <a:xfrm>
            <a:off x="2651760" y="4069080"/>
            <a:ext cx="6035040" cy="457200"/>
          </a:xfrm>
          <a:prstGeom prst="rect">
            <a:avLst/>
          </a:prstGeom>
          <a:noFill/>
          <a:ln/>
        </p:spPr>
        <p:txBody>
          <a:bodyPr wrap="square" rtlCol="0" anchor="ctr"/>
          <a:lstStyle/>
          <a:p>
            <a:pPr indent="0" marL="0">
              <a:buNone/>
            </a:pPr>
            <a:r>
              <a:rPr lang="en-US" sz="1200" dirty="0">
                <a:solidFill>
                  <a:srgbClr val="1A1A2E"/>
                </a:solidFill>
                <a:latin typeface="Calibri" pitchFamily="34" charset="0"/>
                <a:ea typeface="Calibri" pitchFamily="34" charset="-122"/>
                <a:cs typeface="Calibri" pitchFamily="34" charset="-120"/>
              </a:rPr>
              <a:t>Large Language Models era</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8F4F8"/>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4000" b="1" dirty="0">
                <a:solidFill>
                  <a:srgbClr val="0D1B2A"/>
                </a:solidFill>
                <a:latin typeface="Georgia" pitchFamily="34" charset="0"/>
                <a:ea typeface="Georgia" pitchFamily="34" charset="-122"/>
                <a:cs typeface="Georgia" pitchFamily="34" charset="-120"/>
              </a:rPr>
              <a:t>Types of AI: Current and Future</a:t>
            </a:r>
            <a:endParaRPr lang="en-US" sz="4000" dirty="0"/>
          </a:p>
        </p:txBody>
      </p:sp>
      <p:sp>
        <p:nvSpPr>
          <p:cNvPr id="3" name="Shape 1"/>
          <p:cNvSpPr/>
          <p:nvPr/>
        </p:nvSpPr>
        <p:spPr>
          <a:xfrm>
            <a:off x="457200" y="1188720"/>
            <a:ext cx="2560320" cy="3383280"/>
          </a:xfrm>
          <a:prstGeom prst="roundRect">
            <a:avLst/>
          </a:prstGeom>
          <a:solidFill>
            <a:srgbClr val="FFFFFF"/>
          </a:solidFill>
          <a:ln w="25400">
            <a:solidFill>
              <a:srgbClr val="2E86AB"/>
            </a:solidFill>
            <a:prstDash val="solid"/>
          </a:ln>
        </p:spPr>
      </p:sp>
      <p:sp>
        <p:nvSpPr>
          <p:cNvPr id="4" name="Text 2"/>
          <p:cNvSpPr/>
          <p:nvPr/>
        </p:nvSpPr>
        <p:spPr>
          <a:xfrm>
            <a:off x="594360" y="1371600"/>
            <a:ext cx="2286000" cy="457200"/>
          </a:xfrm>
          <a:prstGeom prst="rect">
            <a:avLst/>
          </a:prstGeom>
          <a:noFill/>
          <a:ln/>
        </p:spPr>
        <p:txBody>
          <a:bodyPr wrap="square" rtlCol="0" anchor="ctr"/>
          <a:lstStyle/>
          <a:p>
            <a:pPr algn="ctr" indent="0" marL="0">
              <a:buNone/>
            </a:pPr>
            <a:r>
              <a:rPr lang="en-US" sz="1400" b="1" dirty="0">
                <a:solidFill>
                  <a:srgbClr val="2E86AB"/>
                </a:solidFill>
                <a:latin typeface="Georgia" pitchFamily="34" charset="0"/>
                <a:ea typeface="Georgia" pitchFamily="34" charset="-122"/>
                <a:cs typeface="Georgia" pitchFamily="34" charset="-120"/>
              </a:rPr>
              <a:t>Narrow AI (Weak AI)</a:t>
            </a:r>
            <a:endParaRPr lang="en-US" sz="1400" dirty="0"/>
          </a:p>
        </p:txBody>
      </p:sp>
      <p:sp>
        <p:nvSpPr>
          <p:cNvPr id="5" name="Shape 3"/>
          <p:cNvSpPr/>
          <p:nvPr/>
        </p:nvSpPr>
        <p:spPr>
          <a:xfrm>
            <a:off x="457200" y="1920240"/>
            <a:ext cx="2560320" cy="27432"/>
          </a:xfrm>
          <a:prstGeom prst="rect">
            <a:avLst/>
          </a:prstGeom>
          <a:solidFill>
            <a:srgbClr val="2E86AB"/>
          </a:solidFill>
          <a:ln/>
        </p:spPr>
      </p:sp>
      <p:sp>
        <p:nvSpPr>
          <p:cNvPr id="6" name="Text 4"/>
          <p:cNvSpPr/>
          <p:nvPr/>
        </p:nvSpPr>
        <p:spPr>
          <a:xfrm>
            <a:off x="640080" y="2103120"/>
            <a:ext cx="2194560" cy="2286000"/>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Designed for specific tasks. Current state of all AI systems.</a:t>
            </a:r>
            <a:endParaRPr lang="en-US" sz="1100" dirty="0"/>
          </a:p>
        </p:txBody>
      </p:sp>
      <p:sp>
        <p:nvSpPr>
          <p:cNvPr id="7" name="Shape 5"/>
          <p:cNvSpPr/>
          <p:nvPr/>
        </p:nvSpPr>
        <p:spPr>
          <a:xfrm>
            <a:off x="3108960" y="1188720"/>
            <a:ext cx="2560320" cy="3383280"/>
          </a:xfrm>
          <a:prstGeom prst="roundRect">
            <a:avLst/>
          </a:prstGeom>
          <a:solidFill>
            <a:srgbClr val="FFFFFF"/>
          </a:solidFill>
          <a:ln w="25400">
            <a:solidFill>
              <a:srgbClr val="00B4D8"/>
            </a:solidFill>
            <a:prstDash val="solid"/>
          </a:ln>
        </p:spPr>
      </p:sp>
      <p:sp>
        <p:nvSpPr>
          <p:cNvPr id="8" name="Text 6"/>
          <p:cNvSpPr/>
          <p:nvPr/>
        </p:nvSpPr>
        <p:spPr>
          <a:xfrm>
            <a:off x="3246120" y="1371600"/>
            <a:ext cx="2286000" cy="457200"/>
          </a:xfrm>
          <a:prstGeom prst="rect">
            <a:avLst/>
          </a:prstGeom>
          <a:noFill/>
          <a:ln/>
        </p:spPr>
        <p:txBody>
          <a:bodyPr wrap="square" rtlCol="0" anchor="ctr"/>
          <a:lstStyle/>
          <a:p>
            <a:pPr algn="ctr" indent="0" marL="0">
              <a:buNone/>
            </a:pPr>
            <a:r>
              <a:rPr lang="en-US" sz="1400" b="1" dirty="0">
                <a:solidFill>
                  <a:srgbClr val="00B4D8"/>
                </a:solidFill>
                <a:latin typeface="Georgia" pitchFamily="34" charset="0"/>
                <a:ea typeface="Georgia" pitchFamily="34" charset="-122"/>
                <a:cs typeface="Georgia" pitchFamily="34" charset="-120"/>
              </a:rPr>
              <a:t>General AI (AGI)</a:t>
            </a:r>
            <a:endParaRPr lang="en-US" sz="1400" dirty="0"/>
          </a:p>
        </p:txBody>
      </p:sp>
      <p:sp>
        <p:nvSpPr>
          <p:cNvPr id="9" name="Shape 7"/>
          <p:cNvSpPr/>
          <p:nvPr/>
        </p:nvSpPr>
        <p:spPr>
          <a:xfrm>
            <a:off x="3108960" y="1920240"/>
            <a:ext cx="2560320" cy="27432"/>
          </a:xfrm>
          <a:prstGeom prst="rect">
            <a:avLst/>
          </a:prstGeom>
          <a:solidFill>
            <a:srgbClr val="00B4D8"/>
          </a:solidFill>
          <a:ln/>
        </p:spPr>
      </p:sp>
      <p:sp>
        <p:nvSpPr>
          <p:cNvPr id="10" name="Text 8"/>
          <p:cNvSpPr/>
          <p:nvPr/>
        </p:nvSpPr>
        <p:spPr>
          <a:xfrm>
            <a:off x="3291840" y="2103120"/>
            <a:ext cx="2194560" cy="2286000"/>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Matches human-level intelligence across domains. Still theoretical.</a:t>
            </a:r>
            <a:endParaRPr lang="en-US" sz="1100" dirty="0"/>
          </a:p>
        </p:txBody>
      </p:sp>
      <p:sp>
        <p:nvSpPr>
          <p:cNvPr id="11" name="Shape 9"/>
          <p:cNvSpPr/>
          <p:nvPr/>
        </p:nvSpPr>
        <p:spPr>
          <a:xfrm>
            <a:off x="5760720" y="1188720"/>
            <a:ext cx="2560320" cy="3383280"/>
          </a:xfrm>
          <a:prstGeom prst="roundRect">
            <a:avLst/>
          </a:prstGeom>
          <a:solidFill>
            <a:srgbClr val="FFFFFF"/>
          </a:solidFill>
          <a:ln w="25400">
            <a:solidFill>
              <a:srgbClr val="1B3A5C"/>
            </a:solidFill>
            <a:prstDash val="solid"/>
          </a:ln>
        </p:spPr>
      </p:sp>
      <p:sp>
        <p:nvSpPr>
          <p:cNvPr id="12" name="Text 10"/>
          <p:cNvSpPr/>
          <p:nvPr/>
        </p:nvSpPr>
        <p:spPr>
          <a:xfrm>
            <a:off x="5897880" y="1371600"/>
            <a:ext cx="2286000" cy="457200"/>
          </a:xfrm>
          <a:prstGeom prst="rect">
            <a:avLst/>
          </a:prstGeom>
          <a:noFill/>
          <a:ln/>
        </p:spPr>
        <p:txBody>
          <a:bodyPr wrap="square" rtlCol="0" anchor="ctr"/>
          <a:lstStyle/>
          <a:p>
            <a:pPr algn="ctr" indent="0" marL="0">
              <a:buNone/>
            </a:pPr>
            <a:r>
              <a:rPr lang="en-US" sz="1400" b="1" dirty="0">
                <a:solidFill>
                  <a:srgbClr val="1B3A5C"/>
                </a:solidFill>
                <a:latin typeface="Georgia" pitchFamily="34" charset="0"/>
                <a:ea typeface="Georgia" pitchFamily="34" charset="-122"/>
                <a:cs typeface="Georgia" pitchFamily="34" charset="-120"/>
              </a:rPr>
              <a:t>Super AI (ASI)</a:t>
            </a:r>
            <a:endParaRPr lang="en-US" sz="1400" dirty="0"/>
          </a:p>
        </p:txBody>
      </p:sp>
      <p:sp>
        <p:nvSpPr>
          <p:cNvPr id="13" name="Shape 11"/>
          <p:cNvSpPr/>
          <p:nvPr/>
        </p:nvSpPr>
        <p:spPr>
          <a:xfrm>
            <a:off x="5760720" y="1920240"/>
            <a:ext cx="2560320" cy="27432"/>
          </a:xfrm>
          <a:prstGeom prst="rect">
            <a:avLst/>
          </a:prstGeom>
          <a:solidFill>
            <a:srgbClr val="1B3A5C"/>
          </a:solidFill>
          <a:ln/>
        </p:spPr>
      </p:sp>
      <p:sp>
        <p:nvSpPr>
          <p:cNvPr id="14" name="Text 12"/>
          <p:cNvSpPr/>
          <p:nvPr/>
        </p:nvSpPr>
        <p:spPr>
          <a:xfrm>
            <a:off x="5943600" y="2103120"/>
            <a:ext cx="2194560" cy="2286000"/>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Surpasses human intelligence. Purely speculative, far future.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8F4F8"/>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4000" b="1" dirty="0">
                <a:solidFill>
                  <a:srgbClr val="0D1B2A"/>
                </a:solidFill>
                <a:latin typeface="Georgia" pitchFamily="34" charset="0"/>
                <a:ea typeface="Georgia" pitchFamily="34" charset="-122"/>
                <a:cs typeface="Georgia" pitchFamily="34" charset="-120"/>
              </a:rPr>
              <a:t>AI Capabilities Today: Real Examples</a:t>
            </a:r>
            <a:endParaRPr lang="en-US" sz="4000" dirty="0"/>
          </a:p>
        </p:txBody>
      </p:sp>
      <p:sp>
        <p:nvSpPr>
          <p:cNvPr id="3" name="Shape 1"/>
          <p:cNvSpPr/>
          <p:nvPr/>
        </p:nvSpPr>
        <p:spPr>
          <a:xfrm>
            <a:off x="457200" y="1188720"/>
            <a:ext cx="3840480" cy="914400"/>
          </a:xfrm>
          <a:prstGeom prst="roundRect">
            <a:avLst/>
          </a:prstGeom>
          <a:solidFill>
            <a:srgbClr val="2E86AB"/>
          </a:solidFill>
          <a:ln/>
        </p:spPr>
      </p:sp>
      <p:sp>
        <p:nvSpPr>
          <p:cNvPr id="4" name="Text 2"/>
          <p:cNvSpPr/>
          <p:nvPr/>
        </p:nvSpPr>
        <p:spPr>
          <a:xfrm>
            <a:off x="640080" y="1261872"/>
            <a:ext cx="3474720" cy="274320"/>
          </a:xfrm>
          <a:prstGeom prst="rect">
            <a:avLst/>
          </a:prstGeom>
          <a:noFill/>
          <a:ln/>
        </p:spPr>
        <p:txBody>
          <a:bodyPr wrap="square"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Virtual Assistants</a:t>
            </a:r>
            <a:endParaRPr lang="en-US" sz="1200" dirty="0"/>
          </a:p>
        </p:txBody>
      </p:sp>
      <p:sp>
        <p:nvSpPr>
          <p:cNvPr id="5" name="Text 3"/>
          <p:cNvSpPr/>
          <p:nvPr/>
        </p:nvSpPr>
        <p:spPr>
          <a:xfrm>
            <a:off x="640080" y="1572768"/>
            <a:ext cx="3474720" cy="438912"/>
          </a:xfrm>
          <a:prstGeom prst="rect">
            <a:avLst/>
          </a:prstGeom>
          <a:noFill/>
          <a:ln/>
        </p:spPr>
        <p:txBody>
          <a:bodyPr wrap="square" rtlCol="0" anchor="ctr"/>
          <a:lstStyle/>
          <a:p>
            <a:pPr indent="0" marL="0">
              <a:buNone/>
            </a:pPr>
            <a:r>
              <a:rPr lang="en-US" sz="1000" dirty="0">
                <a:solidFill>
                  <a:srgbClr val="E8F4F8"/>
                </a:solidFill>
                <a:latin typeface="Calibri" pitchFamily="34" charset="0"/>
                <a:ea typeface="Calibri" pitchFamily="34" charset="-122"/>
                <a:cs typeface="Calibri" pitchFamily="34" charset="-120"/>
              </a:rPr>
              <a:t>Siri, Alexa, Google Assistant</a:t>
            </a:r>
            <a:endParaRPr lang="en-US" sz="1000" dirty="0"/>
          </a:p>
        </p:txBody>
      </p:sp>
      <p:sp>
        <p:nvSpPr>
          <p:cNvPr id="6" name="Shape 4"/>
          <p:cNvSpPr/>
          <p:nvPr/>
        </p:nvSpPr>
        <p:spPr>
          <a:xfrm>
            <a:off x="4572000" y="1188720"/>
            <a:ext cx="3840480" cy="914400"/>
          </a:xfrm>
          <a:prstGeom prst="roundRect">
            <a:avLst/>
          </a:prstGeom>
          <a:solidFill>
            <a:srgbClr val="2E86AB"/>
          </a:solidFill>
          <a:ln/>
        </p:spPr>
      </p:sp>
      <p:sp>
        <p:nvSpPr>
          <p:cNvPr id="7" name="Text 5"/>
          <p:cNvSpPr/>
          <p:nvPr/>
        </p:nvSpPr>
        <p:spPr>
          <a:xfrm>
            <a:off x="4754880" y="1261872"/>
            <a:ext cx="3474720" cy="274320"/>
          </a:xfrm>
          <a:prstGeom prst="rect">
            <a:avLst/>
          </a:prstGeom>
          <a:noFill/>
          <a:ln/>
        </p:spPr>
        <p:txBody>
          <a:bodyPr wrap="square"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Autonomous Vehicles</a:t>
            </a:r>
            <a:endParaRPr lang="en-US" sz="1200" dirty="0"/>
          </a:p>
        </p:txBody>
      </p:sp>
      <p:sp>
        <p:nvSpPr>
          <p:cNvPr id="8" name="Text 6"/>
          <p:cNvSpPr/>
          <p:nvPr/>
        </p:nvSpPr>
        <p:spPr>
          <a:xfrm>
            <a:off x="4754880" y="1572768"/>
            <a:ext cx="3474720" cy="438912"/>
          </a:xfrm>
          <a:prstGeom prst="rect">
            <a:avLst/>
          </a:prstGeom>
          <a:noFill/>
          <a:ln/>
        </p:spPr>
        <p:txBody>
          <a:bodyPr wrap="square" rtlCol="0" anchor="ctr"/>
          <a:lstStyle/>
          <a:p>
            <a:pPr indent="0" marL="0">
              <a:buNone/>
            </a:pPr>
            <a:r>
              <a:rPr lang="en-US" sz="1000" dirty="0">
                <a:solidFill>
                  <a:srgbClr val="E8F4F8"/>
                </a:solidFill>
                <a:latin typeface="Calibri" pitchFamily="34" charset="0"/>
                <a:ea typeface="Calibri" pitchFamily="34" charset="-122"/>
                <a:cs typeface="Calibri" pitchFamily="34" charset="-120"/>
              </a:rPr>
              <a:t>Tesla, Waymo, Cruise</a:t>
            </a:r>
            <a:endParaRPr lang="en-US" sz="1000" dirty="0"/>
          </a:p>
        </p:txBody>
      </p:sp>
      <p:sp>
        <p:nvSpPr>
          <p:cNvPr id="9" name="Shape 7"/>
          <p:cNvSpPr/>
          <p:nvPr/>
        </p:nvSpPr>
        <p:spPr>
          <a:xfrm>
            <a:off x="457200" y="2194560"/>
            <a:ext cx="3840480" cy="914400"/>
          </a:xfrm>
          <a:prstGeom prst="roundRect">
            <a:avLst/>
          </a:prstGeom>
          <a:solidFill>
            <a:srgbClr val="2E86AB"/>
          </a:solidFill>
          <a:ln/>
        </p:spPr>
      </p:sp>
      <p:sp>
        <p:nvSpPr>
          <p:cNvPr id="10" name="Text 8"/>
          <p:cNvSpPr/>
          <p:nvPr/>
        </p:nvSpPr>
        <p:spPr>
          <a:xfrm>
            <a:off x="640080" y="2267712"/>
            <a:ext cx="3474720" cy="274320"/>
          </a:xfrm>
          <a:prstGeom prst="rect">
            <a:avLst/>
          </a:prstGeom>
          <a:noFill/>
          <a:ln/>
        </p:spPr>
        <p:txBody>
          <a:bodyPr wrap="square"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Medical Diagnosis</a:t>
            </a:r>
            <a:endParaRPr lang="en-US" sz="1200" dirty="0"/>
          </a:p>
        </p:txBody>
      </p:sp>
      <p:sp>
        <p:nvSpPr>
          <p:cNvPr id="11" name="Text 9"/>
          <p:cNvSpPr/>
          <p:nvPr/>
        </p:nvSpPr>
        <p:spPr>
          <a:xfrm>
            <a:off x="640080" y="2578608"/>
            <a:ext cx="3474720" cy="438912"/>
          </a:xfrm>
          <a:prstGeom prst="rect">
            <a:avLst/>
          </a:prstGeom>
          <a:noFill/>
          <a:ln/>
        </p:spPr>
        <p:txBody>
          <a:bodyPr wrap="square" rtlCol="0" anchor="ctr"/>
          <a:lstStyle/>
          <a:p>
            <a:pPr indent="0" marL="0">
              <a:buNone/>
            </a:pPr>
            <a:r>
              <a:rPr lang="en-US" sz="1000" dirty="0">
                <a:solidFill>
                  <a:srgbClr val="E8F4F8"/>
                </a:solidFill>
                <a:latin typeface="Calibri" pitchFamily="34" charset="0"/>
                <a:ea typeface="Calibri" pitchFamily="34" charset="-122"/>
                <a:cs typeface="Calibri" pitchFamily="34" charset="-120"/>
              </a:rPr>
              <a:t>Cancer detection, disease prediction</a:t>
            </a:r>
            <a:endParaRPr lang="en-US" sz="1000" dirty="0"/>
          </a:p>
        </p:txBody>
      </p:sp>
      <p:sp>
        <p:nvSpPr>
          <p:cNvPr id="12" name="Shape 10"/>
          <p:cNvSpPr/>
          <p:nvPr/>
        </p:nvSpPr>
        <p:spPr>
          <a:xfrm>
            <a:off x="4572000" y="2194560"/>
            <a:ext cx="3840480" cy="914400"/>
          </a:xfrm>
          <a:prstGeom prst="roundRect">
            <a:avLst/>
          </a:prstGeom>
          <a:solidFill>
            <a:srgbClr val="2E86AB"/>
          </a:solidFill>
          <a:ln/>
        </p:spPr>
      </p:sp>
      <p:sp>
        <p:nvSpPr>
          <p:cNvPr id="13" name="Text 11"/>
          <p:cNvSpPr/>
          <p:nvPr/>
        </p:nvSpPr>
        <p:spPr>
          <a:xfrm>
            <a:off x="4754880" y="2267712"/>
            <a:ext cx="3474720" cy="274320"/>
          </a:xfrm>
          <a:prstGeom prst="rect">
            <a:avLst/>
          </a:prstGeom>
          <a:noFill/>
          <a:ln/>
        </p:spPr>
        <p:txBody>
          <a:bodyPr wrap="square"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Game Playing</a:t>
            </a:r>
            <a:endParaRPr lang="en-US" sz="1200" dirty="0"/>
          </a:p>
        </p:txBody>
      </p:sp>
      <p:sp>
        <p:nvSpPr>
          <p:cNvPr id="14" name="Text 12"/>
          <p:cNvSpPr/>
          <p:nvPr/>
        </p:nvSpPr>
        <p:spPr>
          <a:xfrm>
            <a:off x="4754880" y="2578608"/>
            <a:ext cx="3474720" cy="438912"/>
          </a:xfrm>
          <a:prstGeom prst="rect">
            <a:avLst/>
          </a:prstGeom>
          <a:noFill/>
          <a:ln/>
        </p:spPr>
        <p:txBody>
          <a:bodyPr wrap="square" rtlCol="0" anchor="ctr"/>
          <a:lstStyle/>
          <a:p>
            <a:pPr indent="0" marL="0">
              <a:buNone/>
            </a:pPr>
            <a:r>
              <a:rPr lang="en-US" sz="1000" dirty="0">
                <a:solidFill>
                  <a:srgbClr val="E8F4F8"/>
                </a:solidFill>
                <a:latin typeface="Calibri" pitchFamily="34" charset="0"/>
                <a:ea typeface="Calibri" pitchFamily="34" charset="-122"/>
                <a:cs typeface="Calibri" pitchFamily="34" charset="-120"/>
              </a:rPr>
              <a:t>AlphaGo, Chess engines, StarCraft</a:t>
            </a:r>
            <a:endParaRPr lang="en-US" sz="1000" dirty="0"/>
          </a:p>
        </p:txBody>
      </p:sp>
      <p:sp>
        <p:nvSpPr>
          <p:cNvPr id="15" name="Shape 13"/>
          <p:cNvSpPr/>
          <p:nvPr/>
        </p:nvSpPr>
        <p:spPr>
          <a:xfrm>
            <a:off x="457200" y="3200400"/>
            <a:ext cx="3840480" cy="914400"/>
          </a:xfrm>
          <a:prstGeom prst="roundRect">
            <a:avLst/>
          </a:prstGeom>
          <a:solidFill>
            <a:srgbClr val="2E86AB"/>
          </a:solidFill>
          <a:ln/>
        </p:spPr>
      </p:sp>
      <p:sp>
        <p:nvSpPr>
          <p:cNvPr id="16" name="Text 14"/>
          <p:cNvSpPr/>
          <p:nvPr/>
        </p:nvSpPr>
        <p:spPr>
          <a:xfrm>
            <a:off x="640080" y="3273552"/>
            <a:ext cx="3474720" cy="274320"/>
          </a:xfrm>
          <a:prstGeom prst="rect">
            <a:avLst/>
          </a:prstGeom>
          <a:noFill/>
          <a:ln/>
        </p:spPr>
        <p:txBody>
          <a:bodyPr wrap="square"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Natural Language</a:t>
            </a:r>
            <a:endParaRPr lang="en-US" sz="1200" dirty="0"/>
          </a:p>
        </p:txBody>
      </p:sp>
      <p:sp>
        <p:nvSpPr>
          <p:cNvPr id="17" name="Text 15"/>
          <p:cNvSpPr/>
          <p:nvPr/>
        </p:nvSpPr>
        <p:spPr>
          <a:xfrm>
            <a:off x="640080" y="3584448"/>
            <a:ext cx="3474720" cy="438912"/>
          </a:xfrm>
          <a:prstGeom prst="rect">
            <a:avLst/>
          </a:prstGeom>
          <a:noFill/>
          <a:ln/>
        </p:spPr>
        <p:txBody>
          <a:bodyPr wrap="square" rtlCol="0" anchor="ctr"/>
          <a:lstStyle/>
          <a:p>
            <a:pPr indent="0" marL="0">
              <a:buNone/>
            </a:pPr>
            <a:r>
              <a:rPr lang="en-US" sz="1000" dirty="0">
                <a:solidFill>
                  <a:srgbClr val="E8F4F8"/>
                </a:solidFill>
                <a:latin typeface="Calibri" pitchFamily="34" charset="0"/>
                <a:ea typeface="Calibri" pitchFamily="34" charset="-122"/>
                <a:cs typeface="Calibri" pitchFamily="34" charset="-120"/>
              </a:rPr>
              <a:t>ChatGPT, translation, summarization</a:t>
            </a:r>
            <a:endParaRPr lang="en-US" sz="1000" dirty="0"/>
          </a:p>
        </p:txBody>
      </p:sp>
      <p:sp>
        <p:nvSpPr>
          <p:cNvPr id="18" name="Shape 16"/>
          <p:cNvSpPr/>
          <p:nvPr/>
        </p:nvSpPr>
        <p:spPr>
          <a:xfrm>
            <a:off x="4572000" y="3200400"/>
            <a:ext cx="3840480" cy="914400"/>
          </a:xfrm>
          <a:prstGeom prst="roundRect">
            <a:avLst/>
          </a:prstGeom>
          <a:solidFill>
            <a:srgbClr val="2E86AB"/>
          </a:solidFill>
          <a:ln/>
        </p:spPr>
      </p:sp>
      <p:sp>
        <p:nvSpPr>
          <p:cNvPr id="19" name="Text 17"/>
          <p:cNvSpPr/>
          <p:nvPr/>
        </p:nvSpPr>
        <p:spPr>
          <a:xfrm>
            <a:off x="4754880" y="3273552"/>
            <a:ext cx="3474720" cy="274320"/>
          </a:xfrm>
          <a:prstGeom prst="rect">
            <a:avLst/>
          </a:prstGeom>
          <a:noFill/>
          <a:ln/>
        </p:spPr>
        <p:txBody>
          <a:bodyPr wrap="square" rtlCol="0" anchor="ctr"/>
          <a:lstStyle/>
          <a:p>
            <a:pPr indent="0" marL="0">
              <a:buNone/>
            </a:pPr>
            <a:r>
              <a:rPr lang="en-US" sz="1200" b="1" dirty="0">
                <a:solidFill>
                  <a:srgbClr val="FFFFFF"/>
                </a:solidFill>
                <a:latin typeface="Georgia" pitchFamily="34" charset="0"/>
                <a:ea typeface="Georgia" pitchFamily="34" charset="-122"/>
                <a:cs typeface="Georgia" pitchFamily="34" charset="-120"/>
              </a:rPr>
              <a:t>Computer Vision</a:t>
            </a:r>
            <a:endParaRPr lang="en-US" sz="1200" dirty="0"/>
          </a:p>
        </p:txBody>
      </p:sp>
      <p:sp>
        <p:nvSpPr>
          <p:cNvPr id="20" name="Text 18"/>
          <p:cNvSpPr/>
          <p:nvPr/>
        </p:nvSpPr>
        <p:spPr>
          <a:xfrm>
            <a:off x="4754880" y="3584448"/>
            <a:ext cx="3474720" cy="438912"/>
          </a:xfrm>
          <a:prstGeom prst="rect">
            <a:avLst/>
          </a:prstGeom>
          <a:noFill/>
          <a:ln/>
        </p:spPr>
        <p:txBody>
          <a:bodyPr wrap="square" rtlCol="0" anchor="ctr"/>
          <a:lstStyle/>
          <a:p>
            <a:pPr indent="0" marL="0">
              <a:buNone/>
            </a:pPr>
            <a:r>
              <a:rPr lang="en-US" sz="1000" dirty="0">
                <a:solidFill>
                  <a:srgbClr val="E8F4F8"/>
                </a:solidFill>
                <a:latin typeface="Calibri" pitchFamily="34" charset="0"/>
                <a:ea typeface="Calibri" pitchFamily="34" charset="-122"/>
                <a:cs typeface="Calibri" pitchFamily="34" charset="-120"/>
              </a:rPr>
              <a:t>Facial recognition, object detection</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8F4F8"/>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4000" b="1" dirty="0">
                <a:solidFill>
                  <a:srgbClr val="0D1B2A"/>
                </a:solidFill>
                <a:latin typeface="Georgia" pitchFamily="34" charset="0"/>
                <a:ea typeface="Georgia" pitchFamily="34" charset="-122"/>
                <a:cs typeface="Georgia" pitchFamily="34" charset="-120"/>
              </a:rPr>
              <a:t>The AI Landscape: Key Subfields</a:t>
            </a:r>
            <a:endParaRPr lang="en-US" sz="4000" dirty="0"/>
          </a:p>
        </p:txBody>
      </p:sp>
      <p:sp>
        <p:nvSpPr>
          <p:cNvPr id="3" name="Shape 1"/>
          <p:cNvSpPr/>
          <p:nvPr/>
        </p:nvSpPr>
        <p:spPr>
          <a:xfrm>
            <a:off x="731520" y="1371600"/>
            <a:ext cx="1188720" cy="640080"/>
          </a:xfrm>
          <a:prstGeom prst="roundRect">
            <a:avLst/>
          </a:prstGeom>
          <a:solidFill>
            <a:srgbClr val="2E86AB"/>
          </a:solidFill>
          <a:ln/>
        </p:spPr>
      </p:sp>
      <p:sp>
        <p:nvSpPr>
          <p:cNvPr id="4" name="Text 2"/>
          <p:cNvSpPr/>
          <p:nvPr/>
        </p:nvSpPr>
        <p:spPr>
          <a:xfrm>
            <a:off x="731520" y="1417320"/>
            <a:ext cx="1188720" cy="54864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Machine Learning</a:t>
            </a:r>
            <a:endParaRPr lang="en-US" sz="900" dirty="0"/>
          </a:p>
        </p:txBody>
      </p:sp>
      <p:sp>
        <p:nvSpPr>
          <p:cNvPr id="5" name="Shape 3"/>
          <p:cNvSpPr/>
          <p:nvPr/>
        </p:nvSpPr>
        <p:spPr>
          <a:xfrm>
            <a:off x="2286000" y="1371600"/>
            <a:ext cx="1188720" cy="640080"/>
          </a:xfrm>
          <a:prstGeom prst="roundRect">
            <a:avLst/>
          </a:prstGeom>
          <a:solidFill>
            <a:srgbClr val="2E86AB"/>
          </a:solidFill>
          <a:ln/>
        </p:spPr>
      </p:sp>
      <p:sp>
        <p:nvSpPr>
          <p:cNvPr id="6" name="Text 4"/>
          <p:cNvSpPr/>
          <p:nvPr/>
        </p:nvSpPr>
        <p:spPr>
          <a:xfrm>
            <a:off x="2286000" y="1417320"/>
            <a:ext cx="1188720" cy="54864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NLP</a:t>
            </a:r>
            <a:endParaRPr lang="en-US" sz="900" dirty="0"/>
          </a:p>
        </p:txBody>
      </p:sp>
      <p:sp>
        <p:nvSpPr>
          <p:cNvPr id="7" name="Shape 5"/>
          <p:cNvSpPr/>
          <p:nvPr/>
        </p:nvSpPr>
        <p:spPr>
          <a:xfrm>
            <a:off x="3840480" y="1371600"/>
            <a:ext cx="1188720" cy="640080"/>
          </a:xfrm>
          <a:prstGeom prst="roundRect">
            <a:avLst/>
          </a:prstGeom>
          <a:solidFill>
            <a:srgbClr val="2E86AB"/>
          </a:solidFill>
          <a:ln/>
        </p:spPr>
      </p:sp>
      <p:sp>
        <p:nvSpPr>
          <p:cNvPr id="8" name="Text 6"/>
          <p:cNvSpPr/>
          <p:nvPr/>
        </p:nvSpPr>
        <p:spPr>
          <a:xfrm>
            <a:off x="3840480" y="1417320"/>
            <a:ext cx="1188720" cy="54864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Computer Vision</a:t>
            </a:r>
            <a:endParaRPr lang="en-US" sz="900" dirty="0"/>
          </a:p>
        </p:txBody>
      </p:sp>
      <p:sp>
        <p:nvSpPr>
          <p:cNvPr id="9" name="Shape 7"/>
          <p:cNvSpPr/>
          <p:nvPr/>
        </p:nvSpPr>
        <p:spPr>
          <a:xfrm>
            <a:off x="5669280" y="1371600"/>
            <a:ext cx="1188720" cy="640080"/>
          </a:xfrm>
          <a:prstGeom prst="roundRect">
            <a:avLst/>
          </a:prstGeom>
          <a:solidFill>
            <a:srgbClr val="2E86AB"/>
          </a:solidFill>
          <a:ln/>
        </p:spPr>
      </p:sp>
      <p:sp>
        <p:nvSpPr>
          <p:cNvPr id="10" name="Text 8"/>
          <p:cNvSpPr/>
          <p:nvPr/>
        </p:nvSpPr>
        <p:spPr>
          <a:xfrm>
            <a:off x="5669280" y="1417320"/>
            <a:ext cx="1188720" cy="54864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Robotics</a:t>
            </a:r>
            <a:endParaRPr lang="en-US" sz="900" dirty="0"/>
          </a:p>
        </p:txBody>
      </p:sp>
      <p:sp>
        <p:nvSpPr>
          <p:cNvPr id="11" name="Shape 9"/>
          <p:cNvSpPr/>
          <p:nvPr/>
        </p:nvSpPr>
        <p:spPr>
          <a:xfrm>
            <a:off x="7498080" y="1371600"/>
            <a:ext cx="1188720" cy="640080"/>
          </a:xfrm>
          <a:prstGeom prst="roundRect">
            <a:avLst/>
          </a:prstGeom>
          <a:solidFill>
            <a:srgbClr val="2E86AB"/>
          </a:solidFill>
          <a:ln/>
        </p:spPr>
      </p:sp>
      <p:sp>
        <p:nvSpPr>
          <p:cNvPr id="12" name="Text 10"/>
          <p:cNvSpPr/>
          <p:nvPr/>
        </p:nvSpPr>
        <p:spPr>
          <a:xfrm>
            <a:off x="7498080" y="1417320"/>
            <a:ext cx="1188720" cy="548640"/>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Expert Systems</a:t>
            </a:r>
            <a:endParaRPr lang="en-US" sz="900" dirty="0"/>
          </a:p>
        </p:txBody>
      </p:sp>
      <p:sp>
        <p:nvSpPr>
          <p:cNvPr id="13" name="Text 11"/>
          <p:cNvSpPr/>
          <p:nvPr/>
        </p:nvSpPr>
        <p:spPr>
          <a:xfrm>
            <a:off x="548640" y="2194560"/>
            <a:ext cx="2011680" cy="1097280"/>
          </a:xfrm>
          <a:prstGeom prst="rect">
            <a:avLst/>
          </a:prstGeom>
          <a:noFill/>
          <a:ln/>
        </p:spPr>
        <p:txBody>
          <a:bodyPr wrap="square" rtlCol="0" anchor="ctr"/>
          <a:lstStyle/>
          <a:p>
            <a:pPr indent="0" marL="0">
              <a:buNone/>
            </a:pPr>
            <a:r>
              <a:rPr lang="en-US" sz="1000" dirty="0">
                <a:solidFill>
                  <a:srgbClr val="1A1A2E"/>
                </a:solidFill>
                <a:latin typeface="Calibri" pitchFamily="34" charset="0"/>
                <a:ea typeface="Calibri" pitchFamily="34" charset="-122"/>
                <a:cs typeface="Calibri" pitchFamily="34" charset="-120"/>
              </a:rPr>
              <a:t>Supervised Learning</a:t>
            </a:r>
            <a:pPr indent="0" marL="0">
              <a:buNone/>
            </a:pPr>
            <a:r>
              <a:rPr lang="en-US" sz="1000" dirty="0">
                <a:solidFill>
                  <a:srgbClr val="1A1A2E"/>
                </a:solidFill>
                <a:latin typeface="Calibri" pitchFamily="34" charset="0"/>
                <a:ea typeface="Calibri" pitchFamily="34" charset="-122"/>
                <a:cs typeface="Calibri" pitchFamily="34" charset="-120"/>
              </a:rPr>
              <a:t>Unsupervised Learning</a:t>
            </a:r>
            <a:pPr indent="0" marL="0">
              <a:buNone/>
            </a:pPr>
            <a:r>
              <a:rPr lang="en-US" sz="1000" dirty="0">
                <a:solidFill>
                  <a:srgbClr val="1A1A2E"/>
                </a:solidFill>
                <a:latin typeface="Calibri" pitchFamily="34" charset="0"/>
                <a:ea typeface="Calibri" pitchFamily="34" charset="-122"/>
                <a:cs typeface="Calibri" pitchFamily="34" charset="-120"/>
              </a:rPr>
              <a:t>Reinforcement Learning</a:t>
            </a:r>
            <a:endParaRPr lang="en-US" sz="1000" dirty="0"/>
          </a:p>
        </p:txBody>
      </p:sp>
      <p:sp>
        <p:nvSpPr>
          <p:cNvPr id="14" name="Text 12"/>
          <p:cNvSpPr/>
          <p:nvPr/>
        </p:nvSpPr>
        <p:spPr>
          <a:xfrm>
            <a:off x="2743200" y="2194560"/>
            <a:ext cx="2011680" cy="1097280"/>
          </a:xfrm>
          <a:prstGeom prst="rect">
            <a:avLst/>
          </a:prstGeom>
          <a:noFill/>
          <a:ln/>
        </p:spPr>
        <p:txBody>
          <a:bodyPr wrap="square" rtlCol="0" anchor="ctr"/>
          <a:lstStyle/>
          <a:p>
            <a:pPr indent="0" marL="0">
              <a:buNone/>
            </a:pPr>
            <a:r>
              <a:rPr lang="en-US" sz="1000" dirty="0">
                <a:solidFill>
                  <a:srgbClr val="1A1A2E"/>
                </a:solidFill>
                <a:latin typeface="Calibri" pitchFamily="34" charset="0"/>
                <a:ea typeface="Calibri" pitchFamily="34" charset="-122"/>
                <a:cs typeface="Calibri" pitchFamily="34" charset="-120"/>
              </a:rPr>
              <a:t>Sentiment Analysis</a:t>
            </a:r>
            <a:pPr indent="0" marL="0">
              <a:buNone/>
            </a:pPr>
            <a:r>
              <a:rPr lang="en-US" sz="1000" dirty="0">
                <a:solidFill>
                  <a:srgbClr val="1A1A2E"/>
                </a:solidFill>
                <a:latin typeface="Calibri" pitchFamily="34" charset="0"/>
                <a:ea typeface="Calibri" pitchFamily="34" charset="-122"/>
                <a:cs typeface="Calibri" pitchFamily="34" charset="-120"/>
              </a:rPr>
              <a:t>Machine Translation</a:t>
            </a:r>
            <a:pPr indent="0" marL="0">
              <a:buNone/>
            </a:pPr>
            <a:r>
              <a:rPr lang="en-US" sz="1000" dirty="0">
                <a:solidFill>
                  <a:srgbClr val="1A1A2E"/>
                </a:solidFill>
                <a:latin typeface="Calibri" pitchFamily="34" charset="0"/>
                <a:ea typeface="Calibri" pitchFamily="34" charset="-122"/>
                <a:cs typeface="Calibri" pitchFamily="34" charset="-120"/>
              </a:rPr>
              <a:t>Question Answering</a:t>
            </a:r>
            <a:endParaRPr lang="en-US" sz="1000" dirty="0"/>
          </a:p>
        </p:txBody>
      </p:sp>
      <p:sp>
        <p:nvSpPr>
          <p:cNvPr id="15" name="Text 13"/>
          <p:cNvSpPr/>
          <p:nvPr/>
        </p:nvSpPr>
        <p:spPr>
          <a:xfrm>
            <a:off x="4937760" y="2194560"/>
            <a:ext cx="2011680" cy="1097280"/>
          </a:xfrm>
          <a:prstGeom prst="rect">
            <a:avLst/>
          </a:prstGeom>
          <a:noFill/>
          <a:ln/>
        </p:spPr>
        <p:txBody>
          <a:bodyPr wrap="square" rtlCol="0" anchor="ctr"/>
          <a:lstStyle/>
          <a:p>
            <a:pPr indent="0" marL="0">
              <a:buNone/>
            </a:pPr>
            <a:r>
              <a:rPr lang="en-US" sz="1000" dirty="0">
                <a:solidFill>
                  <a:srgbClr val="1A1A2E"/>
                </a:solidFill>
                <a:latin typeface="Calibri" pitchFamily="34" charset="0"/>
                <a:ea typeface="Calibri" pitchFamily="34" charset="-122"/>
                <a:cs typeface="Calibri" pitchFamily="34" charset="-120"/>
              </a:rPr>
              <a:t>Image Classification</a:t>
            </a:r>
            <a:pPr indent="0" marL="0">
              <a:buNone/>
            </a:pPr>
            <a:r>
              <a:rPr lang="en-US" sz="1000" dirty="0">
                <a:solidFill>
                  <a:srgbClr val="1A1A2E"/>
                </a:solidFill>
                <a:latin typeface="Calibri" pitchFamily="34" charset="0"/>
                <a:ea typeface="Calibri" pitchFamily="34" charset="-122"/>
                <a:cs typeface="Calibri" pitchFamily="34" charset="-120"/>
              </a:rPr>
              <a:t>Object Detection</a:t>
            </a:r>
            <a:pPr indent="0" marL="0">
              <a:buNone/>
            </a:pPr>
            <a:r>
              <a:rPr lang="en-US" sz="1000" dirty="0">
                <a:solidFill>
                  <a:srgbClr val="1A1A2E"/>
                </a:solidFill>
                <a:latin typeface="Calibri" pitchFamily="34" charset="0"/>
                <a:ea typeface="Calibri" pitchFamily="34" charset="-122"/>
                <a:cs typeface="Calibri" pitchFamily="34" charset="-120"/>
              </a:rPr>
              <a:t>Segmentation</a:t>
            </a:r>
            <a:endParaRPr lang="en-US" sz="1000" dirty="0"/>
          </a:p>
        </p:txBody>
      </p:sp>
      <p:sp>
        <p:nvSpPr>
          <p:cNvPr id="16" name="Text 14"/>
          <p:cNvSpPr/>
          <p:nvPr/>
        </p:nvSpPr>
        <p:spPr>
          <a:xfrm>
            <a:off x="7132320" y="2194560"/>
            <a:ext cx="1554480" cy="1097280"/>
          </a:xfrm>
          <a:prstGeom prst="rect">
            <a:avLst/>
          </a:prstGeom>
          <a:noFill/>
          <a:ln/>
        </p:spPr>
        <p:txBody>
          <a:bodyPr wrap="square" rtlCol="0" anchor="ctr"/>
          <a:lstStyle/>
          <a:p>
            <a:pPr indent="0" marL="0">
              <a:buNone/>
            </a:pPr>
            <a:r>
              <a:rPr lang="en-US" sz="900" dirty="0">
                <a:solidFill>
                  <a:srgbClr val="1A1A2E"/>
                </a:solidFill>
                <a:latin typeface="Calibri" pitchFamily="34" charset="0"/>
                <a:ea typeface="Calibri" pitchFamily="34" charset="-122"/>
                <a:cs typeface="Calibri" pitchFamily="34" charset="-120"/>
              </a:rPr>
              <a:t>Motion Planning</a:t>
            </a:r>
            <a:pPr indent="0" marL="0">
              <a:buNone/>
            </a:pPr>
            <a:r>
              <a:rPr lang="en-US" sz="900" dirty="0">
                <a:solidFill>
                  <a:srgbClr val="1A1A2E"/>
                </a:solidFill>
                <a:latin typeface="Calibri" pitchFamily="34" charset="0"/>
                <a:ea typeface="Calibri" pitchFamily="34" charset="-122"/>
                <a:cs typeface="Calibri" pitchFamily="34" charset="-120"/>
              </a:rPr>
              <a:t>Human-Robot Interaction</a:t>
            </a:r>
            <a:pPr indent="0" marL="0">
              <a:buNone/>
            </a:pPr>
            <a:r>
              <a:rPr lang="en-US" sz="900" dirty="0">
                <a:solidFill>
                  <a:srgbClr val="1A1A2E"/>
                </a:solidFill>
                <a:latin typeface="Calibri" pitchFamily="34" charset="0"/>
                <a:ea typeface="Calibri" pitchFamily="34" charset="-122"/>
                <a:cs typeface="Calibri" pitchFamily="34" charset="-120"/>
              </a:rPr>
              <a:t>Knowledge Engineering</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8F4F8"/>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4000" b="1" dirty="0">
                <a:solidFill>
                  <a:srgbClr val="0D1B2A"/>
                </a:solidFill>
                <a:latin typeface="Georgia" pitchFamily="34" charset="0"/>
                <a:ea typeface="Georgia" pitchFamily="34" charset="-122"/>
                <a:cs typeface="Georgia" pitchFamily="34" charset="-120"/>
              </a:rPr>
              <a:t>Key Milestone Achievements</a:t>
            </a:r>
            <a:endParaRPr lang="en-US" sz="4000" dirty="0"/>
          </a:p>
        </p:txBody>
      </p:sp>
      <p:sp>
        <p:nvSpPr>
          <p:cNvPr id="3" name="Shape 1"/>
          <p:cNvSpPr/>
          <p:nvPr/>
        </p:nvSpPr>
        <p:spPr>
          <a:xfrm>
            <a:off x="548640" y="1188720"/>
            <a:ext cx="1097280" cy="548640"/>
          </a:xfrm>
          <a:prstGeom prst="roundRect">
            <a:avLst/>
          </a:prstGeom>
          <a:solidFill>
            <a:srgbClr val="2E86AB"/>
          </a:solidFill>
          <a:ln/>
        </p:spPr>
      </p:sp>
      <p:sp>
        <p:nvSpPr>
          <p:cNvPr id="4" name="Text 2"/>
          <p:cNvSpPr/>
          <p:nvPr/>
        </p:nvSpPr>
        <p:spPr>
          <a:xfrm>
            <a:off x="640080" y="1298448"/>
            <a:ext cx="914400" cy="3200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1997</a:t>
            </a:r>
            <a:endParaRPr lang="en-US" sz="1600" dirty="0"/>
          </a:p>
        </p:txBody>
      </p:sp>
      <p:sp>
        <p:nvSpPr>
          <p:cNvPr id="5" name="Text 3"/>
          <p:cNvSpPr/>
          <p:nvPr/>
        </p:nvSpPr>
        <p:spPr>
          <a:xfrm>
            <a:off x="1783080" y="1188720"/>
            <a:ext cx="6903720" cy="548640"/>
          </a:xfrm>
          <a:prstGeom prst="rect">
            <a:avLst/>
          </a:prstGeom>
          <a:noFill/>
          <a:ln/>
        </p:spPr>
        <p:txBody>
          <a:bodyPr wrap="square" rtlCol="0" anchor="ctr"/>
          <a:lstStyle/>
          <a:p>
            <a:pPr indent="0" marL="0">
              <a:buNone/>
            </a:pPr>
            <a:r>
              <a:rPr lang="en-US" sz="1200" dirty="0">
                <a:solidFill>
                  <a:srgbClr val="1A1A2E"/>
                </a:solidFill>
                <a:latin typeface="Calibri" pitchFamily="34" charset="0"/>
                <a:ea typeface="Calibri" pitchFamily="34" charset="-122"/>
                <a:cs typeface="Calibri" pitchFamily="34" charset="-120"/>
              </a:rPr>
              <a:t>Deep Blue defeats Kasparov at chess</a:t>
            </a:r>
            <a:endParaRPr lang="en-US" sz="1200" dirty="0"/>
          </a:p>
        </p:txBody>
      </p:sp>
      <p:sp>
        <p:nvSpPr>
          <p:cNvPr id="6" name="Shape 4"/>
          <p:cNvSpPr/>
          <p:nvPr/>
        </p:nvSpPr>
        <p:spPr>
          <a:xfrm>
            <a:off x="548640" y="1874520"/>
            <a:ext cx="1097280" cy="548640"/>
          </a:xfrm>
          <a:prstGeom prst="roundRect">
            <a:avLst/>
          </a:prstGeom>
          <a:solidFill>
            <a:srgbClr val="00B4D8"/>
          </a:solidFill>
          <a:ln/>
        </p:spPr>
      </p:sp>
      <p:sp>
        <p:nvSpPr>
          <p:cNvPr id="7" name="Text 5"/>
          <p:cNvSpPr/>
          <p:nvPr/>
        </p:nvSpPr>
        <p:spPr>
          <a:xfrm>
            <a:off x="640080" y="1984248"/>
            <a:ext cx="914400" cy="3200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2011</a:t>
            </a:r>
            <a:endParaRPr lang="en-US" sz="1600" dirty="0"/>
          </a:p>
        </p:txBody>
      </p:sp>
      <p:sp>
        <p:nvSpPr>
          <p:cNvPr id="8" name="Text 6"/>
          <p:cNvSpPr/>
          <p:nvPr/>
        </p:nvSpPr>
        <p:spPr>
          <a:xfrm>
            <a:off x="1783080" y="1874520"/>
            <a:ext cx="6903720" cy="548640"/>
          </a:xfrm>
          <a:prstGeom prst="rect">
            <a:avLst/>
          </a:prstGeom>
          <a:noFill/>
          <a:ln/>
        </p:spPr>
        <p:txBody>
          <a:bodyPr wrap="square" rtlCol="0" anchor="ctr"/>
          <a:lstStyle/>
          <a:p>
            <a:pPr indent="0" marL="0">
              <a:buNone/>
            </a:pPr>
            <a:r>
              <a:rPr lang="en-US" sz="1200" dirty="0">
                <a:solidFill>
                  <a:srgbClr val="1A1A2E"/>
                </a:solidFill>
                <a:latin typeface="Calibri" pitchFamily="34" charset="0"/>
                <a:ea typeface="Calibri" pitchFamily="34" charset="-122"/>
                <a:cs typeface="Calibri" pitchFamily="34" charset="-120"/>
              </a:rPr>
              <a:t>Watson wins Jeopardy! against human champions</a:t>
            </a:r>
            <a:endParaRPr lang="en-US" sz="1200" dirty="0"/>
          </a:p>
        </p:txBody>
      </p:sp>
      <p:sp>
        <p:nvSpPr>
          <p:cNvPr id="9" name="Shape 7"/>
          <p:cNvSpPr/>
          <p:nvPr/>
        </p:nvSpPr>
        <p:spPr>
          <a:xfrm>
            <a:off x="548640" y="2560320"/>
            <a:ext cx="1097280" cy="548640"/>
          </a:xfrm>
          <a:prstGeom prst="roundRect">
            <a:avLst/>
          </a:prstGeom>
          <a:solidFill>
            <a:srgbClr val="1B3A5C"/>
          </a:solidFill>
          <a:ln/>
        </p:spPr>
      </p:sp>
      <p:sp>
        <p:nvSpPr>
          <p:cNvPr id="10" name="Text 8"/>
          <p:cNvSpPr/>
          <p:nvPr/>
        </p:nvSpPr>
        <p:spPr>
          <a:xfrm>
            <a:off x="640080" y="2670048"/>
            <a:ext cx="914400" cy="3200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2016</a:t>
            </a:r>
            <a:endParaRPr lang="en-US" sz="1600" dirty="0"/>
          </a:p>
        </p:txBody>
      </p:sp>
      <p:sp>
        <p:nvSpPr>
          <p:cNvPr id="11" name="Text 9"/>
          <p:cNvSpPr/>
          <p:nvPr/>
        </p:nvSpPr>
        <p:spPr>
          <a:xfrm>
            <a:off x="1783080" y="2560320"/>
            <a:ext cx="6903720" cy="548640"/>
          </a:xfrm>
          <a:prstGeom prst="rect">
            <a:avLst/>
          </a:prstGeom>
          <a:noFill/>
          <a:ln/>
        </p:spPr>
        <p:txBody>
          <a:bodyPr wrap="square" rtlCol="0" anchor="ctr"/>
          <a:lstStyle/>
          <a:p>
            <a:pPr indent="0" marL="0">
              <a:buNone/>
            </a:pPr>
            <a:r>
              <a:rPr lang="en-US" sz="1200" dirty="0">
                <a:solidFill>
                  <a:srgbClr val="1A1A2E"/>
                </a:solidFill>
                <a:latin typeface="Calibri" pitchFamily="34" charset="0"/>
                <a:ea typeface="Calibri" pitchFamily="34" charset="-122"/>
                <a:cs typeface="Calibri" pitchFamily="34" charset="-120"/>
              </a:rPr>
              <a:t>AlphaGo defeats Lee Sedol at Go</a:t>
            </a:r>
            <a:endParaRPr lang="en-US" sz="1200" dirty="0"/>
          </a:p>
        </p:txBody>
      </p:sp>
      <p:sp>
        <p:nvSpPr>
          <p:cNvPr id="12" name="Shape 10"/>
          <p:cNvSpPr/>
          <p:nvPr/>
        </p:nvSpPr>
        <p:spPr>
          <a:xfrm>
            <a:off x="548640" y="3246120"/>
            <a:ext cx="1097280" cy="548640"/>
          </a:xfrm>
          <a:prstGeom prst="roundRect">
            <a:avLst/>
          </a:prstGeom>
          <a:solidFill>
            <a:srgbClr val="2E86AB"/>
          </a:solidFill>
          <a:ln/>
        </p:spPr>
      </p:sp>
      <p:sp>
        <p:nvSpPr>
          <p:cNvPr id="13" name="Text 11"/>
          <p:cNvSpPr/>
          <p:nvPr/>
        </p:nvSpPr>
        <p:spPr>
          <a:xfrm>
            <a:off x="640080" y="3355848"/>
            <a:ext cx="914400" cy="3200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2018</a:t>
            </a:r>
            <a:endParaRPr lang="en-US" sz="1600" dirty="0"/>
          </a:p>
        </p:txBody>
      </p:sp>
      <p:sp>
        <p:nvSpPr>
          <p:cNvPr id="14" name="Text 12"/>
          <p:cNvSpPr/>
          <p:nvPr/>
        </p:nvSpPr>
        <p:spPr>
          <a:xfrm>
            <a:off x="1783080" y="3246120"/>
            <a:ext cx="6903720" cy="548640"/>
          </a:xfrm>
          <a:prstGeom prst="rect">
            <a:avLst/>
          </a:prstGeom>
          <a:noFill/>
          <a:ln/>
        </p:spPr>
        <p:txBody>
          <a:bodyPr wrap="square" rtlCol="0" anchor="ctr"/>
          <a:lstStyle/>
          <a:p>
            <a:pPr indent="0" marL="0">
              <a:buNone/>
            </a:pPr>
            <a:r>
              <a:rPr lang="en-US" sz="1200" dirty="0">
                <a:solidFill>
                  <a:srgbClr val="1A1A2E"/>
                </a:solidFill>
                <a:latin typeface="Calibri" pitchFamily="34" charset="0"/>
                <a:ea typeface="Calibri" pitchFamily="34" charset="-122"/>
                <a:cs typeface="Calibri" pitchFamily="34" charset="-120"/>
              </a:rPr>
              <a:t>BERT transforms NLP tasks</a:t>
            </a:r>
            <a:endParaRPr lang="en-US" sz="1200" dirty="0"/>
          </a:p>
        </p:txBody>
      </p:sp>
      <p:sp>
        <p:nvSpPr>
          <p:cNvPr id="15" name="Shape 13"/>
          <p:cNvSpPr/>
          <p:nvPr/>
        </p:nvSpPr>
        <p:spPr>
          <a:xfrm>
            <a:off x="548640" y="3931920"/>
            <a:ext cx="1097280" cy="548640"/>
          </a:xfrm>
          <a:prstGeom prst="roundRect">
            <a:avLst/>
          </a:prstGeom>
          <a:solidFill>
            <a:srgbClr val="00B4D8"/>
          </a:solidFill>
          <a:ln/>
        </p:spPr>
      </p:sp>
      <p:sp>
        <p:nvSpPr>
          <p:cNvPr id="16" name="Text 14"/>
          <p:cNvSpPr/>
          <p:nvPr/>
        </p:nvSpPr>
        <p:spPr>
          <a:xfrm>
            <a:off x="640080" y="4041648"/>
            <a:ext cx="914400" cy="32004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2022</a:t>
            </a:r>
            <a:endParaRPr lang="en-US" sz="1600" dirty="0"/>
          </a:p>
        </p:txBody>
      </p:sp>
      <p:sp>
        <p:nvSpPr>
          <p:cNvPr id="17" name="Text 15"/>
          <p:cNvSpPr/>
          <p:nvPr/>
        </p:nvSpPr>
        <p:spPr>
          <a:xfrm>
            <a:off x="1783080" y="3931920"/>
            <a:ext cx="6903720" cy="548640"/>
          </a:xfrm>
          <a:prstGeom prst="rect">
            <a:avLst/>
          </a:prstGeom>
          <a:noFill/>
          <a:ln/>
        </p:spPr>
        <p:txBody>
          <a:bodyPr wrap="square" rtlCol="0" anchor="ctr"/>
          <a:lstStyle/>
          <a:p>
            <a:pPr indent="0" marL="0">
              <a:buNone/>
            </a:pPr>
            <a:r>
              <a:rPr lang="en-US" sz="1200" dirty="0">
                <a:solidFill>
                  <a:srgbClr val="1A1A2E"/>
                </a:solidFill>
                <a:latin typeface="Calibri" pitchFamily="34" charset="0"/>
                <a:ea typeface="Calibri" pitchFamily="34" charset="-122"/>
                <a:cs typeface="Calibri" pitchFamily="34" charset="-120"/>
              </a:rPr>
              <a:t>ChatGPT reaches 1M users in 5 days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8F4F8"/>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4000" b="1" dirty="0">
                <a:solidFill>
                  <a:srgbClr val="0D1B2A"/>
                </a:solidFill>
                <a:latin typeface="Georgia" pitchFamily="34" charset="0"/>
                <a:ea typeface="Georgia" pitchFamily="34" charset="-122"/>
                <a:cs typeface="Georgia" pitchFamily="34" charset="-120"/>
              </a:rPr>
              <a:t>Session 1 Summary: What is AI?</a:t>
            </a:r>
            <a:endParaRPr lang="en-US" sz="4000" dirty="0"/>
          </a:p>
        </p:txBody>
      </p:sp>
      <p:sp>
        <p:nvSpPr>
          <p:cNvPr id="3" name="Shape 1"/>
          <p:cNvSpPr/>
          <p:nvPr/>
        </p:nvSpPr>
        <p:spPr>
          <a:xfrm>
            <a:off x="457200" y="1097280"/>
            <a:ext cx="8229600" cy="3566160"/>
          </a:xfrm>
          <a:prstGeom prst="rect">
            <a:avLst/>
          </a:prstGeom>
          <a:solidFill>
            <a:srgbClr val="FFFFFF"/>
          </a:solidFill>
          <a:ln w="25400">
            <a:solidFill>
              <a:srgbClr val="2E86AB"/>
            </a:solidFill>
            <a:prstDash val="solid"/>
          </a:ln>
        </p:spPr>
      </p:sp>
      <p:sp>
        <p:nvSpPr>
          <p:cNvPr id="4" name="Text 2"/>
          <p:cNvSpPr/>
          <p:nvPr/>
        </p:nvSpPr>
        <p:spPr>
          <a:xfrm>
            <a:off x="731520" y="1371600"/>
            <a:ext cx="7680960" cy="3108960"/>
          </a:xfrm>
          <a:prstGeom prst="rect">
            <a:avLst/>
          </a:prstGeom>
          <a:noFill/>
          <a:ln/>
        </p:spPr>
        <p:txBody>
          <a:bodyPr wrap="square" rtlCol="0" anchor="ctr"/>
          <a:lstStyle/>
          <a:p>
            <a:pPr indent="0" marL="0">
              <a:buNone/>
            </a:pPr>
            <a:r>
              <a:rPr lang="en-US" sz="1300" dirty="0">
                <a:solidFill>
                  <a:srgbClr val="1A1A2E"/>
                </a:solidFill>
                <a:latin typeface="Calibri" pitchFamily="34" charset="0"/>
                <a:ea typeface="Calibri" pitchFamily="34" charset="-122"/>
                <a:cs typeface="Calibri" pitchFamily="34" charset="-120"/>
              </a:rPr>
              <a:t>Intelligence can be viewed from multiple perspectives</a:t>
            </a:r>
            <a:pPr indent="0" marL="0">
              <a:buNone/>
            </a:pPr>
            <a:r>
              <a:rPr lang="en-US" sz="1300" dirty="0">
                <a:solidFill>
                  <a:srgbClr val="1A1A2E"/>
                </a:solidFill>
                <a:latin typeface="Calibri" pitchFamily="34" charset="0"/>
                <a:ea typeface="Calibri" pitchFamily="34" charset="-122"/>
                <a:cs typeface="Calibri" pitchFamily="34" charset="-120"/>
              </a:rPr>
              <a:t>Russell &amp; Norvig framework guides AI research</a:t>
            </a:r>
            <a:pPr indent="0" marL="0">
              <a:buNone/>
            </a:pPr>
            <a:r>
              <a:rPr lang="en-US" sz="1300" dirty="0">
                <a:solidFill>
                  <a:srgbClr val="1A1A2E"/>
                </a:solidFill>
                <a:latin typeface="Calibri" pitchFamily="34" charset="0"/>
                <a:ea typeface="Calibri" pitchFamily="34" charset="-122"/>
                <a:cs typeface="Calibri" pitchFamily="34" charset="-120"/>
              </a:rPr>
              <a:t>Turing Test measures behavioral intelligence</a:t>
            </a:r>
            <a:pPr indent="0" marL="0">
              <a:buNone/>
            </a:pPr>
            <a:r>
              <a:rPr lang="en-US" sz="1300" dirty="0">
                <a:solidFill>
                  <a:srgbClr val="1A1A2E"/>
                </a:solidFill>
                <a:latin typeface="Calibri" pitchFamily="34" charset="0"/>
                <a:ea typeface="Calibri" pitchFamily="34" charset="-122"/>
                <a:cs typeface="Calibri" pitchFamily="34" charset="-120"/>
              </a:rPr>
              <a:t>AI has evolved through boom-bust-boom cycles</a:t>
            </a:r>
            <a:pPr indent="0" marL="0">
              <a:buNone/>
            </a:pPr>
            <a:r>
              <a:rPr lang="en-US" sz="1300" dirty="0">
                <a:solidFill>
                  <a:srgbClr val="1A1A2E"/>
                </a:solidFill>
                <a:latin typeface="Calibri" pitchFamily="34" charset="0"/>
                <a:ea typeface="Calibri" pitchFamily="34" charset="-122"/>
                <a:cs typeface="Calibri" pitchFamily="34" charset="-120"/>
              </a:rPr>
              <a:t>Current AI is narrow, specialized, and task-specific</a:t>
            </a:r>
            <a:pPr indent="0" marL="0">
              <a:buNone/>
            </a:pPr>
            <a:r>
              <a:rPr lang="en-US" sz="1300" dirty="0">
                <a:solidFill>
                  <a:srgbClr val="1A1A2E"/>
                </a:solidFill>
                <a:latin typeface="Calibri" pitchFamily="34" charset="0"/>
                <a:ea typeface="Calibri" pitchFamily="34" charset="-122"/>
                <a:cs typeface="Calibri" pitchFamily="34" charset="-120"/>
              </a:rPr>
              <a:t>Real-world AI powers diverse applications today</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3A5C"/>
        </a:solidFill>
      </p:bgPr>
    </p:bg>
    <p:spTree>
      <p:nvGrpSpPr>
        <p:cNvPr id="1" name=""/>
        <p:cNvGrpSpPr/>
        <p:nvPr/>
      </p:nvGrpSpPr>
      <p:grpSpPr>
        <a:xfrm>
          <a:off x="0" y="0"/>
          <a:ext cx="0" cy="0"/>
          <a:chOff x="0" y="0"/>
          <a:chExt cx="0" cy="0"/>
        </a:xfrm>
      </p:grpSpPr>
      <p:sp>
        <p:nvSpPr>
          <p:cNvPr id="2" name="Text 0"/>
          <p:cNvSpPr/>
          <p:nvPr/>
        </p:nvSpPr>
        <p:spPr>
          <a:xfrm>
            <a:off x="457200" y="1371600"/>
            <a:ext cx="8229600" cy="914400"/>
          </a:xfrm>
          <a:prstGeom prst="rect">
            <a:avLst/>
          </a:prstGeom>
          <a:noFill/>
          <a:ln/>
        </p:spPr>
        <p:txBody>
          <a:bodyPr wrap="square" rtlCol="0" anchor="ctr"/>
          <a:lstStyle/>
          <a:p>
            <a:pPr algn="ctr" indent="0" marL="0">
              <a:buNone/>
            </a:pPr>
            <a:r>
              <a:rPr lang="en-US" sz="7200" b="1" dirty="0">
                <a:solidFill>
                  <a:srgbClr val="00B4D8"/>
                </a:solidFill>
                <a:latin typeface="Georgia" pitchFamily="34" charset="0"/>
                <a:ea typeface="Georgia" pitchFamily="34" charset="-122"/>
                <a:cs typeface="Georgia" pitchFamily="34" charset="-120"/>
              </a:rPr>
              <a:t>SESSION 2</a:t>
            </a:r>
            <a:endParaRPr lang="en-US" sz="7200" dirty="0"/>
          </a:p>
        </p:txBody>
      </p:sp>
      <p:sp>
        <p:nvSpPr>
          <p:cNvPr id="3" name="Text 1"/>
          <p:cNvSpPr/>
          <p:nvPr/>
        </p:nvSpPr>
        <p:spPr>
          <a:xfrm>
            <a:off x="457200" y="2468880"/>
            <a:ext cx="8229600" cy="548640"/>
          </a:xfrm>
          <a:prstGeom prst="rect">
            <a:avLst/>
          </a:prstGeom>
          <a:noFill/>
          <a:ln/>
        </p:spPr>
        <p:txBody>
          <a:bodyPr wrap="square" rtlCol="0" anchor="ctr"/>
          <a:lstStyle/>
          <a:p>
            <a:pPr algn="ctr" indent="0" marL="0">
              <a:buNone/>
            </a:pPr>
            <a:r>
              <a:rPr lang="en-US" sz="4400" dirty="0">
                <a:solidFill>
                  <a:srgbClr val="FFFFFF"/>
                </a:solidFill>
                <a:latin typeface="Georgia" pitchFamily="34" charset="0"/>
                <a:ea typeface="Georgia" pitchFamily="34" charset="-122"/>
                <a:cs typeface="Georgia" pitchFamily="34" charset="-120"/>
              </a:rPr>
              <a:t>AI Paradigms &amp; Agents</a:t>
            </a:r>
            <a:endParaRPr lang="en-US" sz="4400" dirty="0"/>
          </a:p>
        </p:txBody>
      </p:sp>
      <p:sp>
        <p:nvSpPr>
          <p:cNvPr id="4" name="Shape 2"/>
          <p:cNvSpPr/>
          <p:nvPr/>
        </p:nvSpPr>
        <p:spPr>
          <a:xfrm>
            <a:off x="1828800" y="3200400"/>
            <a:ext cx="5486400" cy="54864"/>
          </a:xfrm>
          <a:prstGeom prst="rect">
            <a:avLst/>
          </a:prstGeom>
          <a:solidFill>
            <a:srgbClr val="2E86AB"/>
          </a:solidFill>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8F4F8"/>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4000" b="1" dirty="0">
                <a:solidFill>
                  <a:srgbClr val="0D1B2A"/>
                </a:solidFill>
                <a:latin typeface="Georgia" pitchFamily="34" charset="0"/>
                <a:ea typeface="Georgia" pitchFamily="34" charset="-122"/>
                <a:cs typeface="Georgia" pitchFamily="34" charset="-120"/>
              </a:rPr>
              <a:t>AI vs ML vs DL vs Data Science</a:t>
            </a:r>
            <a:endParaRPr lang="en-US" sz="4000" dirty="0"/>
          </a:p>
        </p:txBody>
      </p:sp>
      <p:sp>
        <p:nvSpPr>
          <p:cNvPr id="3" name="Shape 1"/>
          <p:cNvSpPr/>
          <p:nvPr/>
        </p:nvSpPr>
        <p:spPr>
          <a:xfrm>
            <a:off x="1097280" y="1097280"/>
            <a:ext cx="6949440" cy="3474720"/>
          </a:xfrm>
          <a:prstGeom prst="ellipse">
            <a:avLst/>
          </a:prstGeom>
          <a:solidFill>
            <a:srgbClr val="E8F4F8"/>
          </a:solidFill>
          <a:ln w="25400">
            <a:solidFill>
              <a:srgbClr val="2E86AB"/>
            </a:solidFill>
            <a:prstDash val="solid"/>
          </a:ln>
        </p:spPr>
      </p:sp>
      <p:sp>
        <p:nvSpPr>
          <p:cNvPr id="4" name="Text 2"/>
          <p:cNvSpPr/>
          <p:nvPr/>
        </p:nvSpPr>
        <p:spPr>
          <a:xfrm>
            <a:off x="1371600" y="1280160"/>
            <a:ext cx="2743200" cy="274320"/>
          </a:xfrm>
          <a:prstGeom prst="rect">
            <a:avLst/>
          </a:prstGeom>
          <a:noFill/>
          <a:ln/>
        </p:spPr>
        <p:txBody>
          <a:bodyPr wrap="square" rtlCol="0" anchor="ctr"/>
          <a:lstStyle/>
          <a:p>
            <a:pPr indent="0" marL="0">
              <a:buNone/>
            </a:pPr>
            <a:r>
              <a:rPr lang="en-US" sz="1300" b="1" dirty="0">
                <a:solidFill>
                  <a:srgbClr val="2E86AB"/>
                </a:solidFill>
                <a:latin typeface="Georgia" pitchFamily="34" charset="0"/>
                <a:ea typeface="Georgia" pitchFamily="34" charset="-122"/>
                <a:cs typeface="Georgia" pitchFamily="34" charset="-120"/>
              </a:rPr>
              <a:t>ARTIFICIAL INTELLIGENCE</a:t>
            </a:r>
            <a:endParaRPr lang="en-US" sz="1300" dirty="0"/>
          </a:p>
        </p:txBody>
      </p:sp>
      <p:sp>
        <p:nvSpPr>
          <p:cNvPr id="5" name="Shape 3"/>
          <p:cNvSpPr/>
          <p:nvPr/>
        </p:nvSpPr>
        <p:spPr>
          <a:xfrm>
            <a:off x="1645920" y="1554480"/>
            <a:ext cx="5852160" cy="2926080"/>
          </a:xfrm>
          <a:prstGeom prst="ellipse">
            <a:avLst/>
          </a:prstGeom>
          <a:solidFill>
            <a:srgbClr val="E0EEF5"/>
          </a:solidFill>
          <a:ln w="25400">
            <a:solidFill>
              <a:srgbClr val="00B4D8"/>
            </a:solidFill>
            <a:prstDash val="solid"/>
          </a:ln>
        </p:spPr>
      </p:sp>
      <p:sp>
        <p:nvSpPr>
          <p:cNvPr id="6" name="Text 4"/>
          <p:cNvSpPr/>
          <p:nvPr/>
        </p:nvSpPr>
        <p:spPr>
          <a:xfrm>
            <a:off x="1920240" y="1783080"/>
            <a:ext cx="2286000" cy="274320"/>
          </a:xfrm>
          <a:prstGeom prst="rect">
            <a:avLst/>
          </a:prstGeom>
          <a:noFill/>
          <a:ln/>
        </p:spPr>
        <p:txBody>
          <a:bodyPr wrap="square" rtlCol="0" anchor="ctr"/>
          <a:lstStyle/>
          <a:p>
            <a:pPr indent="0" marL="0">
              <a:buNone/>
            </a:pPr>
            <a:r>
              <a:rPr lang="en-US" sz="1200" b="1" dirty="0">
                <a:solidFill>
                  <a:srgbClr val="00B4D8"/>
                </a:solidFill>
                <a:latin typeface="Georgia" pitchFamily="34" charset="0"/>
                <a:ea typeface="Georgia" pitchFamily="34" charset="-122"/>
                <a:cs typeface="Georgia" pitchFamily="34" charset="-120"/>
              </a:rPr>
              <a:t>MACHINE LEARNING</a:t>
            </a:r>
            <a:endParaRPr lang="en-US" sz="1200" dirty="0"/>
          </a:p>
        </p:txBody>
      </p:sp>
      <p:sp>
        <p:nvSpPr>
          <p:cNvPr id="7" name="Shape 5"/>
          <p:cNvSpPr/>
          <p:nvPr/>
        </p:nvSpPr>
        <p:spPr>
          <a:xfrm>
            <a:off x="2651760" y="2103120"/>
            <a:ext cx="3840480" cy="2103120"/>
          </a:xfrm>
          <a:prstGeom prst="ellipse">
            <a:avLst/>
          </a:prstGeom>
          <a:solidFill>
            <a:srgbClr val="D4E7F0"/>
          </a:solidFill>
          <a:ln w="25400">
            <a:solidFill>
              <a:srgbClr val="1B3A5C"/>
            </a:solidFill>
            <a:prstDash val="solid"/>
          </a:ln>
        </p:spPr>
      </p:sp>
      <p:sp>
        <p:nvSpPr>
          <p:cNvPr id="8" name="Text 6"/>
          <p:cNvSpPr/>
          <p:nvPr/>
        </p:nvSpPr>
        <p:spPr>
          <a:xfrm>
            <a:off x="2926080" y="2331720"/>
            <a:ext cx="1645920" cy="274320"/>
          </a:xfrm>
          <a:prstGeom prst="rect">
            <a:avLst/>
          </a:prstGeom>
          <a:noFill/>
          <a:ln/>
        </p:spPr>
        <p:txBody>
          <a:bodyPr wrap="square" rtlCol="0" anchor="ctr"/>
          <a:lstStyle/>
          <a:p>
            <a:pPr indent="0" marL="0">
              <a:buNone/>
            </a:pPr>
            <a:r>
              <a:rPr lang="en-US" sz="1100" b="1" dirty="0">
                <a:solidFill>
                  <a:srgbClr val="1B3A5C"/>
                </a:solidFill>
                <a:latin typeface="Georgia" pitchFamily="34" charset="0"/>
                <a:ea typeface="Georgia" pitchFamily="34" charset="-122"/>
                <a:cs typeface="Georgia" pitchFamily="34" charset="-120"/>
              </a:rPr>
              <a:t>DEEP LEARNING</a:t>
            </a:r>
            <a:endParaRPr lang="en-US" sz="1100" dirty="0"/>
          </a:p>
        </p:txBody>
      </p:sp>
      <p:sp>
        <p:nvSpPr>
          <p:cNvPr id="9" name="Text 7"/>
          <p:cNvSpPr/>
          <p:nvPr/>
        </p:nvSpPr>
        <p:spPr>
          <a:xfrm>
            <a:off x="5943600" y="2011680"/>
            <a:ext cx="1645920" cy="274320"/>
          </a:xfrm>
          <a:prstGeom prst="rect">
            <a:avLst/>
          </a:prstGeom>
          <a:noFill/>
          <a:ln/>
        </p:spPr>
        <p:txBody>
          <a:bodyPr wrap="square" rtlCol="0" anchor="ctr"/>
          <a:lstStyle/>
          <a:p>
            <a:pPr indent="0" marL="0">
              <a:buNone/>
            </a:pPr>
            <a:r>
              <a:rPr lang="en-US" sz="1200" b="1" dirty="0">
                <a:solidFill>
                  <a:srgbClr val="1A1A2E"/>
                </a:solidFill>
                <a:latin typeface="Georgia" pitchFamily="34" charset="0"/>
                <a:ea typeface="Georgia" pitchFamily="34" charset="-122"/>
                <a:cs typeface="Georgia" pitchFamily="34" charset="-120"/>
              </a:rPr>
              <a:t>Data Science</a:t>
            </a:r>
            <a:endParaRPr lang="en-US" sz="1200" dirty="0"/>
          </a:p>
        </p:txBody>
      </p:sp>
      <p:sp>
        <p:nvSpPr>
          <p:cNvPr id="10" name="Text 8"/>
          <p:cNvSpPr/>
          <p:nvPr/>
        </p:nvSpPr>
        <p:spPr>
          <a:xfrm>
            <a:off x="1371600" y="4526280"/>
            <a:ext cx="6858000" cy="274320"/>
          </a:xfrm>
          <a:prstGeom prst="rect">
            <a:avLst/>
          </a:prstGeom>
          <a:noFill/>
          <a:ln/>
        </p:spPr>
        <p:txBody>
          <a:bodyPr wrap="square" rtlCol="0" anchor="ctr"/>
          <a:lstStyle/>
          <a:p>
            <a:pPr indent="0" marL="0">
              <a:buNone/>
            </a:pPr>
            <a:r>
              <a:rPr lang="en-US" sz="1000" i="1" dirty="0">
                <a:solidFill>
                  <a:srgbClr val="1A1A2E"/>
                </a:solidFill>
                <a:latin typeface="Calibri" pitchFamily="34" charset="0"/>
                <a:ea typeface="Calibri" pitchFamily="34" charset="-122"/>
                <a:cs typeface="Calibri" pitchFamily="34" charset="-120"/>
              </a:rPr>
              <a:t>Broad field of study and development of intelligent systems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8F4F8"/>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4000" b="1" dirty="0">
                <a:solidFill>
                  <a:srgbClr val="0D1B2A"/>
                </a:solidFill>
                <a:latin typeface="Georgia" pitchFamily="34" charset="0"/>
                <a:ea typeface="Georgia" pitchFamily="34" charset="-122"/>
                <a:cs typeface="Georgia" pitchFamily="34" charset="-120"/>
              </a:rPr>
              <a:t>Intelligent Agents: Definition &amp; Architecture</a:t>
            </a:r>
            <a:endParaRPr lang="en-US" sz="4000" dirty="0"/>
          </a:p>
        </p:txBody>
      </p:sp>
      <p:sp>
        <p:nvSpPr>
          <p:cNvPr id="3" name="Shape 1"/>
          <p:cNvSpPr/>
          <p:nvPr/>
        </p:nvSpPr>
        <p:spPr>
          <a:xfrm>
            <a:off x="457200" y="1188720"/>
            <a:ext cx="3931920" cy="3566160"/>
          </a:xfrm>
          <a:prstGeom prst="roundRect">
            <a:avLst/>
          </a:prstGeom>
          <a:solidFill>
            <a:srgbClr val="FFFFFF"/>
          </a:solidFill>
          <a:ln w="25400">
            <a:solidFill>
              <a:srgbClr val="2E86AB"/>
            </a:solidFill>
            <a:prstDash val="solid"/>
          </a:ln>
        </p:spPr>
      </p:sp>
      <p:sp>
        <p:nvSpPr>
          <p:cNvPr id="4" name="Text 2"/>
          <p:cNvSpPr/>
          <p:nvPr/>
        </p:nvSpPr>
        <p:spPr>
          <a:xfrm>
            <a:off x="640080" y="1371600"/>
            <a:ext cx="3566160" cy="274320"/>
          </a:xfrm>
          <a:prstGeom prst="rect">
            <a:avLst/>
          </a:prstGeom>
          <a:noFill/>
          <a:ln/>
        </p:spPr>
        <p:txBody>
          <a:bodyPr wrap="square" rtlCol="0" anchor="ctr"/>
          <a:lstStyle/>
          <a:p>
            <a:pPr indent="0" marL="0">
              <a:buNone/>
            </a:pPr>
            <a:r>
              <a:rPr lang="en-US" sz="1400" b="1" dirty="0">
                <a:solidFill>
                  <a:srgbClr val="2E86AB"/>
                </a:solidFill>
                <a:latin typeface="Georgia" pitchFamily="34" charset="0"/>
                <a:ea typeface="Georgia" pitchFamily="34" charset="-122"/>
                <a:cs typeface="Georgia" pitchFamily="34" charset="-120"/>
              </a:rPr>
              <a:t>Agent Definition</a:t>
            </a:r>
            <a:endParaRPr lang="en-US" sz="1400" dirty="0"/>
          </a:p>
        </p:txBody>
      </p:sp>
      <p:sp>
        <p:nvSpPr>
          <p:cNvPr id="5" name="Text 3"/>
          <p:cNvSpPr/>
          <p:nvPr/>
        </p:nvSpPr>
        <p:spPr>
          <a:xfrm>
            <a:off x="731520" y="1828800"/>
            <a:ext cx="3383280" cy="1371600"/>
          </a:xfrm>
          <a:prstGeom prst="rect">
            <a:avLst/>
          </a:prstGeom>
          <a:noFill/>
          <a:ln/>
        </p:spPr>
        <p:txBody>
          <a:bodyPr wrap="square" rtlCol="0" anchor="ctr"/>
          <a:lstStyle/>
          <a:p>
            <a:pPr indent="0" marL="0">
              <a:buNone/>
            </a:pPr>
            <a:r>
              <a:rPr lang="en-US" sz="1200" dirty="0">
                <a:solidFill>
                  <a:srgbClr val="1A1A2E"/>
                </a:solidFill>
                <a:latin typeface="Calibri" pitchFamily="34" charset="0"/>
                <a:ea typeface="Calibri" pitchFamily="34" charset="-122"/>
                <a:cs typeface="Calibri" pitchFamily="34" charset="-120"/>
              </a:rPr>
              <a:t>Autonomous system perceiving environment</a:t>
            </a:r>
            <a:pPr indent="0" marL="0">
              <a:buNone/>
            </a:pPr>
            <a:r>
              <a:rPr lang="en-US" sz="1200" dirty="0">
                <a:solidFill>
                  <a:srgbClr val="1A1A2E"/>
                </a:solidFill>
                <a:latin typeface="Calibri" pitchFamily="34" charset="0"/>
                <a:ea typeface="Calibri" pitchFamily="34" charset="-122"/>
                <a:cs typeface="Calibri" pitchFamily="34" charset="-120"/>
              </a:rPr>
              <a:t>Makes decisions based on perceptions</a:t>
            </a:r>
            <a:pPr indent="0" marL="0">
              <a:buNone/>
            </a:pPr>
            <a:r>
              <a:rPr lang="en-US" sz="1200" dirty="0">
                <a:solidFill>
                  <a:srgbClr val="1A1A2E"/>
                </a:solidFill>
                <a:latin typeface="Calibri" pitchFamily="34" charset="0"/>
                <a:ea typeface="Calibri" pitchFamily="34" charset="-122"/>
                <a:cs typeface="Calibri" pitchFamily="34" charset="-120"/>
              </a:rPr>
              <a:t>Takes actions to achieve goals</a:t>
            </a:r>
            <a:endParaRPr lang="en-US" sz="1200" dirty="0"/>
          </a:p>
        </p:txBody>
      </p:sp>
      <p:sp>
        <p:nvSpPr>
          <p:cNvPr id="6" name="Shape 4"/>
          <p:cNvSpPr/>
          <p:nvPr/>
        </p:nvSpPr>
        <p:spPr>
          <a:xfrm>
            <a:off x="4754880" y="1188720"/>
            <a:ext cx="3931920" cy="3566160"/>
          </a:xfrm>
          <a:prstGeom prst="roundRect">
            <a:avLst/>
          </a:prstGeom>
          <a:solidFill>
            <a:srgbClr val="FFFFFF"/>
          </a:solidFill>
          <a:ln w="25400">
            <a:solidFill>
              <a:srgbClr val="00B4D8"/>
            </a:solidFill>
            <a:prstDash val="solid"/>
          </a:ln>
        </p:spPr>
      </p:sp>
      <p:sp>
        <p:nvSpPr>
          <p:cNvPr id="7" name="Text 5"/>
          <p:cNvSpPr/>
          <p:nvPr/>
        </p:nvSpPr>
        <p:spPr>
          <a:xfrm>
            <a:off x="4937760" y="1371600"/>
            <a:ext cx="3566160" cy="274320"/>
          </a:xfrm>
          <a:prstGeom prst="rect">
            <a:avLst/>
          </a:prstGeom>
          <a:noFill/>
          <a:ln/>
        </p:spPr>
        <p:txBody>
          <a:bodyPr wrap="square" rtlCol="0" anchor="ctr"/>
          <a:lstStyle/>
          <a:p>
            <a:pPr indent="0" marL="0">
              <a:buNone/>
            </a:pPr>
            <a:r>
              <a:rPr lang="en-US" sz="1400" b="1" dirty="0">
                <a:solidFill>
                  <a:srgbClr val="00B4D8"/>
                </a:solidFill>
                <a:latin typeface="Georgia" pitchFamily="34" charset="0"/>
                <a:ea typeface="Georgia" pitchFamily="34" charset="-122"/>
                <a:cs typeface="Georgia" pitchFamily="34" charset="-120"/>
              </a:rPr>
              <a:t>Agent Architecture</a:t>
            </a:r>
            <a:endParaRPr lang="en-US" sz="1400" dirty="0"/>
          </a:p>
        </p:txBody>
      </p:sp>
      <p:sp>
        <p:nvSpPr>
          <p:cNvPr id="8" name="Shape 6"/>
          <p:cNvSpPr/>
          <p:nvPr/>
        </p:nvSpPr>
        <p:spPr>
          <a:xfrm>
            <a:off x="5120640" y="1920240"/>
            <a:ext cx="3200400" cy="365760"/>
          </a:xfrm>
          <a:prstGeom prst="roundRect">
            <a:avLst/>
          </a:prstGeom>
          <a:solidFill>
            <a:srgbClr val="00B4D8"/>
          </a:solidFill>
          <a:ln/>
        </p:spPr>
      </p:sp>
      <p:sp>
        <p:nvSpPr>
          <p:cNvPr id="9" name="Text 7"/>
          <p:cNvSpPr/>
          <p:nvPr/>
        </p:nvSpPr>
        <p:spPr>
          <a:xfrm>
            <a:off x="5212080" y="1965960"/>
            <a:ext cx="3017520" cy="274320"/>
          </a:xfrm>
          <a:prstGeom prst="rect">
            <a:avLst/>
          </a:prstGeom>
          <a:noFill/>
          <a:ln/>
        </p:spPr>
        <p:txBody>
          <a:bodyPr wrap="square"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Perception</a:t>
            </a:r>
            <a:endParaRPr lang="en-US" sz="1200" dirty="0"/>
          </a:p>
        </p:txBody>
      </p:sp>
      <p:sp>
        <p:nvSpPr>
          <p:cNvPr id="10" name="Shape 8"/>
          <p:cNvSpPr/>
          <p:nvPr/>
        </p:nvSpPr>
        <p:spPr>
          <a:xfrm>
            <a:off x="6675120" y="2304288"/>
            <a:ext cx="91440" cy="164592"/>
          </a:xfrm>
          <a:prstGeom prst="rect">
            <a:avLst/>
          </a:prstGeom>
          <a:solidFill>
            <a:srgbClr val="1B3A5C"/>
          </a:solidFill>
          <a:ln/>
        </p:spPr>
      </p:sp>
      <p:sp>
        <p:nvSpPr>
          <p:cNvPr id="11" name="Shape 9"/>
          <p:cNvSpPr/>
          <p:nvPr/>
        </p:nvSpPr>
        <p:spPr>
          <a:xfrm>
            <a:off x="5120640" y="2423160"/>
            <a:ext cx="3200400" cy="365760"/>
          </a:xfrm>
          <a:prstGeom prst="roundRect">
            <a:avLst/>
          </a:prstGeom>
          <a:solidFill>
            <a:srgbClr val="00B4D8"/>
          </a:solidFill>
          <a:ln/>
        </p:spPr>
      </p:sp>
      <p:sp>
        <p:nvSpPr>
          <p:cNvPr id="12" name="Text 10"/>
          <p:cNvSpPr/>
          <p:nvPr/>
        </p:nvSpPr>
        <p:spPr>
          <a:xfrm>
            <a:off x="5212080" y="2468880"/>
            <a:ext cx="3017520" cy="274320"/>
          </a:xfrm>
          <a:prstGeom prst="rect">
            <a:avLst/>
          </a:prstGeom>
          <a:noFill/>
          <a:ln/>
        </p:spPr>
        <p:txBody>
          <a:bodyPr wrap="square"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Reasoning</a:t>
            </a:r>
            <a:endParaRPr lang="en-US" sz="1200" dirty="0"/>
          </a:p>
        </p:txBody>
      </p:sp>
      <p:sp>
        <p:nvSpPr>
          <p:cNvPr id="13" name="Shape 11"/>
          <p:cNvSpPr/>
          <p:nvPr/>
        </p:nvSpPr>
        <p:spPr>
          <a:xfrm>
            <a:off x="6675120" y="2807208"/>
            <a:ext cx="91440" cy="164592"/>
          </a:xfrm>
          <a:prstGeom prst="rect">
            <a:avLst/>
          </a:prstGeom>
          <a:solidFill>
            <a:srgbClr val="1B3A5C"/>
          </a:solidFill>
          <a:ln/>
        </p:spPr>
      </p:sp>
      <p:sp>
        <p:nvSpPr>
          <p:cNvPr id="14" name="Shape 12"/>
          <p:cNvSpPr/>
          <p:nvPr/>
        </p:nvSpPr>
        <p:spPr>
          <a:xfrm>
            <a:off x="5120640" y="2926080"/>
            <a:ext cx="3200400" cy="365760"/>
          </a:xfrm>
          <a:prstGeom prst="roundRect">
            <a:avLst/>
          </a:prstGeom>
          <a:solidFill>
            <a:srgbClr val="00B4D8"/>
          </a:solidFill>
          <a:ln/>
        </p:spPr>
      </p:sp>
      <p:sp>
        <p:nvSpPr>
          <p:cNvPr id="15" name="Text 13"/>
          <p:cNvSpPr/>
          <p:nvPr/>
        </p:nvSpPr>
        <p:spPr>
          <a:xfrm>
            <a:off x="5212080" y="2971800"/>
            <a:ext cx="3017520" cy="274320"/>
          </a:xfrm>
          <a:prstGeom prst="rect">
            <a:avLst/>
          </a:prstGeom>
          <a:noFill/>
          <a:ln/>
        </p:spPr>
        <p:txBody>
          <a:bodyPr wrap="square" rtlCol="0" anchor="ctr"/>
          <a:lstStyle/>
          <a:p>
            <a:pPr algn="ctr" indent="0" marL="0">
              <a:buNone/>
            </a:pPr>
            <a:r>
              <a:rPr lang="en-US" sz="1200" b="1" dirty="0">
                <a:solidFill>
                  <a:srgbClr val="FFFFFF"/>
                </a:solidFill>
                <a:latin typeface="Georgia" pitchFamily="34" charset="0"/>
                <a:ea typeface="Georgia" pitchFamily="34" charset="-122"/>
                <a:cs typeface="Georgia" pitchFamily="34" charset="-120"/>
              </a:rPr>
              <a:t>Action</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8F4F8"/>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4000" b="1" dirty="0">
                <a:solidFill>
                  <a:srgbClr val="0D1B2A"/>
                </a:solidFill>
                <a:latin typeface="Georgia" pitchFamily="34" charset="0"/>
                <a:ea typeface="Georgia" pitchFamily="34" charset="-122"/>
                <a:cs typeface="Georgia" pitchFamily="34" charset="-120"/>
              </a:rPr>
              <a:t>Types of Agents</a:t>
            </a:r>
            <a:endParaRPr lang="en-US" sz="4000" dirty="0"/>
          </a:p>
        </p:txBody>
      </p:sp>
      <p:sp>
        <p:nvSpPr>
          <p:cNvPr id="3" name="Shape 1"/>
          <p:cNvSpPr/>
          <p:nvPr/>
        </p:nvSpPr>
        <p:spPr>
          <a:xfrm>
            <a:off x="457200" y="1188720"/>
            <a:ext cx="2651760" cy="1554480"/>
          </a:xfrm>
          <a:prstGeom prst="roundRect">
            <a:avLst/>
          </a:prstGeom>
          <a:solidFill>
            <a:srgbClr val="FFFFFF"/>
          </a:solidFill>
          <a:ln w="12700">
            <a:solidFill>
              <a:srgbClr val="2E86AB"/>
            </a:solidFill>
            <a:prstDash val="solid"/>
          </a:ln>
        </p:spPr>
      </p:sp>
      <p:sp>
        <p:nvSpPr>
          <p:cNvPr id="4" name="Text 2"/>
          <p:cNvSpPr/>
          <p:nvPr/>
        </p:nvSpPr>
        <p:spPr>
          <a:xfrm>
            <a:off x="594360" y="1325880"/>
            <a:ext cx="2377440" cy="320040"/>
          </a:xfrm>
          <a:prstGeom prst="rect">
            <a:avLst/>
          </a:prstGeom>
          <a:noFill/>
          <a:ln/>
        </p:spPr>
        <p:txBody>
          <a:bodyPr wrap="square" rtlCol="0" anchor="ctr"/>
          <a:lstStyle/>
          <a:p>
            <a:pPr algn="ctr" indent="0" marL="0">
              <a:buNone/>
            </a:pPr>
            <a:r>
              <a:rPr lang="en-US" sz="1200" b="1" dirty="0">
                <a:solidFill>
                  <a:srgbClr val="2E86AB"/>
                </a:solidFill>
                <a:latin typeface="Georgia" pitchFamily="34" charset="0"/>
                <a:ea typeface="Georgia" pitchFamily="34" charset="-122"/>
                <a:cs typeface="Georgia" pitchFamily="34" charset="-120"/>
              </a:rPr>
              <a:t>Simple Reflex</a:t>
            </a:r>
            <a:endParaRPr lang="en-US" sz="1200" dirty="0"/>
          </a:p>
        </p:txBody>
      </p:sp>
      <p:sp>
        <p:nvSpPr>
          <p:cNvPr id="5" name="Text 3"/>
          <p:cNvSpPr/>
          <p:nvPr/>
        </p:nvSpPr>
        <p:spPr>
          <a:xfrm>
            <a:off x="594360" y="1737360"/>
            <a:ext cx="2377440" cy="822960"/>
          </a:xfrm>
          <a:prstGeom prst="rect">
            <a:avLst/>
          </a:prstGeom>
          <a:noFill/>
          <a:ln/>
        </p:spPr>
        <p:txBody>
          <a:bodyPr wrap="square" rtlCol="0" anchor="ctr"/>
          <a:lstStyle/>
          <a:p>
            <a:pPr algn="ctr" indent="0" marL="0">
              <a:buNone/>
            </a:pPr>
            <a:r>
              <a:rPr lang="en-US" sz="1100" dirty="0">
                <a:solidFill>
                  <a:srgbClr val="1A1A2E"/>
                </a:solidFill>
                <a:latin typeface="Calibri" pitchFamily="34" charset="0"/>
                <a:ea typeface="Calibri" pitchFamily="34" charset="-122"/>
                <a:cs typeface="Calibri" pitchFamily="34" charset="-120"/>
              </a:rPr>
              <a:t>Responds directly to stimuli</a:t>
            </a:r>
            <a:endParaRPr lang="en-US" sz="1100" dirty="0"/>
          </a:p>
        </p:txBody>
      </p:sp>
      <p:sp>
        <p:nvSpPr>
          <p:cNvPr id="6" name="Shape 4"/>
          <p:cNvSpPr/>
          <p:nvPr/>
        </p:nvSpPr>
        <p:spPr>
          <a:xfrm>
            <a:off x="3337560" y="1188720"/>
            <a:ext cx="2651760" cy="1554480"/>
          </a:xfrm>
          <a:prstGeom prst="roundRect">
            <a:avLst/>
          </a:prstGeom>
          <a:solidFill>
            <a:srgbClr val="FFFFFF"/>
          </a:solidFill>
          <a:ln w="12700">
            <a:solidFill>
              <a:srgbClr val="2E86AB"/>
            </a:solidFill>
            <a:prstDash val="solid"/>
          </a:ln>
        </p:spPr>
      </p:sp>
      <p:sp>
        <p:nvSpPr>
          <p:cNvPr id="7" name="Text 5"/>
          <p:cNvSpPr/>
          <p:nvPr/>
        </p:nvSpPr>
        <p:spPr>
          <a:xfrm>
            <a:off x="3474720" y="1325880"/>
            <a:ext cx="2377440" cy="320040"/>
          </a:xfrm>
          <a:prstGeom prst="rect">
            <a:avLst/>
          </a:prstGeom>
          <a:noFill/>
          <a:ln/>
        </p:spPr>
        <p:txBody>
          <a:bodyPr wrap="square" rtlCol="0" anchor="ctr"/>
          <a:lstStyle/>
          <a:p>
            <a:pPr algn="ctr" indent="0" marL="0">
              <a:buNone/>
            </a:pPr>
            <a:r>
              <a:rPr lang="en-US" sz="1200" b="1" dirty="0">
                <a:solidFill>
                  <a:srgbClr val="2E86AB"/>
                </a:solidFill>
                <a:latin typeface="Georgia" pitchFamily="34" charset="0"/>
                <a:ea typeface="Georgia" pitchFamily="34" charset="-122"/>
                <a:cs typeface="Georgia" pitchFamily="34" charset="-120"/>
              </a:rPr>
              <a:t>Model-Based</a:t>
            </a:r>
            <a:endParaRPr lang="en-US" sz="1200" dirty="0"/>
          </a:p>
        </p:txBody>
      </p:sp>
      <p:sp>
        <p:nvSpPr>
          <p:cNvPr id="8" name="Text 6"/>
          <p:cNvSpPr/>
          <p:nvPr/>
        </p:nvSpPr>
        <p:spPr>
          <a:xfrm>
            <a:off x="3474720" y="1737360"/>
            <a:ext cx="2377440" cy="822960"/>
          </a:xfrm>
          <a:prstGeom prst="rect">
            <a:avLst/>
          </a:prstGeom>
          <a:noFill/>
          <a:ln/>
        </p:spPr>
        <p:txBody>
          <a:bodyPr wrap="square" rtlCol="0" anchor="ctr"/>
          <a:lstStyle/>
          <a:p>
            <a:pPr algn="ctr" indent="0" marL="0">
              <a:buNone/>
            </a:pPr>
            <a:r>
              <a:rPr lang="en-US" sz="1100" dirty="0">
                <a:solidFill>
                  <a:srgbClr val="1A1A2E"/>
                </a:solidFill>
                <a:latin typeface="Calibri" pitchFamily="34" charset="0"/>
                <a:ea typeface="Calibri" pitchFamily="34" charset="-122"/>
                <a:cs typeface="Calibri" pitchFamily="34" charset="-120"/>
              </a:rPr>
              <a:t>Maintains internal world model</a:t>
            </a:r>
            <a:endParaRPr lang="en-US" sz="1100" dirty="0"/>
          </a:p>
        </p:txBody>
      </p:sp>
      <p:sp>
        <p:nvSpPr>
          <p:cNvPr id="9" name="Shape 7"/>
          <p:cNvSpPr/>
          <p:nvPr/>
        </p:nvSpPr>
        <p:spPr>
          <a:xfrm>
            <a:off x="6217920" y="1188720"/>
            <a:ext cx="2651760" cy="1554480"/>
          </a:xfrm>
          <a:prstGeom prst="roundRect">
            <a:avLst/>
          </a:prstGeom>
          <a:solidFill>
            <a:srgbClr val="FFFFFF"/>
          </a:solidFill>
          <a:ln w="12700">
            <a:solidFill>
              <a:srgbClr val="2E86AB"/>
            </a:solidFill>
            <a:prstDash val="solid"/>
          </a:ln>
        </p:spPr>
      </p:sp>
      <p:sp>
        <p:nvSpPr>
          <p:cNvPr id="10" name="Text 8"/>
          <p:cNvSpPr/>
          <p:nvPr/>
        </p:nvSpPr>
        <p:spPr>
          <a:xfrm>
            <a:off x="6355080" y="1325880"/>
            <a:ext cx="2377440" cy="320040"/>
          </a:xfrm>
          <a:prstGeom prst="rect">
            <a:avLst/>
          </a:prstGeom>
          <a:noFill/>
          <a:ln/>
        </p:spPr>
        <p:txBody>
          <a:bodyPr wrap="square" rtlCol="0" anchor="ctr"/>
          <a:lstStyle/>
          <a:p>
            <a:pPr algn="ctr" indent="0" marL="0">
              <a:buNone/>
            </a:pPr>
            <a:r>
              <a:rPr lang="en-US" sz="1200" b="1" dirty="0">
                <a:solidFill>
                  <a:srgbClr val="2E86AB"/>
                </a:solidFill>
                <a:latin typeface="Georgia" pitchFamily="34" charset="0"/>
                <a:ea typeface="Georgia" pitchFamily="34" charset="-122"/>
                <a:cs typeface="Georgia" pitchFamily="34" charset="-120"/>
              </a:rPr>
              <a:t>Goal-Based</a:t>
            </a:r>
            <a:endParaRPr lang="en-US" sz="1200" dirty="0"/>
          </a:p>
        </p:txBody>
      </p:sp>
      <p:sp>
        <p:nvSpPr>
          <p:cNvPr id="11" name="Text 9"/>
          <p:cNvSpPr/>
          <p:nvPr/>
        </p:nvSpPr>
        <p:spPr>
          <a:xfrm>
            <a:off x="6355080" y="1737360"/>
            <a:ext cx="2377440" cy="822960"/>
          </a:xfrm>
          <a:prstGeom prst="rect">
            <a:avLst/>
          </a:prstGeom>
          <a:noFill/>
          <a:ln/>
        </p:spPr>
        <p:txBody>
          <a:bodyPr wrap="square" rtlCol="0" anchor="ctr"/>
          <a:lstStyle/>
          <a:p>
            <a:pPr algn="ctr" indent="0" marL="0">
              <a:buNone/>
            </a:pPr>
            <a:r>
              <a:rPr lang="en-US" sz="1100" dirty="0">
                <a:solidFill>
                  <a:srgbClr val="1A1A2E"/>
                </a:solidFill>
                <a:latin typeface="Calibri" pitchFamily="34" charset="0"/>
                <a:ea typeface="Calibri" pitchFamily="34" charset="-122"/>
                <a:cs typeface="Calibri" pitchFamily="34" charset="-120"/>
              </a:rPr>
              <a:t>Acts to reach specific goals</a:t>
            </a:r>
            <a:endParaRPr lang="en-US" sz="1100" dirty="0"/>
          </a:p>
        </p:txBody>
      </p:sp>
      <p:sp>
        <p:nvSpPr>
          <p:cNvPr id="12" name="Shape 10"/>
          <p:cNvSpPr/>
          <p:nvPr/>
        </p:nvSpPr>
        <p:spPr>
          <a:xfrm>
            <a:off x="457200" y="2926080"/>
            <a:ext cx="2651760" cy="1554480"/>
          </a:xfrm>
          <a:prstGeom prst="roundRect">
            <a:avLst/>
          </a:prstGeom>
          <a:solidFill>
            <a:srgbClr val="FFFFFF"/>
          </a:solidFill>
          <a:ln w="12700">
            <a:solidFill>
              <a:srgbClr val="2E86AB"/>
            </a:solidFill>
            <a:prstDash val="solid"/>
          </a:ln>
        </p:spPr>
      </p:sp>
      <p:sp>
        <p:nvSpPr>
          <p:cNvPr id="13" name="Text 11"/>
          <p:cNvSpPr/>
          <p:nvPr/>
        </p:nvSpPr>
        <p:spPr>
          <a:xfrm>
            <a:off x="594360" y="3063240"/>
            <a:ext cx="2377440" cy="320040"/>
          </a:xfrm>
          <a:prstGeom prst="rect">
            <a:avLst/>
          </a:prstGeom>
          <a:noFill/>
          <a:ln/>
        </p:spPr>
        <p:txBody>
          <a:bodyPr wrap="square" rtlCol="0" anchor="ctr"/>
          <a:lstStyle/>
          <a:p>
            <a:pPr algn="ctr" indent="0" marL="0">
              <a:buNone/>
            </a:pPr>
            <a:r>
              <a:rPr lang="en-US" sz="1200" b="1" dirty="0">
                <a:solidFill>
                  <a:srgbClr val="2E86AB"/>
                </a:solidFill>
                <a:latin typeface="Georgia" pitchFamily="34" charset="0"/>
                <a:ea typeface="Georgia" pitchFamily="34" charset="-122"/>
                <a:cs typeface="Georgia" pitchFamily="34" charset="-120"/>
              </a:rPr>
              <a:t>Utility-Based</a:t>
            </a:r>
            <a:endParaRPr lang="en-US" sz="1200" dirty="0"/>
          </a:p>
        </p:txBody>
      </p:sp>
      <p:sp>
        <p:nvSpPr>
          <p:cNvPr id="14" name="Text 12"/>
          <p:cNvSpPr/>
          <p:nvPr/>
        </p:nvSpPr>
        <p:spPr>
          <a:xfrm>
            <a:off x="594360" y="3474720"/>
            <a:ext cx="2377440" cy="822960"/>
          </a:xfrm>
          <a:prstGeom prst="rect">
            <a:avLst/>
          </a:prstGeom>
          <a:noFill/>
          <a:ln/>
        </p:spPr>
        <p:txBody>
          <a:bodyPr wrap="square" rtlCol="0" anchor="ctr"/>
          <a:lstStyle/>
          <a:p>
            <a:pPr algn="ctr" indent="0" marL="0">
              <a:buNone/>
            </a:pPr>
            <a:r>
              <a:rPr lang="en-US" sz="1100" dirty="0">
                <a:solidFill>
                  <a:srgbClr val="1A1A2E"/>
                </a:solidFill>
                <a:latin typeface="Calibri" pitchFamily="34" charset="0"/>
                <a:ea typeface="Calibri" pitchFamily="34" charset="-122"/>
                <a:cs typeface="Calibri" pitchFamily="34" charset="-120"/>
              </a:rPr>
              <a:t>Maximizes satisfaction/utility</a:t>
            </a:r>
            <a:endParaRPr lang="en-US" sz="1100" dirty="0"/>
          </a:p>
        </p:txBody>
      </p:sp>
      <p:sp>
        <p:nvSpPr>
          <p:cNvPr id="15" name="Shape 13"/>
          <p:cNvSpPr/>
          <p:nvPr/>
        </p:nvSpPr>
        <p:spPr>
          <a:xfrm>
            <a:off x="3337560" y="2926080"/>
            <a:ext cx="2651760" cy="1554480"/>
          </a:xfrm>
          <a:prstGeom prst="roundRect">
            <a:avLst/>
          </a:prstGeom>
          <a:solidFill>
            <a:srgbClr val="FFFFFF"/>
          </a:solidFill>
          <a:ln w="12700">
            <a:solidFill>
              <a:srgbClr val="2E86AB"/>
            </a:solidFill>
            <a:prstDash val="solid"/>
          </a:ln>
        </p:spPr>
      </p:sp>
      <p:sp>
        <p:nvSpPr>
          <p:cNvPr id="16" name="Text 14"/>
          <p:cNvSpPr/>
          <p:nvPr/>
        </p:nvSpPr>
        <p:spPr>
          <a:xfrm>
            <a:off x="3474720" y="3063240"/>
            <a:ext cx="2377440" cy="320040"/>
          </a:xfrm>
          <a:prstGeom prst="rect">
            <a:avLst/>
          </a:prstGeom>
          <a:noFill/>
          <a:ln/>
        </p:spPr>
        <p:txBody>
          <a:bodyPr wrap="square" rtlCol="0" anchor="ctr"/>
          <a:lstStyle/>
          <a:p>
            <a:pPr algn="ctr" indent="0" marL="0">
              <a:buNone/>
            </a:pPr>
            <a:r>
              <a:rPr lang="en-US" sz="1200" b="1" dirty="0">
                <a:solidFill>
                  <a:srgbClr val="2E86AB"/>
                </a:solidFill>
                <a:latin typeface="Georgia" pitchFamily="34" charset="0"/>
                <a:ea typeface="Georgia" pitchFamily="34" charset="-122"/>
                <a:cs typeface="Georgia" pitchFamily="34" charset="-120"/>
              </a:rPr>
              <a:t>Learning</a:t>
            </a:r>
            <a:endParaRPr lang="en-US" sz="1200" dirty="0"/>
          </a:p>
        </p:txBody>
      </p:sp>
      <p:sp>
        <p:nvSpPr>
          <p:cNvPr id="17" name="Text 15"/>
          <p:cNvSpPr/>
          <p:nvPr/>
        </p:nvSpPr>
        <p:spPr>
          <a:xfrm>
            <a:off x="3474720" y="3474720"/>
            <a:ext cx="2377440" cy="822960"/>
          </a:xfrm>
          <a:prstGeom prst="rect">
            <a:avLst/>
          </a:prstGeom>
          <a:noFill/>
          <a:ln/>
        </p:spPr>
        <p:txBody>
          <a:bodyPr wrap="square" rtlCol="0" anchor="ctr"/>
          <a:lstStyle/>
          <a:p>
            <a:pPr algn="ctr" indent="0" marL="0">
              <a:buNone/>
            </a:pPr>
            <a:r>
              <a:rPr lang="en-US" sz="1100" dirty="0">
                <a:solidFill>
                  <a:srgbClr val="1A1A2E"/>
                </a:solidFill>
                <a:latin typeface="Calibri" pitchFamily="34" charset="0"/>
                <a:ea typeface="Calibri" pitchFamily="34" charset="-122"/>
                <a:cs typeface="Calibri" pitchFamily="34" charset="-120"/>
              </a:rPr>
              <a:t>Improves performance over time</a:t>
            </a:r>
            <a:endParaRPr lang="en-US" sz="1100" dirty="0"/>
          </a:p>
        </p:txBody>
      </p:sp>
      <p:sp>
        <p:nvSpPr>
          <p:cNvPr id="18" name="Shape 16"/>
          <p:cNvSpPr/>
          <p:nvPr/>
        </p:nvSpPr>
        <p:spPr>
          <a:xfrm>
            <a:off x="6217920" y="2926080"/>
            <a:ext cx="2651760" cy="1554480"/>
          </a:xfrm>
          <a:prstGeom prst="roundRect">
            <a:avLst/>
          </a:prstGeom>
          <a:solidFill>
            <a:srgbClr val="FFFFFF"/>
          </a:solidFill>
          <a:ln w="12700">
            <a:solidFill>
              <a:srgbClr val="2E86AB"/>
            </a:solidFill>
            <a:prstDash val="solid"/>
          </a:ln>
        </p:spPr>
      </p:sp>
      <p:sp>
        <p:nvSpPr>
          <p:cNvPr id="19" name="Text 17"/>
          <p:cNvSpPr/>
          <p:nvPr/>
        </p:nvSpPr>
        <p:spPr>
          <a:xfrm>
            <a:off x="6355080" y="3063240"/>
            <a:ext cx="2377440" cy="320040"/>
          </a:xfrm>
          <a:prstGeom prst="rect">
            <a:avLst/>
          </a:prstGeom>
          <a:noFill/>
          <a:ln/>
        </p:spPr>
        <p:txBody>
          <a:bodyPr wrap="square" rtlCol="0" anchor="ctr"/>
          <a:lstStyle/>
          <a:p>
            <a:pPr algn="ctr" indent="0" marL="0">
              <a:buNone/>
            </a:pPr>
            <a:r>
              <a:rPr lang="en-US" sz="1200" b="1" dirty="0">
                <a:solidFill>
                  <a:srgbClr val="2E86AB"/>
                </a:solidFill>
                <a:latin typeface="Georgia" pitchFamily="34" charset="0"/>
                <a:ea typeface="Georgia" pitchFamily="34" charset="-122"/>
                <a:cs typeface="Georgia" pitchFamily="34" charset="-120"/>
              </a:rPr>
              <a:t>Autonomous</a:t>
            </a:r>
            <a:endParaRPr lang="en-US" sz="1200" dirty="0"/>
          </a:p>
        </p:txBody>
      </p:sp>
      <p:sp>
        <p:nvSpPr>
          <p:cNvPr id="20" name="Text 18"/>
          <p:cNvSpPr/>
          <p:nvPr/>
        </p:nvSpPr>
        <p:spPr>
          <a:xfrm>
            <a:off x="6355080" y="3474720"/>
            <a:ext cx="2377440" cy="822960"/>
          </a:xfrm>
          <a:prstGeom prst="rect">
            <a:avLst/>
          </a:prstGeom>
          <a:noFill/>
          <a:ln/>
        </p:spPr>
        <p:txBody>
          <a:bodyPr wrap="square" rtlCol="0" anchor="ctr"/>
          <a:lstStyle/>
          <a:p>
            <a:pPr algn="ctr" indent="0" marL="0">
              <a:buNone/>
            </a:pPr>
            <a:r>
              <a:rPr lang="en-US" sz="1100" dirty="0">
                <a:solidFill>
                  <a:srgbClr val="1A1A2E"/>
                </a:solidFill>
                <a:latin typeface="Calibri" pitchFamily="34" charset="0"/>
                <a:ea typeface="Calibri" pitchFamily="34" charset="-122"/>
                <a:cs typeface="Calibri" pitchFamily="34" charset="-120"/>
              </a:rPr>
              <a:t>Acts independently with little control</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8F4F8"/>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4000" b="1" dirty="0">
                <a:solidFill>
                  <a:srgbClr val="0D1B2A"/>
                </a:solidFill>
                <a:latin typeface="Georgia" pitchFamily="34" charset="0"/>
                <a:ea typeface="Georgia" pitchFamily="34" charset="-122"/>
                <a:cs typeface="Georgia" pitchFamily="34" charset="-120"/>
              </a:rPr>
              <a:t>Agent Environments: Characteristics</a:t>
            </a:r>
            <a:endParaRPr lang="en-US" sz="4000" dirty="0"/>
          </a:p>
        </p:txBody>
      </p:sp>
      <p:sp>
        <p:nvSpPr>
          <p:cNvPr id="3" name="Shape 1"/>
          <p:cNvSpPr/>
          <p:nvPr/>
        </p:nvSpPr>
        <p:spPr>
          <a:xfrm>
            <a:off x="457200" y="1188720"/>
            <a:ext cx="2560320" cy="1600200"/>
          </a:xfrm>
          <a:prstGeom prst="roundRect">
            <a:avLst/>
          </a:prstGeom>
          <a:solidFill>
            <a:srgbClr val="FFFFFF"/>
          </a:solidFill>
          <a:ln w="25400">
            <a:solidFill>
              <a:srgbClr val="00B4D8"/>
            </a:solidFill>
            <a:prstDash val="solid"/>
          </a:ln>
        </p:spPr>
      </p:sp>
      <p:sp>
        <p:nvSpPr>
          <p:cNvPr id="4" name="Text 2"/>
          <p:cNvSpPr/>
          <p:nvPr/>
        </p:nvSpPr>
        <p:spPr>
          <a:xfrm>
            <a:off x="594360" y="1325880"/>
            <a:ext cx="2286000" cy="274320"/>
          </a:xfrm>
          <a:prstGeom prst="rect">
            <a:avLst/>
          </a:prstGeom>
          <a:noFill/>
          <a:ln/>
        </p:spPr>
        <p:txBody>
          <a:bodyPr wrap="square" rtlCol="0" anchor="ctr"/>
          <a:lstStyle/>
          <a:p>
            <a:pPr algn="ctr" indent="0" marL="0">
              <a:buNone/>
            </a:pPr>
            <a:r>
              <a:rPr lang="en-US" sz="1200" b="1" dirty="0">
                <a:solidFill>
                  <a:srgbClr val="00B4D8"/>
                </a:solidFill>
                <a:latin typeface="Georgia" pitchFamily="34" charset="0"/>
                <a:ea typeface="Georgia" pitchFamily="34" charset="-122"/>
                <a:cs typeface="Georgia" pitchFamily="34" charset="-120"/>
              </a:rPr>
              <a:t>Observable</a:t>
            </a:r>
            <a:endParaRPr lang="en-US" sz="1200" dirty="0"/>
          </a:p>
        </p:txBody>
      </p:sp>
      <p:sp>
        <p:nvSpPr>
          <p:cNvPr id="5" name="Text 3"/>
          <p:cNvSpPr/>
          <p:nvPr/>
        </p:nvSpPr>
        <p:spPr>
          <a:xfrm>
            <a:off x="594360" y="1664208"/>
            <a:ext cx="2286000" cy="914400"/>
          </a:xfrm>
          <a:prstGeom prst="rect">
            <a:avLst/>
          </a:prstGeom>
          <a:noFill/>
          <a:ln/>
        </p:spPr>
        <p:txBody>
          <a:bodyPr wrap="square" rtlCol="0" anchor="ctr"/>
          <a:lstStyle/>
          <a:p>
            <a:pPr algn="ctr" indent="0" marL="0">
              <a:buNone/>
            </a:pPr>
            <a:r>
              <a:rPr lang="en-US" sz="1000" dirty="0">
                <a:solidFill>
                  <a:srgbClr val="1A1A2E"/>
                </a:solidFill>
                <a:latin typeface="Calibri" pitchFamily="34" charset="0"/>
                <a:ea typeface="Calibri" pitchFamily="34" charset="-122"/>
                <a:cs typeface="Calibri" pitchFamily="34" charset="-120"/>
              </a:rPr>
              <a:t>Agent perceives full or partial environment state</a:t>
            </a:r>
            <a:endParaRPr lang="en-US" sz="1000" dirty="0"/>
          </a:p>
        </p:txBody>
      </p:sp>
      <p:sp>
        <p:nvSpPr>
          <p:cNvPr id="6" name="Shape 4"/>
          <p:cNvSpPr/>
          <p:nvPr/>
        </p:nvSpPr>
        <p:spPr>
          <a:xfrm>
            <a:off x="3063240" y="1188720"/>
            <a:ext cx="2560320" cy="1600200"/>
          </a:xfrm>
          <a:prstGeom prst="roundRect">
            <a:avLst/>
          </a:prstGeom>
          <a:solidFill>
            <a:srgbClr val="FFFFFF"/>
          </a:solidFill>
          <a:ln w="25400">
            <a:solidFill>
              <a:srgbClr val="00B4D8"/>
            </a:solidFill>
            <a:prstDash val="solid"/>
          </a:ln>
        </p:spPr>
      </p:sp>
      <p:sp>
        <p:nvSpPr>
          <p:cNvPr id="7" name="Text 5"/>
          <p:cNvSpPr/>
          <p:nvPr/>
        </p:nvSpPr>
        <p:spPr>
          <a:xfrm>
            <a:off x="3200400" y="1325880"/>
            <a:ext cx="2286000" cy="274320"/>
          </a:xfrm>
          <a:prstGeom prst="rect">
            <a:avLst/>
          </a:prstGeom>
          <a:noFill/>
          <a:ln/>
        </p:spPr>
        <p:txBody>
          <a:bodyPr wrap="square" rtlCol="0" anchor="ctr"/>
          <a:lstStyle/>
          <a:p>
            <a:pPr algn="ctr" indent="0" marL="0">
              <a:buNone/>
            </a:pPr>
            <a:r>
              <a:rPr lang="en-US" sz="1200" b="1" dirty="0">
                <a:solidFill>
                  <a:srgbClr val="00B4D8"/>
                </a:solidFill>
                <a:latin typeface="Georgia" pitchFamily="34" charset="0"/>
                <a:ea typeface="Georgia" pitchFamily="34" charset="-122"/>
                <a:cs typeface="Georgia" pitchFamily="34" charset="-120"/>
              </a:rPr>
              <a:t>Deterministic</a:t>
            </a:r>
            <a:endParaRPr lang="en-US" sz="1200" dirty="0"/>
          </a:p>
        </p:txBody>
      </p:sp>
      <p:sp>
        <p:nvSpPr>
          <p:cNvPr id="8" name="Text 6"/>
          <p:cNvSpPr/>
          <p:nvPr/>
        </p:nvSpPr>
        <p:spPr>
          <a:xfrm>
            <a:off x="3200400" y="1664208"/>
            <a:ext cx="2286000" cy="914400"/>
          </a:xfrm>
          <a:prstGeom prst="rect">
            <a:avLst/>
          </a:prstGeom>
          <a:noFill/>
          <a:ln/>
        </p:spPr>
        <p:txBody>
          <a:bodyPr wrap="square" rtlCol="0" anchor="ctr"/>
          <a:lstStyle/>
          <a:p>
            <a:pPr algn="ctr" indent="0" marL="0">
              <a:buNone/>
            </a:pPr>
            <a:r>
              <a:rPr lang="en-US" sz="1000" dirty="0">
                <a:solidFill>
                  <a:srgbClr val="1A1A2E"/>
                </a:solidFill>
                <a:latin typeface="Calibri" pitchFamily="34" charset="0"/>
                <a:ea typeface="Calibri" pitchFamily="34" charset="-122"/>
                <a:cs typeface="Calibri" pitchFamily="34" charset="-120"/>
              </a:rPr>
              <a:t>Same action always produces same result</a:t>
            </a:r>
            <a:endParaRPr lang="en-US" sz="1000" dirty="0"/>
          </a:p>
        </p:txBody>
      </p:sp>
      <p:sp>
        <p:nvSpPr>
          <p:cNvPr id="9" name="Shape 7"/>
          <p:cNvSpPr/>
          <p:nvPr/>
        </p:nvSpPr>
        <p:spPr>
          <a:xfrm>
            <a:off x="5669280" y="1188720"/>
            <a:ext cx="2560320" cy="1600200"/>
          </a:xfrm>
          <a:prstGeom prst="roundRect">
            <a:avLst/>
          </a:prstGeom>
          <a:solidFill>
            <a:srgbClr val="FFFFFF"/>
          </a:solidFill>
          <a:ln w="25400">
            <a:solidFill>
              <a:srgbClr val="00B4D8"/>
            </a:solidFill>
            <a:prstDash val="solid"/>
          </a:ln>
        </p:spPr>
      </p:sp>
      <p:sp>
        <p:nvSpPr>
          <p:cNvPr id="10" name="Text 8"/>
          <p:cNvSpPr/>
          <p:nvPr/>
        </p:nvSpPr>
        <p:spPr>
          <a:xfrm>
            <a:off x="5806440" y="1325880"/>
            <a:ext cx="2286000" cy="274320"/>
          </a:xfrm>
          <a:prstGeom prst="rect">
            <a:avLst/>
          </a:prstGeom>
          <a:noFill/>
          <a:ln/>
        </p:spPr>
        <p:txBody>
          <a:bodyPr wrap="square" rtlCol="0" anchor="ctr"/>
          <a:lstStyle/>
          <a:p>
            <a:pPr algn="ctr" indent="0" marL="0">
              <a:buNone/>
            </a:pPr>
            <a:r>
              <a:rPr lang="en-US" sz="1200" b="1" dirty="0">
                <a:solidFill>
                  <a:srgbClr val="00B4D8"/>
                </a:solidFill>
                <a:latin typeface="Georgia" pitchFamily="34" charset="0"/>
                <a:ea typeface="Georgia" pitchFamily="34" charset="-122"/>
                <a:cs typeface="Georgia" pitchFamily="34" charset="-120"/>
              </a:rPr>
              <a:t>Episodic</a:t>
            </a:r>
            <a:endParaRPr lang="en-US" sz="1200" dirty="0"/>
          </a:p>
        </p:txBody>
      </p:sp>
      <p:sp>
        <p:nvSpPr>
          <p:cNvPr id="11" name="Text 9"/>
          <p:cNvSpPr/>
          <p:nvPr/>
        </p:nvSpPr>
        <p:spPr>
          <a:xfrm>
            <a:off x="5806440" y="1664208"/>
            <a:ext cx="2286000" cy="914400"/>
          </a:xfrm>
          <a:prstGeom prst="rect">
            <a:avLst/>
          </a:prstGeom>
          <a:noFill/>
          <a:ln/>
        </p:spPr>
        <p:txBody>
          <a:bodyPr wrap="square" rtlCol="0" anchor="ctr"/>
          <a:lstStyle/>
          <a:p>
            <a:pPr algn="ctr" indent="0" marL="0">
              <a:buNone/>
            </a:pPr>
            <a:r>
              <a:rPr lang="en-US" sz="1000" dirty="0">
                <a:solidFill>
                  <a:srgbClr val="1A1A2E"/>
                </a:solidFill>
                <a:latin typeface="Calibri" pitchFamily="34" charset="0"/>
                <a:ea typeface="Calibri" pitchFamily="34" charset="-122"/>
                <a:cs typeface="Calibri" pitchFamily="34" charset="-120"/>
              </a:rPr>
              <a:t>Episodes are independent; past doesn't affect future</a:t>
            </a:r>
            <a:endParaRPr lang="en-US" sz="1000" dirty="0"/>
          </a:p>
        </p:txBody>
      </p:sp>
      <p:sp>
        <p:nvSpPr>
          <p:cNvPr id="12" name="Shape 10"/>
          <p:cNvSpPr/>
          <p:nvPr/>
        </p:nvSpPr>
        <p:spPr>
          <a:xfrm>
            <a:off x="457200" y="2971800"/>
            <a:ext cx="2560320" cy="1600200"/>
          </a:xfrm>
          <a:prstGeom prst="roundRect">
            <a:avLst/>
          </a:prstGeom>
          <a:solidFill>
            <a:srgbClr val="FFFFFF"/>
          </a:solidFill>
          <a:ln w="25400">
            <a:solidFill>
              <a:srgbClr val="00B4D8"/>
            </a:solidFill>
            <a:prstDash val="solid"/>
          </a:ln>
        </p:spPr>
      </p:sp>
      <p:sp>
        <p:nvSpPr>
          <p:cNvPr id="13" name="Text 11"/>
          <p:cNvSpPr/>
          <p:nvPr/>
        </p:nvSpPr>
        <p:spPr>
          <a:xfrm>
            <a:off x="594360" y="3108960"/>
            <a:ext cx="2286000" cy="274320"/>
          </a:xfrm>
          <a:prstGeom prst="rect">
            <a:avLst/>
          </a:prstGeom>
          <a:noFill/>
          <a:ln/>
        </p:spPr>
        <p:txBody>
          <a:bodyPr wrap="square" rtlCol="0" anchor="ctr"/>
          <a:lstStyle/>
          <a:p>
            <a:pPr algn="ctr" indent="0" marL="0">
              <a:buNone/>
            </a:pPr>
            <a:r>
              <a:rPr lang="en-US" sz="1200" b="1" dirty="0">
                <a:solidFill>
                  <a:srgbClr val="00B4D8"/>
                </a:solidFill>
                <a:latin typeface="Georgia" pitchFamily="34" charset="0"/>
                <a:ea typeface="Georgia" pitchFamily="34" charset="-122"/>
                <a:cs typeface="Georgia" pitchFamily="34" charset="-120"/>
              </a:rPr>
              <a:t>Static</a:t>
            </a:r>
            <a:endParaRPr lang="en-US" sz="1200" dirty="0"/>
          </a:p>
        </p:txBody>
      </p:sp>
      <p:sp>
        <p:nvSpPr>
          <p:cNvPr id="14" name="Text 12"/>
          <p:cNvSpPr/>
          <p:nvPr/>
        </p:nvSpPr>
        <p:spPr>
          <a:xfrm>
            <a:off x="594360" y="3447288"/>
            <a:ext cx="2286000" cy="914400"/>
          </a:xfrm>
          <a:prstGeom prst="rect">
            <a:avLst/>
          </a:prstGeom>
          <a:noFill/>
          <a:ln/>
        </p:spPr>
        <p:txBody>
          <a:bodyPr wrap="square" rtlCol="0" anchor="ctr"/>
          <a:lstStyle/>
          <a:p>
            <a:pPr algn="ctr" indent="0" marL="0">
              <a:buNone/>
            </a:pPr>
            <a:r>
              <a:rPr lang="en-US" sz="1000" dirty="0">
                <a:solidFill>
                  <a:srgbClr val="1A1A2E"/>
                </a:solidFill>
                <a:latin typeface="Calibri" pitchFamily="34" charset="0"/>
                <a:ea typeface="Calibri" pitchFamily="34" charset="-122"/>
                <a:cs typeface="Calibri" pitchFamily="34" charset="-120"/>
              </a:rPr>
              <a:t>Environment doesn't change while agent decides</a:t>
            </a:r>
            <a:endParaRPr lang="en-US" sz="1000" dirty="0"/>
          </a:p>
        </p:txBody>
      </p:sp>
      <p:sp>
        <p:nvSpPr>
          <p:cNvPr id="15" name="Shape 13"/>
          <p:cNvSpPr/>
          <p:nvPr/>
        </p:nvSpPr>
        <p:spPr>
          <a:xfrm>
            <a:off x="3063240" y="2971800"/>
            <a:ext cx="2560320" cy="1600200"/>
          </a:xfrm>
          <a:prstGeom prst="roundRect">
            <a:avLst/>
          </a:prstGeom>
          <a:solidFill>
            <a:srgbClr val="FFFFFF"/>
          </a:solidFill>
          <a:ln w="25400">
            <a:solidFill>
              <a:srgbClr val="00B4D8"/>
            </a:solidFill>
            <a:prstDash val="solid"/>
          </a:ln>
        </p:spPr>
      </p:sp>
      <p:sp>
        <p:nvSpPr>
          <p:cNvPr id="16" name="Text 14"/>
          <p:cNvSpPr/>
          <p:nvPr/>
        </p:nvSpPr>
        <p:spPr>
          <a:xfrm>
            <a:off x="3200400" y="3108960"/>
            <a:ext cx="2286000" cy="274320"/>
          </a:xfrm>
          <a:prstGeom prst="rect">
            <a:avLst/>
          </a:prstGeom>
          <a:noFill/>
          <a:ln/>
        </p:spPr>
        <p:txBody>
          <a:bodyPr wrap="square" rtlCol="0" anchor="ctr"/>
          <a:lstStyle/>
          <a:p>
            <a:pPr algn="ctr" indent="0" marL="0">
              <a:buNone/>
            </a:pPr>
            <a:r>
              <a:rPr lang="en-US" sz="1200" b="1" dirty="0">
                <a:solidFill>
                  <a:srgbClr val="00B4D8"/>
                </a:solidFill>
                <a:latin typeface="Georgia" pitchFamily="34" charset="0"/>
                <a:ea typeface="Georgia" pitchFamily="34" charset="-122"/>
                <a:cs typeface="Georgia" pitchFamily="34" charset="-120"/>
              </a:rPr>
              <a:t>Discrete</a:t>
            </a:r>
            <a:endParaRPr lang="en-US" sz="1200" dirty="0"/>
          </a:p>
        </p:txBody>
      </p:sp>
      <p:sp>
        <p:nvSpPr>
          <p:cNvPr id="17" name="Text 15"/>
          <p:cNvSpPr/>
          <p:nvPr/>
        </p:nvSpPr>
        <p:spPr>
          <a:xfrm>
            <a:off x="3200400" y="3447288"/>
            <a:ext cx="2286000" cy="914400"/>
          </a:xfrm>
          <a:prstGeom prst="rect">
            <a:avLst/>
          </a:prstGeom>
          <a:noFill/>
          <a:ln/>
        </p:spPr>
        <p:txBody>
          <a:bodyPr wrap="square" rtlCol="0" anchor="ctr"/>
          <a:lstStyle/>
          <a:p>
            <a:pPr algn="ctr" indent="0" marL="0">
              <a:buNone/>
            </a:pPr>
            <a:r>
              <a:rPr lang="en-US" sz="1000" dirty="0">
                <a:solidFill>
                  <a:srgbClr val="1A1A2E"/>
                </a:solidFill>
                <a:latin typeface="Calibri" pitchFamily="34" charset="0"/>
                <a:ea typeface="Calibri" pitchFamily="34" charset="-122"/>
                <a:cs typeface="Calibri" pitchFamily="34" charset="-120"/>
              </a:rPr>
              <a:t>Finite number of states, actions, and time steps</a:t>
            </a:r>
            <a:endParaRPr lang="en-US" sz="1000" dirty="0"/>
          </a:p>
        </p:txBody>
      </p:sp>
      <p:sp>
        <p:nvSpPr>
          <p:cNvPr id="18" name="Shape 16"/>
          <p:cNvSpPr/>
          <p:nvPr/>
        </p:nvSpPr>
        <p:spPr>
          <a:xfrm>
            <a:off x="5669280" y="2971800"/>
            <a:ext cx="2560320" cy="1600200"/>
          </a:xfrm>
          <a:prstGeom prst="roundRect">
            <a:avLst/>
          </a:prstGeom>
          <a:solidFill>
            <a:srgbClr val="FFFFFF"/>
          </a:solidFill>
          <a:ln w="25400">
            <a:solidFill>
              <a:srgbClr val="00B4D8"/>
            </a:solidFill>
            <a:prstDash val="solid"/>
          </a:ln>
        </p:spPr>
      </p:sp>
      <p:sp>
        <p:nvSpPr>
          <p:cNvPr id="19" name="Text 17"/>
          <p:cNvSpPr/>
          <p:nvPr/>
        </p:nvSpPr>
        <p:spPr>
          <a:xfrm>
            <a:off x="5806440" y="3108960"/>
            <a:ext cx="2286000" cy="274320"/>
          </a:xfrm>
          <a:prstGeom prst="rect">
            <a:avLst/>
          </a:prstGeom>
          <a:noFill/>
          <a:ln/>
        </p:spPr>
        <p:txBody>
          <a:bodyPr wrap="square" rtlCol="0" anchor="ctr"/>
          <a:lstStyle/>
          <a:p>
            <a:pPr algn="ctr" indent="0" marL="0">
              <a:buNone/>
            </a:pPr>
            <a:r>
              <a:rPr lang="en-US" sz="1200" b="1" dirty="0">
                <a:solidFill>
                  <a:srgbClr val="00B4D8"/>
                </a:solidFill>
                <a:latin typeface="Georgia" pitchFamily="34" charset="0"/>
                <a:ea typeface="Georgia" pitchFamily="34" charset="-122"/>
                <a:cs typeface="Georgia" pitchFamily="34" charset="-120"/>
              </a:rPr>
              <a:t>Multiagent</a:t>
            </a:r>
            <a:endParaRPr lang="en-US" sz="1200" dirty="0"/>
          </a:p>
        </p:txBody>
      </p:sp>
      <p:sp>
        <p:nvSpPr>
          <p:cNvPr id="20" name="Text 18"/>
          <p:cNvSpPr/>
          <p:nvPr/>
        </p:nvSpPr>
        <p:spPr>
          <a:xfrm>
            <a:off x="5806440" y="3447288"/>
            <a:ext cx="2286000" cy="914400"/>
          </a:xfrm>
          <a:prstGeom prst="rect">
            <a:avLst/>
          </a:prstGeom>
          <a:noFill/>
          <a:ln/>
        </p:spPr>
        <p:txBody>
          <a:bodyPr wrap="square" rtlCol="0" anchor="ctr"/>
          <a:lstStyle/>
          <a:p>
            <a:pPr algn="ctr" indent="0" marL="0">
              <a:buNone/>
            </a:pPr>
            <a:r>
              <a:rPr lang="en-US" sz="1000" dirty="0">
                <a:solidFill>
                  <a:srgbClr val="1A1A2E"/>
                </a:solidFill>
                <a:latin typeface="Calibri" pitchFamily="34" charset="0"/>
                <a:ea typeface="Calibri" pitchFamily="34" charset="-122"/>
                <a:cs typeface="Calibri" pitchFamily="34" charset="-120"/>
              </a:rPr>
              <a:t>Multiple agents interact in same environment</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8F4F8"/>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4000" b="1" dirty="0">
                <a:solidFill>
                  <a:srgbClr val="0D1B2A"/>
                </a:solidFill>
                <a:latin typeface="Georgia" pitchFamily="34" charset="0"/>
                <a:ea typeface="Georgia" pitchFamily="34" charset="-122"/>
                <a:cs typeface="Georgia" pitchFamily="34" charset="-120"/>
              </a:rPr>
              <a:t>Session 2 Summary: Paradigms &amp; Agents</a:t>
            </a:r>
            <a:endParaRPr lang="en-US" sz="4000" dirty="0"/>
          </a:p>
        </p:txBody>
      </p:sp>
      <p:sp>
        <p:nvSpPr>
          <p:cNvPr id="3" name="Shape 1"/>
          <p:cNvSpPr/>
          <p:nvPr/>
        </p:nvSpPr>
        <p:spPr>
          <a:xfrm>
            <a:off x="457200" y="1097280"/>
            <a:ext cx="8229600" cy="3566160"/>
          </a:xfrm>
          <a:prstGeom prst="rect">
            <a:avLst/>
          </a:prstGeom>
          <a:solidFill>
            <a:srgbClr val="FFFFFF"/>
          </a:solidFill>
          <a:ln w="25400">
            <a:solidFill>
              <a:srgbClr val="1B3A5C"/>
            </a:solidFill>
            <a:prstDash val="solid"/>
          </a:ln>
        </p:spPr>
      </p:sp>
      <p:sp>
        <p:nvSpPr>
          <p:cNvPr id="4" name="Text 2"/>
          <p:cNvSpPr/>
          <p:nvPr/>
        </p:nvSpPr>
        <p:spPr>
          <a:xfrm>
            <a:off x="731520" y="1371600"/>
            <a:ext cx="7680960" cy="3108960"/>
          </a:xfrm>
          <a:prstGeom prst="rect">
            <a:avLst/>
          </a:prstGeom>
          <a:noFill/>
          <a:ln/>
        </p:spPr>
        <p:txBody>
          <a:bodyPr wrap="square" rtlCol="0" anchor="ctr"/>
          <a:lstStyle/>
          <a:p>
            <a:pPr indent="0" marL="0">
              <a:buNone/>
            </a:pPr>
            <a:r>
              <a:rPr lang="en-US" sz="1300" dirty="0">
                <a:solidFill>
                  <a:srgbClr val="1A1A2E"/>
                </a:solidFill>
                <a:latin typeface="Calibri" pitchFamily="34" charset="0"/>
                <a:ea typeface="Calibri" pitchFamily="34" charset="-122"/>
                <a:cs typeface="Calibri" pitchFamily="34" charset="-120"/>
              </a:rPr>
              <a:t>AI encompasses ML, DL, and data science</a:t>
            </a:r>
            <a:pPr indent="0" marL="0">
              <a:buNone/>
            </a:pPr>
            <a:r>
              <a:rPr lang="en-US" sz="1300" dirty="0">
                <a:solidFill>
                  <a:srgbClr val="1A1A2E"/>
                </a:solidFill>
                <a:latin typeface="Calibri" pitchFamily="34" charset="0"/>
                <a:ea typeface="Calibri" pitchFamily="34" charset="-122"/>
                <a:cs typeface="Calibri" pitchFamily="34" charset="-120"/>
              </a:rPr>
              <a:t>Intelligent agents perceive, reason, and act</a:t>
            </a:r>
            <a:pPr indent="0" marL="0">
              <a:buNone/>
            </a:pPr>
            <a:r>
              <a:rPr lang="en-US" sz="1300" dirty="0">
                <a:solidFill>
                  <a:srgbClr val="1A1A2E"/>
                </a:solidFill>
                <a:latin typeface="Calibri" pitchFamily="34" charset="0"/>
                <a:ea typeface="Calibri" pitchFamily="34" charset="-122"/>
                <a:cs typeface="Calibri" pitchFamily="34" charset="-120"/>
              </a:rPr>
              <a:t>Agent types range from simple to complex</a:t>
            </a:r>
            <a:pPr indent="0" marL="0">
              <a:buNone/>
            </a:pPr>
            <a:r>
              <a:rPr lang="en-US" sz="1300" dirty="0">
                <a:solidFill>
                  <a:srgbClr val="1A1A2E"/>
                </a:solidFill>
                <a:latin typeface="Calibri" pitchFamily="34" charset="0"/>
                <a:ea typeface="Calibri" pitchFamily="34" charset="-122"/>
                <a:cs typeface="Calibri" pitchFamily="34" charset="-120"/>
              </a:rPr>
              <a:t>Environment characteristics determine complexity</a:t>
            </a:r>
            <a:pPr indent="0" marL="0">
              <a:buNone/>
            </a:pPr>
            <a:r>
              <a:rPr lang="en-US" sz="1300" dirty="0">
                <a:solidFill>
                  <a:srgbClr val="1A1A2E"/>
                </a:solidFill>
                <a:latin typeface="Calibri" pitchFamily="34" charset="0"/>
                <a:ea typeface="Calibri" pitchFamily="34" charset="-122"/>
                <a:cs typeface="Calibri" pitchFamily="34" charset="-120"/>
              </a:rPr>
              <a:t>Agents solve problems through actions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B3A5C"/>
        </a:solidFill>
      </p:bgPr>
    </p:bg>
    <p:spTree>
      <p:nvGrpSpPr>
        <p:cNvPr id="1" name=""/>
        <p:cNvGrpSpPr/>
        <p:nvPr/>
      </p:nvGrpSpPr>
      <p:grpSpPr>
        <a:xfrm>
          <a:off x="0" y="0"/>
          <a:ext cx="0" cy="0"/>
          <a:chOff x="0" y="0"/>
          <a:chExt cx="0" cy="0"/>
        </a:xfrm>
      </p:grpSpPr>
      <p:sp>
        <p:nvSpPr>
          <p:cNvPr id="2" name="Text 0"/>
          <p:cNvSpPr/>
          <p:nvPr/>
        </p:nvSpPr>
        <p:spPr>
          <a:xfrm>
            <a:off x="457200" y="1371600"/>
            <a:ext cx="8229600" cy="914400"/>
          </a:xfrm>
          <a:prstGeom prst="rect">
            <a:avLst/>
          </a:prstGeom>
          <a:noFill/>
          <a:ln/>
        </p:spPr>
        <p:txBody>
          <a:bodyPr wrap="square" rtlCol="0" anchor="ctr"/>
          <a:lstStyle/>
          <a:p>
            <a:pPr algn="ctr" indent="0" marL="0">
              <a:buNone/>
            </a:pPr>
            <a:r>
              <a:rPr lang="en-US" sz="7200" b="1" dirty="0">
                <a:solidFill>
                  <a:srgbClr val="00B4D8"/>
                </a:solidFill>
                <a:latin typeface="Georgia" pitchFamily="34" charset="0"/>
                <a:ea typeface="Georgia" pitchFamily="34" charset="-122"/>
                <a:cs typeface="Georgia" pitchFamily="34" charset="-120"/>
              </a:rPr>
              <a:t>SESSION 3</a:t>
            </a:r>
            <a:endParaRPr lang="en-US" sz="7200" dirty="0"/>
          </a:p>
        </p:txBody>
      </p:sp>
      <p:sp>
        <p:nvSpPr>
          <p:cNvPr id="3" name="Text 1"/>
          <p:cNvSpPr/>
          <p:nvPr/>
        </p:nvSpPr>
        <p:spPr>
          <a:xfrm>
            <a:off x="457200" y="2468880"/>
            <a:ext cx="8229600" cy="548640"/>
          </a:xfrm>
          <a:prstGeom prst="rect">
            <a:avLst/>
          </a:prstGeom>
          <a:noFill/>
          <a:ln/>
        </p:spPr>
        <p:txBody>
          <a:bodyPr wrap="square" rtlCol="0" anchor="ctr"/>
          <a:lstStyle/>
          <a:p>
            <a:pPr algn="ctr" indent="0" marL="0">
              <a:buNone/>
            </a:pPr>
            <a:r>
              <a:rPr lang="en-US" sz="4400" dirty="0">
                <a:solidFill>
                  <a:srgbClr val="FFFFFF"/>
                </a:solidFill>
                <a:latin typeface="Georgia" pitchFamily="34" charset="0"/>
                <a:ea typeface="Georgia" pitchFamily="34" charset="-122"/>
                <a:cs typeface="Georgia" pitchFamily="34" charset="-120"/>
              </a:rPr>
              <a:t>Search &amp; Knowledge Representation</a:t>
            </a:r>
            <a:endParaRPr lang="en-US" sz="4400" dirty="0"/>
          </a:p>
        </p:txBody>
      </p:sp>
      <p:sp>
        <p:nvSpPr>
          <p:cNvPr id="4" name="Shape 2"/>
          <p:cNvSpPr/>
          <p:nvPr/>
        </p:nvSpPr>
        <p:spPr>
          <a:xfrm>
            <a:off x="1371600" y="3200400"/>
            <a:ext cx="6400800" cy="54864"/>
          </a:xfrm>
          <a:prstGeom prst="rect">
            <a:avLst/>
          </a:prstGeom>
          <a:solidFill>
            <a:srgbClr val="2E86AB"/>
          </a:solidFill>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8F4F8"/>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4000" b="1" dirty="0">
                <a:solidFill>
                  <a:srgbClr val="0D1B2A"/>
                </a:solidFill>
                <a:latin typeface="Georgia" pitchFamily="34" charset="0"/>
                <a:ea typeface="Georgia" pitchFamily="34" charset="-122"/>
                <a:cs typeface="Georgia" pitchFamily="34" charset="-120"/>
              </a:rPr>
              <a:t>Uninformed Search Strategies Overview</a:t>
            </a:r>
            <a:endParaRPr lang="en-US" sz="4000" dirty="0"/>
          </a:p>
        </p:txBody>
      </p:sp>
      <p:sp>
        <p:nvSpPr>
          <p:cNvPr id="3" name="Shape 1"/>
          <p:cNvSpPr/>
          <p:nvPr/>
        </p:nvSpPr>
        <p:spPr>
          <a:xfrm>
            <a:off x="457200" y="1188720"/>
            <a:ext cx="4114800" cy="3566160"/>
          </a:xfrm>
          <a:prstGeom prst="rect">
            <a:avLst/>
          </a:prstGeom>
          <a:solidFill>
            <a:srgbClr val="FFFFFF"/>
          </a:solidFill>
          <a:ln w="25400">
            <a:solidFill>
              <a:srgbClr val="2E86AB"/>
            </a:solidFill>
            <a:prstDash val="solid"/>
          </a:ln>
        </p:spPr>
      </p:sp>
      <p:sp>
        <p:nvSpPr>
          <p:cNvPr id="4" name="Text 2"/>
          <p:cNvSpPr/>
          <p:nvPr/>
        </p:nvSpPr>
        <p:spPr>
          <a:xfrm>
            <a:off x="640080" y="1371600"/>
            <a:ext cx="3749040" cy="274320"/>
          </a:xfrm>
          <a:prstGeom prst="rect">
            <a:avLst/>
          </a:prstGeom>
          <a:noFill/>
          <a:ln/>
        </p:spPr>
        <p:txBody>
          <a:bodyPr wrap="square" rtlCol="0" anchor="ctr"/>
          <a:lstStyle/>
          <a:p>
            <a:pPr indent="0" marL="0">
              <a:buNone/>
            </a:pPr>
            <a:r>
              <a:rPr lang="en-US" sz="1400" b="1" dirty="0">
                <a:solidFill>
                  <a:srgbClr val="2E86AB"/>
                </a:solidFill>
                <a:latin typeface="Georgia" pitchFamily="34" charset="0"/>
                <a:ea typeface="Georgia" pitchFamily="34" charset="-122"/>
                <a:cs typeface="Georgia" pitchFamily="34" charset="-120"/>
              </a:rPr>
              <a:t>Definition</a:t>
            </a:r>
            <a:endParaRPr lang="en-US" sz="1400" dirty="0"/>
          </a:p>
        </p:txBody>
      </p:sp>
      <p:sp>
        <p:nvSpPr>
          <p:cNvPr id="5" name="Text 3"/>
          <p:cNvSpPr/>
          <p:nvPr/>
        </p:nvSpPr>
        <p:spPr>
          <a:xfrm>
            <a:off x="731520" y="1828800"/>
            <a:ext cx="3566160" cy="1371600"/>
          </a:xfrm>
          <a:prstGeom prst="rect">
            <a:avLst/>
          </a:prstGeom>
          <a:noFill/>
          <a:ln/>
        </p:spPr>
        <p:txBody>
          <a:bodyPr wrap="square" rtlCol="0" anchor="ctr"/>
          <a:lstStyle/>
          <a:p>
            <a:pPr indent="0" marL="0">
              <a:buNone/>
            </a:pPr>
            <a:r>
              <a:rPr lang="en-US" sz="1200" dirty="0">
                <a:solidFill>
                  <a:srgbClr val="1A1A2E"/>
                </a:solidFill>
                <a:latin typeface="Calibri" pitchFamily="34" charset="0"/>
                <a:ea typeface="Calibri" pitchFamily="34" charset="-122"/>
                <a:cs typeface="Calibri" pitchFamily="34" charset="-120"/>
              </a:rPr>
              <a:t>Search algorithms with no problem-specific knowledge. Also called blind search.</a:t>
            </a:r>
            <a:endParaRPr lang="en-US" sz="1200" dirty="0"/>
          </a:p>
        </p:txBody>
      </p:sp>
      <p:sp>
        <p:nvSpPr>
          <p:cNvPr id="6" name="Text 4"/>
          <p:cNvSpPr/>
          <p:nvPr/>
        </p:nvSpPr>
        <p:spPr>
          <a:xfrm>
            <a:off x="731520" y="3291840"/>
            <a:ext cx="3566160" cy="228600"/>
          </a:xfrm>
          <a:prstGeom prst="rect">
            <a:avLst/>
          </a:prstGeom>
          <a:noFill/>
          <a:ln/>
        </p:spPr>
        <p:txBody>
          <a:bodyPr wrap="square" rtlCol="0" anchor="ctr"/>
          <a:lstStyle/>
          <a:p>
            <a:pPr indent="0" marL="0">
              <a:buNone/>
            </a:pPr>
            <a:r>
              <a:rPr lang="en-US" sz="1200" b="1" dirty="0">
                <a:solidFill>
                  <a:srgbClr val="1A1A2E"/>
                </a:solidFill>
                <a:latin typeface="Georgia" pitchFamily="34" charset="0"/>
                <a:ea typeface="Georgia" pitchFamily="34" charset="-122"/>
                <a:cs typeface="Georgia" pitchFamily="34" charset="-120"/>
              </a:rPr>
              <a:t>Strategies:</a:t>
            </a:r>
            <a:endParaRPr lang="en-US" sz="1200" dirty="0"/>
          </a:p>
        </p:txBody>
      </p:sp>
      <p:sp>
        <p:nvSpPr>
          <p:cNvPr id="7" name="Text 5"/>
          <p:cNvSpPr/>
          <p:nvPr/>
        </p:nvSpPr>
        <p:spPr>
          <a:xfrm>
            <a:off x="868680" y="3611880"/>
            <a:ext cx="3337560" cy="1051560"/>
          </a:xfrm>
          <a:prstGeom prst="rect">
            <a:avLst/>
          </a:prstGeom>
          <a:noFill/>
          <a:ln/>
        </p:spPr>
        <p:txBody>
          <a:bodyPr wrap="square" rtlCol="0" anchor="ctr"/>
          <a:lstStyle/>
          <a:p>
            <a:pPr indent="0" marL="0">
              <a:buNone/>
            </a:pPr>
            <a:r>
              <a:rPr lang="en-US" sz="1200" dirty="0">
                <a:solidFill>
                  <a:srgbClr val="1A1A2E"/>
                </a:solidFill>
                <a:latin typeface="Calibri" pitchFamily="34" charset="0"/>
                <a:ea typeface="Calibri" pitchFamily="34" charset="-122"/>
                <a:cs typeface="Calibri" pitchFamily="34" charset="-120"/>
              </a:rPr>
              <a:t>Breadth-First Search (BFS)</a:t>
            </a:r>
            <a:pPr indent="0" marL="0">
              <a:buNone/>
            </a:pPr>
            <a:r>
              <a:rPr lang="en-US" sz="1200" dirty="0">
                <a:solidFill>
                  <a:srgbClr val="1A1A2E"/>
                </a:solidFill>
                <a:latin typeface="Calibri" pitchFamily="34" charset="0"/>
                <a:ea typeface="Calibri" pitchFamily="34" charset="-122"/>
                <a:cs typeface="Calibri" pitchFamily="34" charset="-120"/>
              </a:rPr>
              <a:t>Depth-First Search (DFS)</a:t>
            </a:r>
            <a:pPr indent="0" marL="0">
              <a:buNone/>
            </a:pPr>
            <a:r>
              <a:rPr lang="en-US" sz="1200" dirty="0">
                <a:solidFill>
                  <a:srgbClr val="1A1A2E"/>
                </a:solidFill>
                <a:latin typeface="Calibri" pitchFamily="34" charset="0"/>
                <a:ea typeface="Calibri" pitchFamily="34" charset="-122"/>
                <a:cs typeface="Calibri" pitchFamily="34" charset="-120"/>
              </a:rPr>
              <a:t>Uniform Cost Search (UCS)</a:t>
            </a:r>
            <a:endParaRPr lang="en-US" sz="1200" dirty="0"/>
          </a:p>
        </p:txBody>
      </p:sp>
      <p:sp>
        <p:nvSpPr>
          <p:cNvPr id="8" name="Shape 6"/>
          <p:cNvSpPr/>
          <p:nvPr/>
        </p:nvSpPr>
        <p:spPr>
          <a:xfrm>
            <a:off x="4846320" y="1188720"/>
            <a:ext cx="3840480" cy="3566160"/>
          </a:xfrm>
          <a:prstGeom prst="rect">
            <a:avLst/>
          </a:prstGeom>
          <a:solidFill>
            <a:srgbClr val="FFFFFF"/>
          </a:solidFill>
          <a:ln w="25400">
            <a:solidFill>
              <a:srgbClr val="00B4D8"/>
            </a:solidFill>
            <a:prstDash val="solid"/>
          </a:ln>
        </p:spPr>
      </p:sp>
      <p:sp>
        <p:nvSpPr>
          <p:cNvPr id="9" name="Text 7"/>
          <p:cNvSpPr/>
          <p:nvPr/>
        </p:nvSpPr>
        <p:spPr>
          <a:xfrm>
            <a:off x="5029200" y="1371600"/>
            <a:ext cx="3474720" cy="274320"/>
          </a:xfrm>
          <a:prstGeom prst="rect">
            <a:avLst/>
          </a:prstGeom>
          <a:noFill/>
          <a:ln/>
        </p:spPr>
        <p:txBody>
          <a:bodyPr wrap="square" rtlCol="0" anchor="ctr"/>
          <a:lstStyle/>
          <a:p>
            <a:pPr indent="0" marL="0">
              <a:buNone/>
            </a:pPr>
            <a:r>
              <a:rPr lang="en-US" sz="1400" b="1" dirty="0">
                <a:solidFill>
                  <a:srgbClr val="00B4D8"/>
                </a:solidFill>
                <a:latin typeface="Georgia" pitchFamily="34" charset="0"/>
                <a:ea typeface="Georgia" pitchFamily="34" charset="-122"/>
                <a:cs typeface="Georgia" pitchFamily="34" charset="-120"/>
              </a:rPr>
              <a:t>Characteristics</a:t>
            </a:r>
            <a:endParaRPr lang="en-US" sz="1400" dirty="0"/>
          </a:p>
        </p:txBody>
      </p:sp>
      <p:sp>
        <p:nvSpPr>
          <p:cNvPr id="10" name="Text 8"/>
          <p:cNvSpPr/>
          <p:nvPr/>
        </p:nvSpPr>
        <p:spPr>
          <a:xfrm>
            <a:off x="5120640" y="1828800"/>
            <a:ext cx="3566160" cy="2651760"/>
          </a:xfrm>
          <a:prstGeom prst="rect">
            <a:avLst/>
          </a:prstGeom>
          <a:noFill/>
          <a:ln/>
        </p:spPr>
        <p:txBody>
          <a:bodyPr wrap="square" rtlCol="0" anchor="ctr"/>
          <a:lstStyle/>
          <a:p>
            <a:pPr indent="0" marL="0">
              <a:buNone/>
            </a:pPr>
            <a:r>
              <a:rPr lang="en-US" sz="1200" dirty="0">
                <a:solidFill>
                  <a:srgbClr val="1A1A2E"/>
                </a:solidFill>
                <a:latin typeface="Calibri" pitchFamily="34" charset="0"/>
                <a:ea typeface="Calibri" pitchFamily="34" charset="-122"/>
                <a:cs typeface="Calibri" pitchFamily="34" charset="-120"/>
              </a:rPr>
              <a:t>No heuristics or domain knowledge</a:t>
            </a:r>
            <a:pPr indent="0" marL="0">
              <a:buNone/>
            </a:pPr>
            <a:r>
              <a:rPr lang="en-US" sz="1200" dirty="0">
                <a:solidFill>
                  <a:srgbClr val="1A1A2E"/>
                </a:solidFill>
                <a:latin typeface="Calibri" pitchFamily="34" charset="0"/>
                <a:ea typeface="Calibri" pitchFamily="34" charset="-122"/>
                <a:cs typeface="Calibri" pitchFamily="34" charset="-120"/>
              </a:rPr>
              <a:t>Guarantee optimality/completeness</a:t>
            </a:r>
            <a:pPr indent="0" marL="0">
              <a:buNone/>
            </a:pPr>
            <a:r>
              <a:rPr lang="en-US" sz="1200" dirty="0">
                <a:solidFill>
                  <a:srgbClr val="1A1A2E"/>
                </a:solidFill>
                <a:latin typeface="Calibri" pitchFamily="34" charset="0"/>
                <a:ea typeface="Calibri" pitchFamily="34" charset="-122"/>
                <a:cs typeface="Calibri" pitchFamily="34" charset="-120"/>
              </a:rPr>
              <a:t>Often less efficient than informed search</a:t>
            </a:r>
            <a:pPr indent="0" marL="0">
              <a:buNone/>
            </a:pPr>
            <a:r>
              <a:rPr lang="en-US" sz="1200" dirty="0">
                <a:solidFill>
                  <a:srgbClr val="1A1A2E"/>
                </a:solidFill>
                <a:latin typeface="Calibri" pitchFamily="34" charset="0"/>
                <a:ea typeface="Calibri" pitchFamily="34" charset="-122"/>
                <a:cs typeface="Calibri" pitchFamily="34" charset="-120"/>
              </a:rPr>
              <a:t>Useful for comparison benchmarks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8F4F8"/>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4000" b="1" dirty="0">
                <a:solidFill>
                  <a:srgbClr val="0D1B2A"/>
                </a:solidFill>
                <a:latin typeface="Georgia" pitchFamily="34" charset="0"/>
                <a:ea typeface="Georgia" pitchFamily="34" charset="-122"/>
                <a:cs typeface="Georgia" pitchFamily="34" charset="-120"/>
              </a:rPr>
              <a:t>Breadth-First Search (BFS)</a:t>
            </a:r>
            <a:endParaRPr lang="en-US" sz="4000" dirty="0"/>
          </a:p>
        </p:txBody>
      </p:sp>
      <p:sp>
        <p:nvSpPr>
          <p:cNvPr id="3" name="Shape 1"/>
          <p:cNvSpPr/>
          <p:nvPr/>
        </p:nvSpPr>
        <p:spPr>
          <a:xfrm>
            <a:off x="457200" y="1188720"/>
            <a:ext cx="4114800" cy="3566160"/>
          </a:xfrm>
          <a:prstGeom prst="rect">
            <a:avLst/>
          </a:prstGeom>
          <a:solidFill>
            <a:srgbClr val="FFFFFF"/>
          </a:solidFill>
          <a:ln w="25400">
            <a:solidFill>
              <a:srgbClr val="2E86AB"/>
            </a:solidFill>
            <a:prstDash val="solid"/>
          </a:ln>
        </p:spPr>
      </p:sp>
      <p:sp>
        <p:nvSpPr>
          <p:cNvPr id="4" name="Text 2"/>
          <p:cNvSpPr/>
          <p:nvPr/>
        </p:nvSpPr>
        <p:spPr>
          <a:xfrm>
            <a:off x="640080" y="1371600"/>
            <a:ext cx="3749040" cy="274320"/>
          </a:xfrm>
          <a:prstGeom prst="rect">
            <a:avLst/>
          </a:prstGeom>
          <a:noFill/>
          <a:ln/>
        </p:spPr>
        <p:txBody>
          <a:bodyPr wrap="square" rtlCol="0" anchor="ctr"/>
          <a:lstStyle/>
          <a:p>
            <a:pPr indent="0" marL="0">
              <a:buNone/>
            </a:pPr>
            <a:r>
              <a:rPr lang="en-US" sz="1400" b="1" dirty="0">
                <a:solidFill>
                  <a:srgbClr val="2E86AB"/>
                </a:solidFill>
                <a:latin typeface="Georgia" pitchFamily="34" charset="0"/>
                <a:ea typeface="Georgia" pitchFamily="34" charset="-122"/>
                <a:cs typeface="Georgia" pitchFamily="34" charset="-120"/>
              </a:rPr>
              <a:t>Algorithm</a:t>
            </a:r>
            <a:endParaRPr lang="en-US" sz="1400" dirty="0"/>
          </a:p>
        </p:txBody>
      </p:sp>
      <p:sp>
        <p:nvSpPr>
          <p:cNvPr id="5" name="Text 3"/>
          <p:cNvSpPr/>
          <p:nvPr/>
        </p:nvSpPr>
        <p:spPr>
          <a:xfrm>
            <a:off x="731520" y="1828800"/>
            <a:ext cx="3566160" cy="1371600"/>
          </a:xfrm>
          <a:prstGeom prst="rect">
            <a:avLst/>
          </a:prstGeom>
          <a:noFill/>
          <a:ln/>
        </p:spPr>
        <p:txBody>
          <a:bodyPr wrap="square" rtlCol="0" anchor="ctr"/>
          <a:lstStyle/>
          <a:p>
            <a:pPr indent="0" marL="0">
              <a:buNone/>
            </a:pPr>
            <a:r>
              <a:rPr lang="en-US" sz="1200" dirty="0">
                <a:solidFill>
                  <a:srgbClr val="1A1A2E"/>
                </a:solidFill>
                <a:latin typeface="Calibri" pitchFamily="34" charset="0"/>
                <a:ea typeface="Calibri" pitchFamily="34" charset="-122"/>
                <a:cs typeface="Calibri" pitchFamily="34" charset="-120"/>
              </a:rPr>
              <a:t>Expand shallowest node first</a:t>
            </a:r>
            <a:pPr indent="0" marL="0">
              <a:buNone/>
            </a:pPr>
            <a:r>
              <a:rPr lang="en-US" sz="1200" dirty="0">
                <a:solidFill>
                  <a:srgbClr val="1A1A2E"/>
                </a:solidFill>
                <a:latin typeface="Calibri" pitchFamily="34" charset="0"/>
                <a:ea typeface="Calibri" pitchFamily="34" charset="-122"/>
                <a:cs typeface="Calibri" pitchFamily="34" charset="-120"/>
              </a:rPr>
              <a:t>Uses FIFO queue (first in, first out)</a:t>
            </a:r>
            <a:pPr indent="0" marL="0">
              <a:buNone/>
            </a:pPr>
            <a:r>
              <a:rPr lang="en-US" sz="1200" dirty="0">
                <a:solidFill>
                  <a:srgbClr val="1A1A2E"/>
                </a:solidFill>
                <a:latin typeface="Calibri" pitchFamily="34" charset="0"/>
                <a:ea typeface="Calibri" pitchFamily="34" charset="-122"/>
                <a:cs typeface="Calibri" pitchFamily="34" charset="-120"/>
              </a:rPr>
              <a:t>Explores level by level</a:t>
            </a:r>
            <a:endParaRPr lang="en-US" sz="1200" dirty="0"/>
          </a:p>
        </p:txBody>
      </p:sp>
      <p:sp>
        <p:nvSpPr>
          <p:cNvPr id="6" name="Text 4"/>
          <p:cNvSpPr/>
          <p:nvPr/>
        </p:nvSpPr>
        <p:spPr>
          <a:xfrm>
            <a:off x="731520" y="3291840"/>
            <a:ext cx="3566160" cy="228600"/>
          </a:xfrm>
          <a:prstGeom prst="rect">
            <a:avLst/>
          </a:prstGeom>
          <a:noFill/>
          <a:ln/>
        </p:spPr>
        <p:txBody>
          <a:bodyPr wrap="square" rtlCol="0" anchor="ctr"/>
          <a:lstStyle/>
          <a:p>
            <a:pPr indent="0" marL="0">
              <a:buNone/>
            </a:pPr>
            <a:r>
              <a:rPr lang="en-US" sz="1200" b="1" dirty="0">
                <a:solidFill>
                  <a:srgbClr val="1A1A2E"/>
                </a:solidFill>
                <a:latin typeface="Georgia" pitchFamily="34" charset="0"/>
                <a:ea typeface="Georgia" pitchFamily="34" charset="-122"/>
                <a:cs typeface="Georgia" pitchFamily="34" charset="-120"/>
              </a:rPr>
              <a:t>Properties:</a:t>
            </a:r>
            <a:endParaRPr lang="en-US" sz="1200" dirty="0"/>
          </a:p>
        </p:txBody>
      </p:sp>
      <p:sp>
        <p:nvSpPr>
          <p:cNvPr id="7" name="Text 5"/>
          <p:cNvSpPr/>
          <p:nvPr/>
        </p:nvSpPr>
        <p:spPr>
          <a:xfrm>
            <a:off x="868680" y="3611880"/>
            <a:ext cx="3337560" cy="868680"/>
          </a:xfrm>
          <a:prstGeom prst="rect">
            <a:avLst/>
          </a:prstGeom>
          <a:noFill/>
          <a:ln/>
        </p:spPr>
        <p:txBody>
          <a:bodyPr wrap="square" rtlCol="0" anchor="ctr"/>
          <a:lstStyle/>
          <a:p>
            <a:pPr indent="0" marL="0">
              <a:buNone/>
            </a:pPr>
            <a:r>
              <a:rPr lang="en-US" sz="1200" dirty="0">
                <a:solidFill>
                  <a:srgbClr val="1A1A2E"/>
                </a:solidFill>
                <a:latin typeface="Calibri" pitchFamily="34" charset="0"/>
                <a:ea typeface="Calibri" pitchFamily="34" charset="-122"/>
                <a:cs typeface="Calibri" pitchFamily="34" charset="-120"/>
              </a:rPr>
              <a:t>Complete</a:t>
            </a:r>
            <a:pPr indent="0" marL="0">
              <a:buNone/>
            </a:pPr>
            <a:r>
              <a:rPr lang="en-US" sz="1200" dirty="0">
                <a:solidFill>
                  <a:srgbClr val="1A1A2E"/>
                </a:solidFill>
                <a:latin typeface="Calibri" pitchFamily="34" charset="0"/>
                <a:ea typeface="Calibri" pitchFamily="34" charset="-122"/>
                <a:cs typeface="Calibri" pitchFamily="34" charset="-120"/>
              </a:rPr>
              <a:t>Optimal (unit costs)</a:t>
            </a:r>
            <a:pPr indent="0" marL="0">
              <a:buNone/>
            </a:pPr>
            <a:r>
              <a:rPr lang="en-US" sz="1200" dirty="0">
                <a:solidFill>
                  <a:srgbClr val="1A1A2E"/>
                </a:solidFill>
                <a:latin typeface="Calibri" pitchFamily="34" charset="0"/>
                <a:ea typeface="Calibri" pitchFamily="34" charset="-122"/>
                <a:cs typeface="Calibri" pitchFamily="34" charset="-120"/>
              </a:rPr>
              <a:t>Space intensive</a:t>
            </a:r>
            <a:endParaRPr lang="en-US" sz="1200" dirty="0"/>
          </a:p>
        </p:txBody>
      </p:sp>
      <p:sp>
        <p:nvSpPr>
          <p:cNvPr id="8" name="Shape 6"/>
          <p:cNvSpPr/>
          <p:nvPr/>
        </p:nvSpPr>
        <p:spPr>
          <a:xfrm>
            <a:off x="4846320" y="1188720"/>
            <a:ext cx="3840480" cy="3566160"/>
          </a:xfrm>
          <a:prstGeom prst="rect">
            <a:avLst/>
          </a:prstGeom>
          <a:solidFill>
            <a:srgbClr val="FFFFFF"/>
          </a:solidFill>
          <a:ln w="25400">
            <a:solidFill>
              <a:srgbClr val="00B4D8"/>
            </a:solidFill>
            <a:prstDash val="solid"/>
          </a:ln>
        </p:spPr>
      </p:sp>
      <p:sp>
        <p:nvSpPr>
          <p:cNvPr id="9" name="Text 7"/>
          <p:cNvSpPr/>
          <p:nvPr/>
        </p:nvSpPr>
        <p:spPr>
          <a:xfrm>
            <a:off x="5029200" y="1371600"/>
            <a:ext cx="3474720" cy="274320"/>
          </a:xfrm>
          <a:prstGeom prst="rect">
            <a:avLst/>
          </a:prstGeom>
          <a:noFill/>
          <a:ln/>
        </p:spPr>
        <p:txBody>
          <a:bodyPr wrap="square" rtlCol="0" anchor="ctr"/>
          <a:lstStyle/>
          <a:p>
            <a:pPr indent="0" marL="0">
              <a:buNone/>
            </a:pPr>
            <a:r>
              <a:rPr lang="en-US" sz="1400" b="1" dirty="0">
                <a:solidFill>
                  <a:srgbClr val="00B4D8"/>
                </a:solidFill>
                <a:latin typeface="Georgia" pitchFamily="34" charset="0"/>
                <a:ea typeface="Georgia" pitchFamily="34" charset="-122"/>
                <a:cs typeface="Georgia" pitchFamily="34" charset="-120"/>
              </a:rPr>
              <a:t>Visualization</a:t>
            </a:r>
            <a:endParaRPr lang="en-US" sz="1400" dirty="0"/>
          </a:p>
        </p:txBody>
      </p:sp>
      <p:sp>
        <p:nvSpPr>
          <p:cNvPr id="10" name="Shape 8"/>
          <p:cNvSpPr/>
          <p:nvPr/>
        </p:nvSpPr>
        <p:spPr>
          <a:xfrm>
            <a:off x="5669280" y="1920240"/>
            <a:ext cx="274320" cy="274320"/>
          </a:xfrm>
          <a:prstGeom prst="ellipse">
            <a:avLst/>
          </a:prstGeom>
          <a:solidFill>
            <a:srgbClr val="00B4D8"/>
          </a:solidFill>
          <a:ln/>
        </p:spPr>
      </p:sp>
      <p:sp>
        <p:nvSpPr>
          <p:cNvPr id="11" name="Shape 9"/>
          <p:cNvSpPr/>
          <p:nvPr/>
        </p:nvSpPr>
        <p:spPr>
          <a:xfrm>
            <a:off x="5303520" y="2651760"/>
            <a:ext cx="228600" cy="228600"/>
          </a:xfrm>
          <a:prstGeom prst="ellipse">
            <a:avLst/>
          </a:prstGeom>
          <a:solidFill>
            <a:srgbClr val="2E86AB"/>
          </a:solidFill>
          <a:ln/>
        </p:spPr>
      </p:sp>
      <p:sp>
        <p:nvSpPr>
          <p:cNvPr id="12" name="Shape 10"/>
          <p:cNvSpPr/>
          <p:nvPr/>
        </p:nvSpPr>
        <p:spPr>
          <a:xfrm>
            <a:off x="5669280" y="2651760"/>
            <a:ext cx="228600" cy="228600"/>
          </a:xfrm>
          <a:prstGeom prst="ellipse">
            <a:avLst/>
          </a:prstGeom>
          <a:solidFill>
            <a:srgbClr val="2E86AB"/>
          </a:solidFill>
          <a:ln/>
        </p:spPr>
      </p:sp>
      <p:sp>
        <p:nvSpPr>
          <p:cNvPr id="13" name="Shape 11"/>
          <p:cNvSpPr/>
          <p:nvPr/>
        </p:nvSpPr>
        <p:spPr>
          <a:xfrm>
            <a:off x="6035040" y="2651760"/>
            <a:ext cx="228600" cy="228600"/>
          </a:xfrm>
          <a:prstGeom prst="ellipse">
            <a:avLst/>
          </a:prstGeom>
          <a:solidFill>
            <a:srgbClr val="2E86AB"/>
          </a:solidFill>
          <a:ln/>
        </p:spPr>
      </p:sp>
      <p:sp>
        <p:nvSpPr>
          <p:cNvPr id="14" name="Shape 12"/>
          <p:cNvSpPr/>
          <p:nvPr/>
        </p:nvSpPr>
        <p:spPr>
          <a:xfrm>
            <a:off x="5120640" y="3383280"/>
            <a:ext cx="182880" cy="182880"/>
          </a:xfrm>
          <a:prstGeom prst="ellipse">
            <a:avLst/>
          </a:prstGeom>
          <a:solidFill>
            <a:srgbClr val="1B3A5C"/>
          </a:solidFill>
          <a:ln/>
        </p:spPr>
      </p:sp>
      <p:sp>
        <p:nvSpPr>
          <p:cNvPr id="15" name="Shape 13"/>
          <p:cNvSpPr/>
          <p:nvPr/>
        </p:nvSpPr>
        <p:spPr>
          <a:xfrm>
            <a:off x="5349240" y="3383280"/>
            <a:ext cx="182880" cy="182880"/>
          </a:xfrm>
          <a:prstGeom prst="ellipse">
            <a:avLst/>
          </a:prstGeom>
          <a:solidFill>
            <a:srgbClr val="1B3A5C"/>
          </a:solidFill>
          <a:ln/>
        </p:spPr>
      </p:sp>
      <p:sp>
        <p:nvSpPr>
          <p:cNvPr id="16" name="Shape 14"/>
          <p:cNvSpPr/>
          <p:nvPr/>
        </p:nvSpPr>
        <p:spPr>
          <a:xfrm>
            <a:off x="5577840" y="3383280"/>
            <a:ext cx="182880" cy="182880"/>
          </a:xfrm>
          <a:prstGeom prst="ellipse">
            <a:avLst/>
          </a:prstGeom>
          <a:solidFill>
            <a:srgbClr val="1B3A5C"/>
          </a:solidFill>
          <a:ln/>
        </p:spPr>
      </p:sp>
      <p:sp>
        <p:nvSpPr>
          <p:cNvPr id="17" name="Shape 15"/>
          <p:cNvSpPr/>
          <p:nvPr/>
        </p:nvSpPr>
        <p:spPr>
          <a:xfrm>
            <a:off x="5806440" y="3383280"/>
            <a:ext cx="182880" cy="182880"/>
          </a:xfrm>
          <a:prstGeom prst="ellipse">
            <a:avLst/>
          </a:prstGeom>
          <a:solidFill>
            <a:srgbClr val="1B3A5C"/>
          </a:solidFill>
          <a:ln/>
        </p:spPr>
      </p:sp>
      <p:sp>
        <p:nvSpPr>
          <p:cNvPr id="18" name="Shape 16"/>
          <p:cNvSpPr/>
          <p:nvPr/>
        </p:nvSpPr>
        <p:spPr>
          <a:xfrm>
            <a:off x="6035040" y="3383280"/>
            <a:ext cx="182880" cy="182880"/>
          </a:xfrm>
          <a:prstGeom prst="ellipse">
            <a:avLst/>
          </a:prstGeom>
          <a:solidFill>
            <a:srgbClr val="1B3A5C"/>
          </a:solidFill>
          <a:ln/>
        </p:spPr>
      </p:sp>
      <p:sp>
        <p:nvSpPr>
          <p:cNvPr id="19" name="Shape 17"/>
          <p:cNvSpPr/>
          <p:nvPr/>
        </p:nvSpPr>
        <p:spPr>
          <a:xfrm>
            <a:off x="6263640" y="3383280"/>
            <a:ext cx="182880" cy="182880"/>
          </a:xfrm>
          <a:prstGeom prst="ellipse">
            <a:avLst/>
          </a:prstGeom>
          <a:solidFill>
            <a:srgbClr val="1B3A5C"/>
          </a:solidFill>
          <a:ln/>
        </p:spPr>
      </p:sp>
      <p:sp>
        <p:nvSpPr>
          <p:cNvPr id="20" name="Text 18"/>
          <p:cNvSpPr/>
          <p:nvPr/>
        </p:nvSpPr>
        <p:spPr>
          <a:xfrm>
            <a:off x="5029200" y="3840480"/>
            <a:ext cx="3474720" cy="822960"/>
          </a:xfrm>
          <a:prstGeom prst="rect">
            <a:avLst/>
          </a:prstGeom>
          <a:noFill/>
          <a:ln/>
        </p:spPr>
        <p:txBody>
          <a:bodyPr wrap="square" rtlCol="0" anchor="ctr"/>
          <a:lstStyle/>
          <a:p>
            <a:pPr indent="0" marL="0">
              <a:buNone/>
            </a:pPr>
            <a:r>
              <a:rPr lang="en-US" sz="1100" i="1" dirty="0">
                <a:solidFill>
                  <a:srgbClr val="1A1A2E"/>
                </a:solidFill>
                <a:latin typeface="Calibri" pitchFamily="34" charset="0"/>
                <a:ea typeface="Calibri" pitchFamily="34" charset="-122"/>
                <a:cs typeface="Calibri" pitchFamily="34" charset="-120"/>
              </a:rPr>
              <a:t>Explores breadth before depth - good for short paths</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8F4F8"/>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4000" b="1" dirty="0">
                <a:solidFill>
                  <a:srgbClr val="0D1B2A"/>
                </a:solidFill>
                <a:latin typeface="Georgia" pitchFamily="34" charset="0"/>
                <a:ea typeface="Georgia" pitchFamily="34" charset="-122"/>
                <a:cs typeface="Georgia" pitchFamily="34" charset="-120"/>
              </a:rPr>
              <a:t>Depth-First Search (DFS)</a:t>
            </a:r>
            <a:endParaRPr lang="en-US" sz="4000" dirty="0"/>
          </a:p>
        </p:txBody>
      </p:sp>
      <p:sp>
        <p:nvSpPr>
          <p:cNvPr id="3" name="Shape 1"/>
          <p:cNvSpPr/>
          <p:nvPr/>
        </p:nvSpPr>
        <p:spPr>
          <a:xfrm>
            <a:off x="457200" y="1188720"/>
            <a:ext cx="4114800" cy="3566160"/>
          </a:xfrm>
          <a:prstGeom prst="rect">
            <a:avLst/>
          </a:prstGeom>
          <a:solidFill>
            <a:srgbClr val="FFFFFF"/>
          </a:solidFill>
          <a:ln w="25400">
            <a:solidFill>
              <a:srgbClr val="2E86AB"/>
            </a:solidFill>
            <a:prstDash val="solid"/>
          </a:ln>
        </p:spPr>
      </p:sp>
      <p:sp>
        <p:nvSpPr>
          <p:cNvPr id="4" name="Text 2"/>
          <p:cNvSpPr/>
          <p:nvPr/>
        </p:nvSpPr>
        <p:spPr>
          <a:xfrm>
            <a:off x="640080" y="1371600"/>
            <a:ext cx="3749040" cy="274320"/>
          </a:xfrm>
          <a:prstGeom prst="rect">
            <a:avLst/>
          </a:prstGeom>
          <a:noFill/>
          <a:ln/>
        </p:spPr>
        <p:txBody>
          <a:bodyPr wrap="square" rtlCol="0" anchor="ctr"/>
          <a:lstStyle/>
          <a:p>
            <a:pPr indent="0" marL="0">
              <a:buNone/>
            </a:pPr>
            <a:r>
              <a:rPr lang="en-US" sz="1400" b="1" dirty="0">
                <a:solidFill>
                  <a:srgbClr val="2E86AB"/>
                </a:solidFill>
                <a:latin typeface="Georgia" pitchFamily="34" charset="0"/>
                <a:ea typeface="Georgia" pitchFamily="34" charset="-122"/>
                <a:cs typeface="Georgia" pitchFamily="34" charset="-120"/>
              </a:rPr>
              <a:t>Algorithm</a:t>
            </a:r>
            <a:endParaRPr lang="en-US" sz="1400" dirty="0"/>
          </a:p>
        </p:txBody>
      </p:sp>
      <p:sp>
        <p:nvSpPr>
          <p:cNvPr id="5" name="Text 3"/>
          <p:cNvSpPr/>
          <p:nvPr/>
        </p:nvSpPr>
        <p:spPr>
          <a:xfrm>
            <a:off x="731520" y="1828800"/>
            <a:ext cx="3566160" cy="1371600"/>
          </a:xfrm>
          <a:prstGeom prst="rect">
            <a:avLst/>
          </a:prstGeom>
          <a:noFill/>
          <a:ln/>
        </p:spPr>
        <p:txBody>
          <a:bodyPr wrap="square" rtlCol="0" anchor="ctr"/>
          <a:lstStyle/>
          <a:p>
            <a:pPr indent="0" marL="0">
              <a:buNone/>
            </a:pPr>
            <a:r>
              <a:rPr lang="en-US" sz="1200" dirty="0">
                <a:solidFill>
                  <a:srgbClr val="1A1A2E"/>
                </a:solidFill>
                <a:latin typeface="Calibri" pitchFamily="34" charset="0"/>
                <a:ea typeface="Calibri" pitchFamily="34" charset="-122"/>
                <a:cs typeface="Calibri" pitchFamily="34" charset="-120"/>
              </a:rPr>
              <a:t>Expand deepest node first</a:t>
            </a:r>
            <a:pPr indent="0" marL="0">
              <a:buNone/>
            </a:pPr>
            <a:r>
              <a:rPr lang="en-US" sz="1200" dirty="0">
                <a:solidFill>
                  <a:srgbClr val="1A1A2E"/>
                </a:solidFill>
                <a:latin typeface="Calibri" pitchFamily="34" charset="0"/>
                <a:ea typeface="Calibri" pitchFamily="34" charset="-122"/>
                <a:cs typeface="Calibri" pitchFamily="34" charset="-120"/>
              </a:rPr>
              <a:t>Uses LIFO stack (last in, first out)</a:t>
            </a:r>
            <a:pPr indent="0" marL="0">
              <a:buNone/>
            </a:pPr>
            <a:r>
              <a:rPr lang="en-US" sz="1200" dirty="0">
                <a:solidFill>
                  <a:srgbClr val="1A1A2E"/>
                </a:solidFill>
                <a:latin typeface="Calibri" pitchFamily="34" charset="0"/>
                <a:ea typeface="Calibri" pitchFamily="34" charset="-122"/>
                <a:cs typeface="Calibri" pitchFamily="34" charset="-120"/>
              </a:rPr>
              <a:t>Goes deep before backtracking</a:t>
            </a:r>
            <a:endParaRPr lang="en-US" sz="1200" dirty="0"/>
          </a:p>
        </p:txBody>
      </p:sp>
      <p:sp>
        <p:nvSpPr>
          <p:cNvPr id="6" name="Text 4"/>
          <p:cNvSpPr/>
          <p:nvPr/>
        </p:nvSpPr>
        <p:spPr>
          <a:xfrm>
            <a:off x="731520" y="3291840"/>
            <a:ext cx="3566160" cy="228600"/>
          </a:xfrm>
          <a:prstGeom prst="rect">
            <a:avLst/>
          </a:prstGeom>
          <a:noFill/>
          <a:ln/>
        </p:spPr>
        <p:txBody>
          <a:bodyPr wrap="square" rtlCol="0" anchor="ctr"/>
          <a:lstStyle/>
          <a:p>
            <a:pPr indent="0" marL="0">
              <a:buNone/>
            </a:pPr>
            <a:r>
              <a:rPr lang="en-US" sz="1200" b="1" dirty="0">
                <a:solidFill>
                  <a:srgbClr val="1A1A2E"/>
                </a:solidFill>
                <a:latin typeface="Georgia" pitchFamily="34" charset="0"/>
                <a:ea typeface="Georgia" pitchFamily="34" charset="-122"/>
                <a:cs typeface="Georgia" pitchFamily="34" charset="-120"/>
              </a:rPr>
              <a:t>Properties:</a:t>
            </a:r>
            <a:endParaRPr lang="en-US" sz="1200" dirty="0"/>
          </a:p>
        </p:txBody>
      </p:sp>
      <p:sp>
        <p:nvSpPr>
          <p:cNvPr id="7" name="Text 5"/>
          <p:cNvSpPr/>
          <p:nvPr/>
        </p:nvSpPr>
        <p:spPr>
          <a:xfrm>
            <a:off x="868680" y="3611880"/>
            <a:ext cx="3337560" cy="868680"/>
          </a:xfrm>
          <a:prstGeom prst="rect">
            <a:avLst/>
          </a:prstGeom>
          <a:noFill/>
          <a:ln/>
        </p:spPr>
        <p:txBody>
          <a:bodyPr wrap="square" rtlCol="0" anchor="ctr"/>
          <a:lstStyle/>
          <a:p>
            <a:pPr indent="0" marL="0">
              <a:buNone/>
            </a:pPr>
            <a:r>
              <a:rPr lang="en-US" sz="1200" dirty="0">
                <a:solidFill>
                  <a:srgbClr val="1A1A2E"/>
                </a:solidFill>
                <a:latin typeface="Calibri" pitchFamily="34" charset="0"/>
                <a:ea typeface="Calibri" pitchFamily="34" charset="-122"/>
                <a:cs typeface="Calibri" pitchFamily="34" charset="-120"/>
              </a:rPr>
              <a:t>Complete (graph search)</a:t>
            </a:r>
            <a:pPr indent="0" marL="0">
              <a:buNone/>
            </a:pPr>
            <a:r>
              <a:rPr lang="en-US" sz="1200" dirty="0">
                <a:solidFill>
                  <a:srgbClr val="1A1A2E"/>
                </a:solidFill>
                <a:latin typeface="Calibri" pitchFamily="34" charset="0"/>
                <a:ea typeface="Calibri" pitchFamily="34" charset="-122"/>
                <a:cs typeface="Calibri" pitchFamily="34" charset="-120"/>
              </a:rPr>
              <a:t>Not optimal</a:t>
            </a:r>
            <a:pPr indent="0" marL="0">
              <a:buNone/>
            </a:pPr>
            <a:r>
              <a:rPr lang="en-US" sz="1200" dirty="0">
                <a:solidFill>
                  <a:srgbClr val="1A1A2E"/>
                </a:solidFill>
                <a:latin typeface="Calibri" pitchFamily="34" charset="0"/>
                <a:ea typeface="Calibri" pitchFamily="34" charset="-122"/>
                <a:cs typeface="Calibri" pitchFamily="34" charset="-120"/>
              </a:rPr>
              <a:t>Space efficient</a:t>
            </a:r>
            <a:endParaRPr lang="en-US" sz="1200" dirty="0"/>
          </a:p>
        </p:txBody>
      </p:sp>
      <p:sp>
        <p:nvSpPr>
          <p:cNvPr id="8" name="Shape 6"/>
          <p:cNvSpPr/>
          <p:nvPr/>
        </p:nvSpPr>
        <p:spPr>
          <a:xfrm>
            <a:off x="4846320" y="1188720"/>
            <a:ext cx="3840480" cy="3566160"/>
          </a:xfrm>
          <a:prstGeom prst="rect">
            <a:avLst/>
          </a:prstGeom>
          <a:solidFill>
            <a:srgbClr val="FFFFFF"/>
          </a:solidFill>
          <a:ln w="25400">
            <a:solidFill>
              <a:srgbClr val="00B4D8"/>
            </a:solidFill>
            <a:prstDash val="solid"/>
          </a:ln>
        </p:spPr>
      </p:sp>
      <p:sp>
        <p:nvSpPr>
          <p:cNvPr id="9" name="Text 7"/>
          <p:cNvSpPr/>
          <p:nvPr/>
        </p:nvSpPr>
        <p:spPr>
          <a:xfrm>
            <a:off x="5029200" y="1371600"/>
            <a:ext cx="3474720" cy="274320"/>
          </a:xfrm>
          <a:prstGeom prst="rect">
            <a:avLst/>
          </a:prstGeom>
          <a:noFill/>
          <a:ln/>
        </p:spPr>
        <p:txBody>
          <a:bodyPr wrap="square" rtlCol="0" anchor="ctr"/>
          <a:lstStyle/>
          <a:p>
            <a:pPr indent="0" marL="0">
              <a:buNone/>
            </a:pPr>
            <a:r>
              <a:rPr lang="en-US" sz="1400" b="1" dirty="0">
                <a:solidFill>
                  <a:srgbClr val="00B4D8"/>
                </a:solidFill>
                <a:latin typeface="Georgia" pitchFamily="34" charset="0"/>
                <a:ea typeface="Georgia" pitchFamily="34" charset="-122"/>
                <a:cs typeface="Georgia" pitchFamily="34" charset="-120"/>
              </a:rPr>
              <a:t>Comparison with BFS</a:t>
            </a:r>
            <a:endParaRPr lang="en-US" sz="1400" dirty="0"/>
          </a:p>
        </p:txBody>
      </p:sp>
      <p:sp>
        <p:nvSpPr>
          <p:cNvPr id="10" name="Text 8"/>
          <p:cNvSpPr/>
          <p:nvPr/>
        </p:nvSpPr>
        <p:spPr>
          <a:xfrm>
            <a:off x="5120640" y="1828800"/>
            <a:ext cx="3566160" cy="2651760"/>
          </a:xfrm>
          <a:prstGeom prst="rect">
            <a:avLst/>
          </a:prstGeom>
          <a:noFill/>
          <a:ln/>
        </p:spPr>
        <p:txBody>
          <a:bodyPr wrap="square" rtlCol="0" anchor="ctr"/>
          <a:lstStyle/>
          <a:p>
            <a:pPr indent="0" marL="0">
              <a:buNone/>
            </a:pPr>
            <a:r>
              <a:rPr lang="en-US" sz="1200" dirty="0">
                <a:solidFill>
                  <a:srgbClr val="1A1A2E"/>
                </a:solidFill>
                <a:latin typeface="Calibri" pitchFamily="34" charset="0"/>
                <a:ea typeface="Calibri" pitchFamily="34" charset="-122"/>
                <a:cs typeface="Calibri" pitchFamily="34" charset="-120"/>
              </a:rPr>
              <a:t>DFS uses less memory</a:t>
            </a:r>
            <a:pPr indent="0" marL="0">
              <a:buNone/>
            </a:pPr>
            <a:r>
              <a:rPr lang="en-US" sz="1200" dirty="0">
                <a:solidFill>
                  <a:srgbClr val="1A1A2E"/>
                </a:solidFill>
                <a:latin typeface="Calibri" pitchFamily="34" charset="0"/>
                <a:ea typeface="Calibri" pitchFamily="34" charset="-122"/>
                <a:cs typeface="Calibri" pitchFamily="34" charset="-120"/>
              </a:rPr>
              <a:t>BFS finds shortest path</a:t>
            </a:r>
            <a:pPr indent="0" marL="0">
              <a:buNone/>
            </a:pPr>
            <a:r>
              <a:rPr lang="en-US" sz="1200" dirty="0">
                <a:solidFill>
                  <a:srgbClr val="1A1A2E"/>
                </a:solidFill>
                <a:latin typeface="Calibri" pitchFamily="34" charset="0"/>
                <a:ea typeface="Calibri" pitchFamily="34" charset="-122"/>
                <a:cs typeface="Calibri" pitchFamily="34" charset="-120"/>
              </a:rPr>
              <a:t>DFS may find suboptimal path</a:t>
            </a:r>
            <a:pPr indent="0" marL="0">
              <a:buNone/>
            </a:pPr>
            <a:r>
              <a:rPr lang="en-US" sz="1200" dirty="0">
                <a:solidFill>
                  <a:srgbClr val="1A1A2E"/>
                </a:solidFill>
                <a:latin typeface="Calibri" pitchFamily="34" charset="0"/>
                <a:ea typeface="Calibri" pitchFamily="34" charset="-122"/>
                <a:cs typeface="Calibri" pitchFamily="34" charset="-120"/>
              </a:rPr>
              <a:t>DFS faster for deep solutions</a:t>
            </a:r>
            <a:pPr indent="0" marL="0">
              <a:buNone/>
            </a:pPr>
            <a:r>
              <a:rPr lang="en-US" sz="1200" dirty="0">
                <a:solidFill>
                  <a:srgbClr val="1A1A2E"/>
                </a:solidFill>
                <a:latin typeface="Calibri" pitchFamily="34" charset="0"/>
                <a:ea typeface="Calibri" pitchFamily="34" charset="-122"/>
                <a:cs typeface="Calibri" pitchFamily="34" charset="-120"/>
              </a:rPr>
              <a:t>BFS slower but guaranteed shortest</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8F4F8"/>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4000" b="1" dirty="0">
                <a:solidFill>
                  <a:srgbClr val="0D1B2A"/>
                </a:solidFill>
                <a:latin typeface="Georgia" pitchFamily="34" charset="0"/>
                <a:ea typeface="Georgia" pitchFamily="34" charset="-122"/>
                <a:cs typeface="Georgia" pitchFamily="34" charset="-120"/>
              </a:rPr>
              <a:t>Uniform Cost Search (UCS)</a:t>
            </a:r>
            <a:endParaRPr lang="en-US" sz="4000" dirty="0"/>
          </a:p>
        </p:txBody>
      </p:sp>
      <p:sp>
        <p:nvSpPr>
          <p:cNvPr id="3" name="Shape 1"/>
          <p:cNvSpPr/>
          <p:nvPr/>
        </p:nvSpPr>
        <p:spPr>
          <a:xfrm>
            <a:off x="457200" y="1188720"/>
            <a:ext cx="4114800" cy="3566160"/>
          </a:xfrm>
          <a:prstGeom prst="rect">
            <a:avLst/>
          </a:prstGeom>
          <a:solidFill>
            <a:srgbClr val="FFFFFF"/>
          </a:solidFill>
          <a:ln w="25400">
            <a:solidFill>
              <a:srgbClr val="2E86AB"/>
            </a:solidFill>
            <a:prstDash val="solid"/>
          </a:ln>
        </p:spPr>
      </p:sp>
      <p:sp>
        <p:nvSpPr>
          <p:cNvPr id="4" name="Text 2"/>
          <p:cNvSpPr/>
          <p:nvPr/>
        </p:nvSpPr>
        <p:spPr>
          <a:xfrm>
            <a:off x="640080" y="1371600"/>
            <a:ext cx="3749040" cy="274320"/>
          </a:xfrm>
          <a:prstGeom prst="rect">
            <a:avLst/>
          </a:prstGeom>
          <a:noFill/>
          <a:ln/>
        </p:spPr>
        <p:txBody>
          <a:bodyPr wrap="square" rtlCol="0" anchor="ctr"/>
          <a:lstStyle/>
          <a:p>
            <a:pPr indent="0" marL="0">
              <a:buNone/>
            </a:pPr>
            <a:r>
              <a:rPr lang="en-US" sz="1400" b="1" dirty="0">
                <a:solidFill>
                  <a:srgbClr val="2E86AB"/>
                </a:solidFill>
                <a:latin typeface="Georgia" pitchFamily="34" charset="0"/>
                <a:ea typeface="Georgia" pitchFamily="34" charset="-122"/>
                <a:cs typeface="Georgia" pitchFamily="34" charset="-120"/>
              </a:rPr>
              <a:t>Algorithm</a:t>
            </a:r>
            <a:endParaRPr lang="en-US" sz="1400" dirty="0"/>
          </a:p>
        </p:txBody>
      </p:sp>
      <p:sp>
        <p:nvSpPr>
          <p:cNvPr id="5" name="Text 3"/>
          <p:cNvSpPr/>
          <p:nvPr/>
        </p:nvSpPr>
        <p:spPr>
          <a:xfrm>
            <a:off x="731520" y="1828800"/>
            <a:ext cx="3566160" cy="1371600"/>
          </a:xfrm>
          <a:prstGeom prst="rect">
            <a:avLst/>
          </a:prstGeom>
          <a:noFill/>
          <a:ln/>
        </p:spPr>
        <p:txBody>
          <a:bodyPr wrap="square" rtlCol="0" anchor="ctr"/>
          <a:lstStyle/>
          <a:p>
            <a:pPr indent="0" marL="0">
              <a:buNone/>
            </a:pPr>
            <a:r>
              <a:rPr lang="en-US" sz="1200" dirty="0">
                <a:solidFill>
                  <a:srgbClr val="1A1A2E"/>
                </a:solidFill>
                <a:latin typeface="Calibri" pitchFamily="34" charset="0"/>
                <a:ea typeface="Calibri" pitchFamily="34" charset="-122"/>
                <a:cs typeface="Calibri" pitchFamily="34" charset="-120"/>
              </a:rPr>
              <a:t>Expands lowest-cost node first</a:t>
            </a:r>
            <a:pPr indent="0" marL="0">
              <a:buNone/>
            </a:pPr>
            <a:r>
              <a:rPr lang="en-US" sz="1200" dirty="0">
                <a:solidFill>
                  <a:srgbClr val="1A1A2E"/>
                </a:solidFill>
                <a:latin typeface="Calibri" pitchFamily="34" charset="0"/>
                <a:ea typeface="Calibri" pitchFamily="34" charset="-122"/>
                <a:cs typeface="Calibri" pitchFamily="34" charset="-120"/>
              </a:rPr>
              <a:t>Uses priority queue sorted by cost</a:t>
            </a:r>
            <a:pPr indent="0" marL="0">
              <a:buNone/>
            </a:pPr>
            <a:r>
              <a:rPr lang="en-US" sz="1200" dirty="0">
                <a:solidFill>
                  <a:srgbClr val="1A1A2E"/>
                </a:solidFill>
                <a:latin typeface="Calibri" pitchFamily="34" charset="0"/>
                <a:ea typeface="Calibri" pitchFamily="34" charset="-122"/>
                <a:cs typeface="Calibri" pitchFamily="34" charset="-120"/>
              </a:rPr>
              <a:t>Generalizes BFS for varying costs</a:t>
            </a:r>
            <a:endParaRPr lang="en-US" sz="1200" dirty="0"/>
          </a:p>
        </p:txBody>
      </p:sp>
      <p:sp>
        <p:nvSpPr>
          <p:cNvPr id="6" name="Text 4"/>
          <p:cNvSpPr/>
          <p:nvPr/>
        </p:nvSpPr>
        <p:spPr>
          <a:xfrm>
            <a:off x="731520" y="3291840"/>
            <a:ext cx="3566160" cy="228600"/>
          </a:xfrm>
          <a:prstGeom prst="rect">
            <a:avLst/>
          </a:prstGeom>
          <a:noFill/>
          <a:ln/>
        </p:spPr>
        <p:txBody>
          <a:bodyPr wrap="square" rtlCol="0" anchor="ctr"/>
          <a:lstStyle/>
          <a:p>
            <a:pPr indent="0" marL="0">
              <a:buNone/>
            </a:pPr>
            <a:r>
              <a:rPr lang="en-US" sz="1200" b="1" dirty="0">
                <a:solidFill>
                  <a:srgbClr val="1A1A2E"/>
                </a:solidFill>
                <a:latin typeface="Georgia" pitchFamily="34" charset="0"/>
                <a:ea typeface="Georgia" pitchFamily="34" charset="-122"/>
                <a:cs typeface="Georgia" pitchFamily="34" charset="-120"/>
              </a:rPr>
              <a:t>Key Feature:</a:t>
            </a:r>
            <a:endParaRPr lang="en-US" sz="1200" dirty="0"/>
          </a:p>
        </p:txBody>
      </p:sp>
      <p:sp>
        <p:nvSpPr>
          <p:cNvPr id="7" name="Text 5"/>
          <p:cNvSpPr/>
          <p:nvPr/>
        </p:nvSpPr>
        <p:spPr>
          <a:xfrm>
            <a:off x="868680" y="3611880"/>
            <a:ext cx="3337560" cy="868680"/>
          </a:xfrm>
          <a:prstGeom prst="rect">
            <a:avLst/>
          </a:prstGeom>
          <a:noFill/>
          <a:ln/>
        </p:spPr>
        <p:txBody>
          <a:bodyPr wrap="square" rtlCol="0" anchor="ctr"/>
          <a:lstStyle/>
          <a:p>
            <a:pPr indent="0" marL="0">
              <a:buNone/>
            </a:pPr>
            <a:r>
              <a:rPr lang="en-US" sz="1200" dirty="0">
                <a:solidFill>
                  <a:srgbClr val="1A1A2E"/>
                </a:solidFill>
                <a:latin typeface="Calibri" pitchFamily="34" charset="0"/>
                <a:ea typeface="Calibri" pitchFamily="34" charset="-122"/>
                <a:cs typeface="Calibri" pitchFamily="34" charset="-120"/>
              </a:rPr>
              <a:t>Optimal when costs vary</a:t>
            </a:r>
            <a:endParaRPr lang="en-US" sz="1200" dirty="0"/>
          </a:p>
        </p:txBody>
      </p:sp>
      <p:sp>
        <p:nvSpPr>
          <p:cNvPr id="8" name="Shape 6"/>
          <p:cNvSpPr/>
          <p:nvPr/>
        </p:nvSpPr>
        <p:spPr>
          <a:xfrm>
            <a:off x="4846320" y="1188720"/>
            <a:ext cx="3840480" cy="3566160"/>
          </a:xfrm>
          <a:prstGeom prst="rect">
            <a:avLst/>
          </a:prstGeom>
          <a:solidFill>
            <a:srgbClr val="FFFFFF"/>
          </a:solidFill>
          <a:ln w="25400">
            <a:solidFill>
              <a:srgbClr val="00B4D8"/>
            </a:solidFill>
            <a:prstDash val="solid"/>
          </a:ln>
        </p:spPr>
      </p:sp>
      <p:sp>
        <p:nvSpPr>
          <p:cNvPr id="9" name="Text 7"/>
          <p:cNvSpPr/>
          <p:nvPr/>
        </p:nvSpPr>
        <p:spPr>
          <a:xfrm>
            <a:off x="5029200" y="1371600"/>
            <a:ext cx="3474720" cy="274320"/>
          </a:xfrm>
          <a:prstGeom prst="rect">
            <a:avLst/>
          </a:prstGeom>
          <a:noFill/>
          <a:ln/>
        </p:spPr>
        <p:txBody>
          <a:bodyPr wrap="square" rtlCol="0" anchor="ctr"/>
          <a:lstStyle/>
          <a:p>
            <a:pPr indent="0" marL="0">
              <a:buNone/>
            </a:pPr>
            <a:r>
              <a:rPr lang="en-US" sz="1400" b="1" dirty="0">
                <a:solidFill>
                  <a:srgbClr val="00B4D8"/>
                </a:solidFill>
                <a:latin typeface="Georgia" pitchFamily="34" charset="0"/>
                <a:ea typeface="Georgia" pitchFamily="34" charset="-122"/>
                <a:cs typeface="Georgia" pitchFamily="34" charset="-120"/>
              </a:rPr>
              <a:t>Use Cases</a:t>
            </a:r>
            <a:endParaRPr lang="en-US" sz="1400" dirty="0"/>
          </a:p>
        </p:txBody>
      </p:sp>
      <p:sp>
        <p:nvSpPr>
          <p:cNvPr id="10" name="Text 8"/>
          <p:cNvSpPr/>
          <p:nvPr/>
        </p:nvSpPr>
        <p:spPr>
          <a:xfrm>
            <a:off x="5120640" y="1828800"/>
            <a:ext cx="3566160" cy="2651760"/>
          </a:xfrm>
          <a:prstGeom prst="rect">
            <a:avLst/>
          </a:prstGeom>
          <a:noFill/>
          <a:ln/>
        </p:spPr>
        <p:txBody>
          <a:bodyPr wrap="square" rtlCol="0" anchor="ctr"/>
          <a:lstStyle/>
          <a:p>
            <a:pPr indent="0" marL="0">
              <a:buNone/>
            </a:pPr>
            <a:r>
              <a:rPr lang="en-US" sz="1200" dirty="0">
                <a:solidFill>
                  <a:srgbClr val="1A1A2E"/>
                </a:solidFill>
                <a:latin typeface="Calibri" pitchFamily="34" charset="0"/>
                <a:ea typeface="Calibri" pitchFamily="34" charset="-122"/>
                <a:cs typeface="Calibri" pitchFamily="34" charset="-120"/>
              </a:rPr>
              <a:t>Path finding with varying edge costs</a:t>
            </a:r>
            <a:pPr indent="0" marL="0">
              <a:buNone/>
            </a:pPr>
            <a:r>
              <a:rPr lang="en-US" sz="1200" dirty="0">
                <a:solidFill>
                  <a:srgbClr val="1A1A2E"/>
                </a:solidFill>
                <a:latin typeface="Calibri" pitchFamily="34" charset="0"/>
                <a:ea typeface="Calibri" pitchFamily="34" charset="-122"/>
                <a:cs typeface="Calibri" pitchFamily="34" charset="-120"/>
              </a:rPr>
              <a:t>Network routing optimization</a:t>
            </a:r>
            <a:pPr indent="0" marL="0">
              <a:buNone/>
            </a:pPr>
            <a:r>
              <a:rPr lang="en-US" sz="1200" dirty="0">
                <a:solidFill>
                  <a:srgbClr val="1A1A2E"/>
                </a:solidFill>
                <a:latin typeface="Calibri" pitchFamily="34" charset="0"/>
                <a:ea typeface="Calibri" pitchFamily="34" charset="-122"/>
                <a:cs typeface="Calibri" pitchFamily="34" charset="-120"/>
              </a:rPr>
              <a:t>Cost-sensitive planning problems</a:t>
            </a:r>
            <a:pPr indent="0" marL="0">
              <a:buNone/>
            </a:pPr>
            <a:r>
              <a:rPr lang="en-US" sz="1200" dirty="0">
                <a:solidFill>
                  <a:srgbClr val="1A1A2E"/>
                </a:solidFill>
                <a:latin typeface="Calibri" pitchFamily="34" charset="0"/>
                <a:ea typeface="Calibri" pitchFamily="34" charset="-122"/>
                <a:cs typeface="Calibri" pitchFamily="34" charset="-120"/>
              </a:rPr>
              <a:t>When shortest path ≠ minimum cost</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8F4F8"/>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4000" b="1" dirty="0">
                <a:solidFill>
                  <a:srgbClr val="0D1B2A"/>
                </a:solidFill>
                <a:latin typeface="Georgia" pitchFamily="34" charset="0"/>
                <a:ea typeface="Georgia" pitchFamily="34" charset="-122"/>
                <a:cs typeface="Georgia" pitchFamily="34" charset="-120"/>
              </a:rPr>
              <a:t>Informed Search: Using Heuristics</a:t>
            </a:r>
            <a:endParaRPr lang="en-US" sz="4000" dirty="0"/>
          </a:p>
        </p:txBody>
      </p:sp>
      <p:sp>
        <p:nvSpPr>
          <p:cNvPr id="3" name="Shape 1"/>
          <p:cNvSpPr/>
          <p:nvPr/>
        </p:nvSpPr>
        <p:spPr>
          <a:xfrm>
            <a:off x="457200" y="1188720"/>
            <a:ext cx="4114800" cy="3566160"/>
          </a:xfrm>
          <a:prstGeom prst="rect">
            <a:avLst/>
          </a:prstGeom>
          <a:solidFill>
            <a:srgbClr val="FFFFFF"/>
          </a:solidFill>
          <a:ln w="25400">
            <a:solidFill>
              <a:srgbClr val="2E86AB"/>
            </a:solidFill>
            <a:prstDash val="solid"/>
          </a:ln>
        </p:spPr>
      </p:sp>
      <p:sp>
        <p:nvSpPr>
          <p:cNvPr id="4" name="Text 2"/>
          <p:cNvSpPr/>
          <p:nvPr/>
        </p:nvSpPr>
        <p:spPr>
          <a:xfrm>
            <a:off x="640080" y="1371600"/>
            <a:ext cx="3749040" cy="274320"/>
          </a:xfrm>
          <a:prstGeom prst="rect">
            <a:avLst/>
          </a:prstGeom>
          <a:noFill/>
          <a:ln/>
        </p:spPr>
        <p:txBody>
          <a:bodyPr wrap="square" rtlCol="0" anchor="ctr"/>
          <a:lstStyle/>
          <a:p>
            <a:pPr indent="0" marL="0">
              <a:buNone/>
            </a:pPr>
            <a:r>
              <a:rPr lang="en-US" sz="1400" b="1" dirty="0">
                <a:solidFill>
                  <a:srgbClr val="2E86AB"/>
                </a:solidFill>
                <a:latin typeface="Georgia" pitchFamily="34" charset="0"/>
                <a:ea typeface="Georgia" pitchFamily="34" charset="-122"/>
                <a:cs typeface="Georgia" pitchFamily="34" charset="-120"/>
              </a:rPr>
              <a:t>Heuristics</a:t>
            </a:r>
            <a:endParaRPr lang="en-US" sz="1400" dirty="0"/>
          </a:p>
        </p:txBody>
      </p:sp>
      <p:sp>
        <p:nvSpPr>
          <p:cNvPr id="5" name="Text 3"/>
          <p:cNvSpPr/>
          <p:nvPr/>
        </p:nvSpPr>
        <p:spPr>
          <a:xfrm>
            <a:off x="731520" y="1828800"/>
            <a:ext cx="3566160" cy="1920240"/>
          </a:xfrm>
          <a:prstGeom prst="rect">
            <a:avLst/>
          </a:prstGeom>
          <a:noFill/>
          <a:ln/>
        </p:spPr>
        <p:txBody>
          <a:bodyPr wrap="square" rtlCol="0" anchor="ctr"/>
          <a:lstStyle/>
          <a:p>
            <a:pPr indent="0" marL="0">
              <a:buNone/>
            </a:pPr>
            <a:r>
              <a:rPr lang="en-US" sz="1200" dirty="0">
                <a:solidFill>
                  <a:srgbClr val="1A1A2E"/>
                </a:solidFill>
                <a:latin typeface="Calibri" pitchFamily="34" charset="0"/>
                <a:ea typeface="Calibri" pitchFamily="34" charset="-122"/>
                <a:cs typeface="Calibri" pitchFamily="34" charset="-120"/>
              </a:rPr>
              <a:t>Domain-specific knowledge to guide search</a:t>
            </a:r>
            <a:pPr indent="0" marL="0">
              <a:buNone/>
            </a:pPr>
            <a:r>
              <a:rPr lang="en-US" sz="1200" dirty="0">
                <a:solidFill>
                  <a:srgbClr val="1A1A2E"/>
                </a:solidFill>
                <a:latin typeface="Calibri" pitchFamily="34" charset="0"/>
                <a:ea typeface="Calibri" pitchFamily="34" charset="-122"/>
                <a:cs typeface="Calibri" pitchFamily="34" charset="-120"/>
              </a:rPr>
              <a:t>Estimate distance to goal</a:t>
            </a:r>
            <a:pPr indent="0" marL="0">
              <a:buNone/>
            </a:pPr>
            <a:r>
              <a:rPr lang="en-US" sz="1200" dirty="0">
                <a:solidFill>
                  <a:srgbClr val="1A1A2E"/>
                </a:solidFill>
                <a:latin typeface="Calibri" pitchFamily="34" charset="0"/>
                <a:ea typeface="Calibri" pitchFamily="34" charset="-122"/>
                <a:cs typeface="Calibri" pitchFamily="34" charset="-120"/>
              </a:rPr>
              <a:t>Can dramatically reduce search space</a:t>
            </a:r>
            <a:pPr indent="0" marL="0">
              <a:buNone/>
            </a:pPr>
            <a:r>
              <a:rPr lang="en-US" sz="1200" dirty="0">
                <a:solidFill>
                  <a:srgbClr val="1A1A2E"/>
                </a:solidFill>
                <a:latin typeface="Calibri" pitchFamily="34" charset="0"/>
                <a:ea typeface="Calibri" pitchFamily="34" charset="-122"/>
                <a:cs typeface="Calibri" pitchFamily="34" charset="-120"/>
              </a:rPr>
              <a:t>Example: straight-line distance in maps</a:t>
            </a:r>
            <a:endParaRPr lang="en-US" sz="1200" dirty="0"/>
          </a:p>
        </p:txBody>
      </p:sp>
      <p:sp>
        <p:nvSpPr>
          <p:cNvPr id="6" name="Shape 4"/>
          <p:cNvSpPr/>
          <p:nvPr/>
        </p:nvSpPr>
        <p:spPr>
          <a:xfrm>
            <a:off x="4846320" y="1188720"/>
            <a:ext cx="3840480" cy="3566160"/>
          </a:xfrm>
          <a:prstGeom prst="rect">
            <a:avLst/>
          </a:prstGeom>
          <a:solidFill>
            <a:srgbClr val="FFFFFF"/>
          </a:solidFill>
          <a:ln w="25400">
            <a:solidFill>
              <a:srgbClr val="00B4D8"/>
            </a:solidFill>
            <a:prstDash val="solid"/>
          </a:ln>
        </p:spPr>
      </p:sp>
      <p:sp>
        <p:nvSpPr>
          <p:cNvPr id="7" name="Text 5"/>
          <p:cNvSpPr/>
          <p:nvPr/>
        </p:nvSpPr>
        <p:spPr>
          <a:xfrm>
            <a:off x="5029200" y="1371600"/>
            <a:ext cx="3474720" cy="274320"/>
          </a:xfrm>
          <a:prstGeom prst="rect">
            <a:avLst/>
          </a:prstGeom>
          <a:noFill/>
          <a:ln/>
        </p:spPr>
        <p:txBody>
          <a:bodyPr wrap="square" rtlCol="0" anchor="ctr"/>
          <a:lstStyle/>
          <a:p>
            <a:pPr indent="0" marL="0">
              <a:buNone/>
            </a:pPr>
            <a:r>
              <a:rPr lang="en-US" sz="1400" b="1" dirty="0">
                <a:solidFill>
                  <a:srgbClr val="00B4D8"/>
                </a:solidFill>
                <a:latin typeface="Georgia" pitchFamily="34" charset="0"/>
                <a:ea typeface="Georgia" pitchFamily="34" charset="-122"/>
                <a:cs typeface="Georgia" pitchFamily="34" charset="-120"/>
              </a:rPr>
              <a:t>Greedy Best-First Search</a:t>
            </a:r>
            <a:endParaRPr lang="en-US" sz="1400" dirty="0"/>
          </a:p>
        </p:txBody>
      </p:sp>
      <p:sp>
        <p:nvSpPr>
          <p:cNvPr id="8" name="Text 6"/>
          <p:cNvSpPr/>
          <p:nvPr/>
        </p:nvSpPr>
        <p:spPr>
          <a:xfrm>
            <a:off x="5120640" y="1828800"/>
            <a:ext cx="3566160" cy="1920240"/>
          </a:xfrm>
          <a:prstGeom prst="rect">
            <a:avLst/>
          </a:prstGeom>
          <a:noFill/>
          <a:ln/>
        </p:spPr>
        <p:txBody>
          <a:bodyPr wrap="square" rtlCol="0" anchor="ctr"/>
          <a:lstStyle/>
          <a:p>
            <a:pPr indent="0" marL="0">
              <a:buNone/>
            </a:pPr>
            <a:r>
              <a:rPr lang="en-US" sz="1200" dirty="0">
                <a:solidFill>
                  <a:srgbClr val="1A1A2E"/>
                </a:solidFill>
                <a:latin typeface="Calibri" pitchFamily="34" charset="0"/>
                <a:ea typeface="Calibri" pitchFamily="34" charset="-122"/>
                <a:cs typeface="Calibri" pitchFamily="34" charset="-120"/>
              </a:rPr>
              <a:t>Expands most promising node</a:t>
            </a:r>
            <a:pPr indent="0" marL="0">
              <a:buNone/>
            </a:pPr>
            <a:r>
              <a:rPr lang="en-US" sz="1200" dirty="0">
                <a:solidFill>
                  <a:srgbClr val="1A1A2E"/>
                </a:solidFill>
                <a:latin typeface="Calibri" pitchFamily="34" charset="0"/>
                <a:ea typeface="Calibri" pitchFamily="34" charset="-122"/>
                <a:cs typeface="Calibri" pitchFamily="34" charset="-120"/>
              </a:rPr>
              <a:t>Uses heuristic h(n) = est. cost to goal</a:t>
            </a:r>
            <a:pPr indent="0" marL="0">
              <a:buNone/>
            </a:pPr>
            <a:r>
              <a:rPr lang="en-US" sz="1200" dirty="0">
                <a:solidFill>
                  <a:srgbClr val="1A1A2E"/>
                </a:solidFill>
                <a:latin typeface="Calibri" pitchFamily="34" charset="0"/>
                <a:ea typeface="Calibri" pitchFamily="34" charset="-122"/>
                <a:cs typeface="Calibri" pitchFamily="34" charset="-120"/>
              </a:rPr>
              <a:t>Fast but not always optimal</a:t>
            </a:r>
            <a:pPr indent="0" marL="0">
              <a:buNone/>
            </a:pPr>
            <a:r>
              <a:rPr lang="en-US" sz="1200" dirty="0">
                <a:solidFill>
                  <a:srgbClr val="1A1A2E"/>
                </a:solidFill>
                <a:latin typeface="Calibri" pitchFamily="34" charset="0"/>
                <a:ea typeface="Calibri" pitchFamily="34" charset="-122"/>
                <a:cs typeface="Calibri" pitchFamily="34" charset="-120"/>
              </a:rPr>
              <a:t>Can get stuck in local minima</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E8F4F8"/>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4000" b="1" dirty="0">
                <a:solidFill>
                  <a:srgbClr val="0D1B2A"/>
                </a:solidFill>
                <a:latin typeface="Georgia" pitchFamily="34" charset="0"/>
                <a:ea typeface="Georgia" pitchFamily="34" charset="-122"/>
                <a:cs typeface="Georgia" pitchFamily="34" charset="-120"/>
              </a:rPr>
              <a:t>A* Algorithm: Best of Both Worlds</a:t>
            </a:r>
            <a:endParaRPr lang="en-US" sz="4000" dirty="0"/>
          </a:p>
        </p:txBody>
      </p:sp>
      <p:sp>
        <p:nvSpPr>
          <p:cNvPr id="3" name="Shape 1"/>
          <p:cNvSpPr/>
          <p:nvPr/>
        </p:nvSpPr>
        <p:spPr>
          <a:xfrm>
            <a:off x="457200" y="1188720"/>
            <a:ext cx="8229600" cy="914400"/>
          </a:xfrm>
          <a:prstGeom prst="rect">
            <a:avLst/>
          </a:prstGeom>
          <a:solidFill>
            <a:srgbClr val="2E86AB"/>
          </a:solidFill>
          <a:ln/>
        </p:spPr>
      </p:sp>
      <p:sp>
        <p:nvSpPr>
          <p:cNvPr id="4" name="Text 2"/>
          <p:cNvSpPr/>
          <p:nvPr/>
        </p:nvSpPr>
        <p:spPr>
          <a:xfrm>
            <a:off x="640080" y="1234440"/>
            <a:ext cx="7863840" cy="822960"/>
          </a:xfrm>
          <a:prstGeom prst="rect">
            <a:avLst/>
          </a:prstGeom>
          <a:noFill/>
          <a:ln/>
        </p:spPr>
        <p:txBody>
          <a:bodyPr wrap="square" rtlCol="0" anchor="ctr"/>
          <a:lstStyle/>
          <a:p>
            <a:pPr algn="ctr" indent="0" marL="0">
              <a:buNone/>
            </a:pPr>
            <a:r>
              <a:rPr lang="en-US" sz="3600" b="1" dirty="0">
                <a:solidFill>
                  <a:srgbClr val="FFFFFF"/>
                </a:solidFill>
                <a:latin typeface="Georgia" pitchFamily="34" charset="0"/>
                <a:ea typeface="Georgia" pitchFamily="34" charset="-122"/>
                <a:cs typeface="Georgia" pitchFamily="34" charset="-120"/>
              </a:rPr>
              <a:t>f(n) = g(n) + h(n)</a:t>
            </a:r>
            <a:endParaRPr lang="en-US" sz="3600" dirty="0"/>
          </a:p>
        </p:txBody>
      </p:sp>
      <p:sp>
        <p:nvSpPr>
          <p:cNvPr id="5" name="Text 3"/>
          <p:cNvSpPr/>
          <p:nvPr/>
        </p:nvSpPr>
        <p:spPr>
          <a:xfrm>
            <a:off x="731520" y="2286000"/>
            <a:ext cx="3657600" cy="320040"/>
          </a:xfrm>
          <a:prstGeom prst="rect">
            <a:avLst/>
          </a:prstGeom>
          <a:noFill/>
          <a:ln/>
        </p:spPr>
        <p:txBody>
          <a:bodyPr wrap="square" rtlCol="0" anchor="ctr"/>
          <a:lstStyle/>
          <a:p>
            <a:pPr indent="0" marL="0">
              <a:buNone/>
            </a:pPr>
            <a:r>
              <a:rPr lang="en-US" sz="1300" dirty="0">
                <a:solidFill>
                  <a:srgbClr val="1A1A2E"/>
                </a:solidFill>
                <a:latin typeface="Calibri" pitchFamily="34" charset="0"/>
                <a:ea typeface="Calibri" pitchFamily="34" charset="-122"/>
                <a:cs typeface="Calibri" pitchFamily="34" charset="-120"/>
              </a:rPr>
              <a:t>g(n) = actual cost from start</a:t>
            </a:r>
            <a:endParaRPr lang="en-US" sz="1300" dirty="0"/>
          </a:p>
        </p:txBody>
      </p:sp>
      <p:sp>
        <p:nvSpPr>
          <p:cNvPr id="6" name="Text 4"/>
          <p:cNvSpPr/>
          <p:nvPr/>
        </p:nvSpPr>
        <p:spPr>
          <a:xfrm>
            <a:off x="4754880" y="2286000"/>
            <a:ext cx="3657600" cy="320040"/>
          </a:xfrm>
          <a:prstGeom prst="rect">
            <a:avLst/>
          </a:prstGeom>
          <a:noFill/>
          <a:ln/>
        </p:spPr>
        <p:txBody>
          <a:bodyPr wrap="square" rtlCol="0" anchor="ctr"/>
          <a:lstStyle/>
          <a:p>
            <a:pPr indent="0" marL="0">
              <a:buNone/>
            </a:pPr>
            <a:r>
              <a:rPr lang="en-US" sz="1300" dirty="0">
                <a:solidFill>
                  <a:srgbClr val="1A1A2E"/>
                </a:solidFill>
                <a:latin typeface="Calibri" pitchFamily="34" charset="0"/>
                <a:ea typeface="Calibri" pitchFamily="34" charset="-122"/>
                <a:cs typeface="Calibri" pitchFamily="34" charset="-120"/>
              </a:rPr>
              <a:t>h(n) = estimated cost to goal</a:t>
            </a:r>
            <a:endParaRPr lang="en-US" sz="1300" dirty="0"/>
          </a:p>
        </p:txBody>
      </p:sp>
      <p:sp>
        <p:nvSpPr>
          <p:cNvPr id="7" name="Text 5"/>
          <p:cNvSpPr/>
          <p:nvPr/>
        </p:nvSpPr>
        <p:spPr>
          <a:xfrm>
            <a:off x="731520" y="2834640"/>
            <a:ext cx="7680960" cy="320040"/>
          </a:xfrm>
          <a:prstGeom prst="rect">
            <a:avLst/>
          </a:prstGeom>
          <a:noFill/>
          <a:ln/>
        </p:spPr>
        <p:txBody>
          <a:bodyPr wrap="square" rtlCol="0" anchor="ctr"/>
          <a:lstStyle/>
          <a:p>
            <a:pPr indent="0" marL="0">
              <a:buNone/>
            </a:pPr>
            <a:r>
              <a:rPr lang="en-US" sz="1300" dirty="0">
                <a:solidFill>
                  <a:srgbClr val="1A1A2E"/>
                </a:solidFill>
                <a:latin typeface="Calibri" pitchFamily="34" charset="0"/>
                <a:ea typeface="Calibri" pitchFamily="34" charset="-122"/>
                <a:cs typeface="Calibri" pitchFamily="34" charset="-120"/>
              </a:rPr>
              <a:t>Combines Dijkstra and Greedy algorithms</a:t>
            </a:r>
            <a:endParaRPr lang="en-US" sz="1300" dirty="0"/>
          </a:p>
        </p:txBody>
      </p:sp>
      <p:sp>
        <p:nvSpPr>
          <p:cNvPr id="8" name="Text 6"/>
          <p:cNvSpPr/>
          <p:nvPr/>
        </p:nvSpPr>
        <p:spPr>
          <a:xfrm>
            <a:off x="731520" y="3291840"/>
            <a:ext cx="7680960" cy="1371600"/>
          </a:xfrm>
          <a:prstGeom prst="rect">
            <a:avLst/>
          </a:prstGeom>
          <a:noFill/>
          <a:ln/>
        </p:spPr>
        <p:txBody>
          <a:bodyPr wrap="square" rtlCol="0" anchor="ctr"/>
          <a:lstStyle/>
          <a:p>
            <a:pPr indent="0" marL="0">
              <a:buNone/>
            </a:pPr>
            <a:r>
              <a:rPr lang="en-US" sz="1200" dirty="0">
                <a:solidFill>
                  <a:srgbClr val="1A1A2E"/>
                </a:solidFill>
                <a:latin typeface="Calibri" pitchFamily="34" charset="0"/>
                <a:ea typeface="Calibri" pitchFamily="34" charset="-122"/>
                <a:cs typeface="Calibri" pitchFamily="34" charset="-120"/>
              </a:rPr>
              <a:t>Complete and optimal with admissible heuristics</a:t>
            </a:r>
            <a:pPr indent="0" marL="0">
              <a:buNone/>
            </a:pPr>
            <a:r>
              <a:rPr lang="en-US" sz="1200" dirty="0">
                <a:solidFill>
                  <a:srgbClr val="1A1A2E"/>
                </a:solidFill>
                <a:latin typeface="Calibri" pitchFamily="34" charset="0"/>
                <a:ea typeface="Calibri" pitchFamily="34" charset="-122"/>
                <a:cs typeface="Calibri" pitchFamily="34" charset="-120"/>
              </a:rPr>
              <a:t>Much faster than uninformed search</a:t>
            </a:r>
            <a:pPr indent="0" marL="0">
              <a:buNone/>
            </a:pPr>
            <a:r>
              <a:rPr lang="en-US" sz="1200" dirty="0">
                <a:solidFill>
                  <a:srgbClr val="1A1A2E"/>
                </a:solidFill>
                <a:latin typeface="Calibri" pitchFamily="34" charset="0"/>
                <a:ea typeface="Calibri" pitchFamily="34" charset="-122"/>
                <a:cs typeface="Calibri" pitchFamily="34" charset="-120"/>
              </a:rPr>
              <a:t>Practical for many real-world problems</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E8F4F8"/>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4000" b="1" dirty="0">
                <a:solidFill>
                  <a:srgbClr val="0D1B2A"/>
                </a:solidFill>
                <a:latin typeface="Georgia" pitchFamily="34" charset="0"/>
                <a:ea typeface="Georgia" pitchFamily="34" charset="-122"/>
                <a:cs typeface="Georgia" pitchFamily="34" charset="-120"/>
              </a:rPr>
              <a:t>Search Algorithm Comparison</a:t>
            </a:r>
            <a:endParaRPr lang="en-US" sz="4000" dirty="0"/>
          </a:p>
        </p:txBody>
      </p:sp>
      <p:sp>
        <p:nvSpPr>
          <p:cNvPr id="3" name="Shape 1"/>
          <p:cNvSpPr/>
          <p:nvPr/>
        </p:nvSpPr>
        <p:spPr>
          <a:xfrm>
            <a:off x="365760" y="1097280"/>
            <a:ext cx="8412480" cy="3657600"/>
          </a:xfrm>
          <a:prstGeom prst="rect">
            <a:avLst/>
          </a:prstGeom>
          <a:solidFill>
            <a:srgbClr val="FFFFFF"/>
          </a:solidFill>
          <a:ln w="12700">
            <a:solidFill>
              <a:srgbClr val="1B3A5C"/>
            </a:solidFill>
            <a:prstDash val="solid"/>
          </a:ln>
        </p:spPr>
      </p:sp>
      <p:sp>
        <p:nvSpPr>
          <p:cNvPr id="4" name="Shape 2"/>
          <p:cNvSpPr/>
          <p:nvPr/>
        </p:nvSpPr>
        <p:spPr>
          <a:xfrm>
            <a:off x="457200" y="1188720"/>
            <a:ext cx="1554480" cy="320040"/>
          </a:xfrm>
          <a:prstGeom prst="rect">
            <a:avLst/>
          </a:prstGeom>
          <a:solidFill>
            <a:srgbClr val="1B3A5C"/>
          </a:solidFill>
          <a:ln/>
        </p:spPr>
      </p:sp>
      <p:sp>
        <p:nvSpPr>
          <p:cNvPr id="5" name="Text 3"/>
          <p:cNvSpPr/>
          <p:nvPr/>
        </p:nvSpPr>
        <p:spPr>
          <a:xfrm>
            <a:off x="457200" y="1207008"/>
            <a:ext cx="1554480" cy="283464"/>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Algorithm</a:t>
            </a:r>
            <a:endParaRPr lang="en-US" sz="1100" dirty="0"/>
          </a:p>
        </p:txBody>
      </p:sp>
      <p:sp>
        <p:nvSpPr>
          <p:cNvPr id="6" name="Shape 4"/>
          <p:cNvSpPr/>
          <p:nvPr/>
        </p:nvSpPr>
        <p:spPr>
          <a:xfrm>
            <a:off x="2103120" y="1188720"/>
            <a:ext cx="1554480" cy="320040"/>
          </a:xfrm>
          <a:prstGeom prst="rect">
            <a:avLst/>
          </a:prstGeom>
          <a:solidFill>
            <a:srgbClr val="1B3A5C"/>
          </a:solidFill>
          <a:ln/>
        </p:spPr>
      </p:sp>
      <p:sp>
        <p:nvSpPr>
          <p:cNvPr id="7" name="Text 5"/>
          <p:cNvSpPr/>
          <p:nvPr/>
        </p:nvSpPr>
        <p:spPr>
          <a:xfrm>
            <a:off x="2103120" y="1207008"/>
            <a:ext cx="1554480" cy="283464"/>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Complete?</a:t>
            </a:r>
            <a:endParaRPr lang="en-US" sz="1100" dirty="0"/>
          </a:p>
        </p:txBody>
      </p:sp>
      <p:sp>
        <p:nvSpPr>
          <p:cNvPr id="8" name="Shape 6"/>
          <p:cNvSpPr/>
          <p:nvPr/>
        </p:nvSpPr>
        <p:spPr>
          <a:xfrm>
            <a:off x="3749040" y="1188720"/>
            <a:ext cx="1554480" cy="320040"/>
          </a:xfrm>
          <a:prstGeom prst="rect">
            <a:avLst/>
          </a:prstGeom>
          <a:solidFill>
            <a:srgbClr val="1B3A5C"/>
          </a:solidFill>
          <a:ln/>
        </p:spPr>
      </p:sp>
      <p:sp>
        <p:nvSpPr>
          <p:cNvPr id="9" name="Text 7"/>
          <p:cNvSpPr/>
          <p:nvPr/>
        </p:nvSpPr>
        <p:spPr>
          <a:xfrm>
            <a:off x="3749040" y="1207008"/>
            <a:ext cx="1554480" cy="283464"/>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Optimal?</a:t>
            </a:r>
            <a:endParaRPr lang="en-US" sz="1100" dirty="0"/>
          </a:p>
        </p:txBody>
      </p:sp>
      <p:sp>
        <p:nvSpPr>
          <p:cNvPr id="10" name="Shape 8"/>
          <p:cNvSpPr/>
          <p:nvPr/>
        </p:nvSpPr>
        <p:spPr>
          <a:xfrm>
            <a:off x="5394960" y="1188720"/>
            <a:ext cx="1554480" cy="320040"/>
          </a:xfrm>
          <a:prstGeom prst="rect">
            <a:avLst/>
          </a:prstGeom>
          <a:solidFill>
            <a:srgbClr val="1B3A5C"/>
          </a:solidFill>
          <a:ln/>
        </p:spPr>
      </p:sp>
      <p:sp>
        <p:nvSpPr>
          <p:cNvPr id="11" name="Text 9"/>
          <p:cNvSpPr/>
          <p:nvPr/>
        </p:nvSpPr>
        <p:spPr>
          <a:xfrm>
            <a:off x="5394960" y="1207008"/>
            <a:ext cx="1554480" cy="283464"/>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Time</a:t>
            </a:r>
            <a:endParaRPr lang="en-US" sz="1100" dirty="0"/>
          </a:p>
        </p:txBody>
      </p:sp>
      <p:sp>
        <p:nvSpPr>
          <p:cNvPr id="12" name="Shape 10"/>
          <p:cNvSpPr/>
          <p:nvPr/>
        </p:nvSpPr>
        <p:spPr>
          <a:xfrm>
            <a:off x="7040880" y="1188720"/>
            <a:ext cx="1554480" cy="320040"/>
          </a:xfrm>
          <a:prstGeom prst="rect">
            <a:avLst/>
          </a:prstGeom>
          <a:solidFill>
            <a:srgbClr val="1B3A5C"/>
          </a:solidFill>
          <a:ln/>
        </p:spPr>
      </p:sp>
      <p:sp>
        <p:nvSpPr>
          <p:cNvPr id="13" name="Text 11"/>
          <p:cNvSpPr/>
          <p:nvPr/>
        </p:nvSpPr>
        <p:spPr>
          <a:xfrm>
            <a:off x="7040880" y="1207008"/>
            <a:ext cx="1554480" cy="283464"/>
          </a:xfrm>
          <a:prstGeom prst="rect">
            <a:avLst/>
          </a:prstGeom>
          <a:noFill/>
          <a:ln/>
        </p:spPr>
        <p:txBody>
          <a:bodyPr wrap="square" rtlCol="0" anchor="ctr"/>
          <a:lstStyle/>
          <a:p>
            <a:pPr algn="ctr" indent="0" marL="0">
              <a:buNone/>
            </a:pPr>
            <a:r>
              <a:rPr lang="en-US" sz="1100" b="1" dirty="0">
                <a:solidFill>
                  <a:srgbClr val="FFFFFF"/>
                </a:solidFill>
                <a:latin typeface="Georgia" pitchFamily="34" charset="0"/>
                <a:ea typeface="Georgia" pitchFamily="34" charset="-122"/>
                <a:cs typeface="Georgia" pitchFamily="34" charset="-120"/>
              </a:rPr>
              <a:t>Space</a:t>
            </a:r>
            <a:endParaRPr lang="en-US" sz="1100" dirty="0"/>
          </a:p>
        </p:txBody>
      </p:sp>
      <p:sp>
        <p:nvSpPr>
          <p:cNvPr id="14" name="Shape 12"/>
          <p:cNvSpPr/>
          <p:nvPr/>
        </p:nvSpPr>
        <p:spPr>
          <a:xfrm>
            <a:off x="457200" y="1554480"/>
            <a:ext cx="1554480" cy="548640"/>
          </a:xfrm>
          <a:prstGeom prst="rect">
            <a:avLst/>
          </a:prstGeom>
          <a:solidFill>
            <a:srgbClr val="E8F4F8"/>
          </a:solidFill>
          <a:ln w="6350">
            <a:solidFill>
              <a:srgbClr val="CCCCCC"/>
            </a:solidFill>
            <a:prstDash val="solid"/>
          </a:ln>
        </p:spPr>
      </p:sp>
      <p:sp>
        <p:nvSpPr>
          <p:cNvPr id="15" name="Text 13"/>
          <p:cNvSpPr/>
          <p:nvPr/>
        </p:nvSpPr>
        <p:spPr>
          <a:xfrm>
            <a:off x="502920" y="1600200"/>
            <a:ext cx="1463040" cy="457200"/>
          </a:xfrm>
          <a:prstGeom prst="rect">
            <a:avLst/>
          </a:prstGeom>
          <a:noFill/>
          <a:ln/>
        </p:spPr>
        <p:txBody>
          <a:bodyPr wrap="square" rtlCol="0" anchor="ctr"/>
          <a:lstStyle/>
          <a:p>
            <a:pPr algn="ctr" indent="0" marL="0">
              <a:buNone/>
            </a:pPr>
            <a:r>
              <a:rPr lang="en-US" sz="1000" dirty="0">
                <a:solidFill>
                  <a:srgbClr val="1A1A2E"/>
                </a:solidFill>
                <a:latin typeface="Calibri" pitchFamily="34" charset="0"/>
                <a:ea typeface="Calibri" pitchFamily="34" charset="-122"/>
                <a:cs typeface="Calibri" pitchFamily="34" charset="-120"/>
              </a:rPr>
              <a:t>BFS</a:t>
            </a:r>
            <a:endParaRPr lang="en-US" sz="1000" dirty="0"/>
          </a:p>
        </p:txBody>
      </p:sp>
      <p:sp>
        <p:nvSpPr>
          <p:cNvPr id="16" name="Shape 14"/>
          <p:cNvSpPr/>
          <p:nvPr/>
        </p:nvSpPr>
        <p:spPr>
          <a:xfrm>
            <a:off x="2103120" y="1554480"/>
            <a:ext cx="1554480" cy="548640"/>
          </a:xfrm>
          <a:prstGeom prst="rect">
            <a:avLst/>
          </a:prstGeom>
          <a:solidFill>
            <a:srgbClr val="E8F4F8"/>
          </a:solidFill>
          <a:ln w="6350">
            <a:solidFill>
              <a:srgbClr val="CCCCCC"/>
            </a:solidFill>
            <a:prstDash val="solid"/>
          </a:ln>
        </p:spPr>
      </p:sp>
      <p:sp>
        <p:nvSpPr>
          <p:cNvPr id="17" name="Text 15"/>
          <p:cNvSpPr/>
          <p:nvPr/>
        </p:nvSpPr>
        <p:spPr>
          <a:xfrm>
            <a:off x="2148840" y="1600200"/>
            <a:ext cx="1463040" cy="457200"/>
          </a:xfrm>
          <a:prstGeom prst="rect">
            <a:avLst/>
          </a:prstGeom>
          <a:noFill/>
          <a:ln/>
        </p:spPr>
        <p:txBody>
          <a:bodyPr wrap="square" rtlCol="0" anchor="ctr"/>
          <a:lstStyle/>
          <a:p>
            <a:pPr algn="ctr" indent="0" marL="0">
              <a:buNone/>
            </a:pPr>
            <a:r>
              <a:rPr lang="en-US" sz="1000" dirty="0">
                <a:solidFill>
                  <a:srgbClr val="1A1A2E"/>
                </a:solidFill>
                <a:latin typeface="Calibri" pitchFamily="34" charset="0"/>
                <a:ea typeface="Calibri" pitchFamily="34" charset="-122"/>
                <a:cs typeface="Calibri" pitchFamily="34" charset="-120"/>
              </a:rPr>
              <a:t>Yes</a:t>
            </a:r>
            <a:endParaRPr lang="en-US" sz="1000" dirty="0"/>
          </a:p>
        </p:txBody>
      </p:sp>
      <p:sp>
        <p:nvSpPr>
          <p:cNvPr id="18" name="Shape 16"/>
          <p:cNvSpPr/>
          <p:nvPr/>
        </p:nvSpPr>
        <p:spPr>
          <a:xfrm>
            <a:off x="3749040" y="1554480"/>
            <a:ext cx="1554480" cy="548640"/>
          </a:xfrm>
          <a:prstGeom prst="rect">
            <a:avLst/>
          </a:prstGeom>
          <a:solidFill>
            <a:srgbClr val="E8F4F8"/>
          </a:solidFill>
          <a:ln w="6350">
            <a:solidFill>
              <a:srgbClr val="CCCCCC"/>
            </a:solidFill>
            <a:prstDash val="solid"/>
          </a:ln>
        </p:spPr>
      </p:sp>
      <p:sp>
        <p:nvSpPr>
          <p:cNvPr id="19" name="Text 17"/>
          <p:cNvSpPr/>
          <p:nvPr/>
        </p:nvSpPr>
        <p:spPr>
          <a:xfrm>
            <a:off x="3794760" y="1600200"/>
            <a:ext cx="1463040" cy="457200"/>
          </a:xfrm>
          <a:prstGeom prst="rect">
            <a:avLst/>
          </a:prstGeom>
          <a:noFill/>
          <a:ln/>
        </p:spPr>
        <p:txBody>
          <a:bodyPr wrap="square" rtlCol="0" anchor="ctr"/>
          <a:lstStyle/>
          <a:p>
            <a:pPr algn="ctr" indent="0" marL="0">
              <a:buNone/>
            </a:pPr>
            <a:r>
              <a:rPr lang="en-US" sz="1000" dirty="0">
                <a:solidFill>
                  <a:srgbClr val="1A1A2E"/>
                </a:solidFill>
                <a:latin typeface="Calibri" pitchFamily="34" charset="0"/>
                <a:ea typeface="Calibri" pitchFamily="34" charset="-122"/>
                <a:cs typeface="Calibri" pitchFamily="34" charset="-120"/>
              </a:rPr>
              <a:t>Yes*</a:t>
            </a:r>
            <a:endParaRPr lang="en-US" sz="1000" dirty="0"/>
          </a:p>
        </p:txBody>
      </p:sp>
      <p:sp>
        <p:nvSpPr>
          <p:cNvPr id="20" name="Shape 18"/>
          <p:cNvSpPr/>
          <p:nvPr/>
        </p:nvSpPr>
        <p:spPr>
          <a:xfrm>
            <a:off x="5394960" y="1554480"/>
            <a:ext cx="1554480" cy="548640"/>
          </a:xfrm>
          <a:prstGeom prst="rect">
            <a:avLst/>
          </a:prstGeom>
          <a:solidFill>
            <a:srgbClr val="E8F4F8"/>
          </a:solidFill>
          <a:ln w="6350">
            <a:solidFill>
              <a:srgbClr val="CCCCCC"/>
            </a:solidFill>
            <a:prstDash val="solid"/>
          </a:ln>
        </p:spPr>
      </p:sp>
      <p:sp>
        <p:nvSpPr>
          <p:cNvPr id="21" name="Text 19"/>
          <p:cNvSpPr/>
          <p:nvPr/>
        </p:nvSpPr>
        <p:spPr>
          <a:xfrm>
            <a:off x="5440680" y="1600200"/>
            <a:ext cx="1463040" cy="457200"/>
          </a:xfrm>
          <a:prstGeom prst="rect">
            <a:avLst/>
          </a:prstGeom>
          <a:noFill/>
          <a:ln/>
        </p:spPr>
        <p:txBody>
          <a:bodyPr wrap="square" rtlCol="0" anchor="ctr"/>
          <a:lstStyle/>
          <a:p>
            <a:pPr algn="ctr" indent="0" marL="0">
              <a:buNone/>
            </a:pPr>
            <a:r>
              <a:rPr lang="en-US" sz="1000" dirty="0">
                <a:solidFill>
                  <a:srgbClr val="1A1A2E"/>
                </a:solidFill>
                <a:latin typeface="Calibri" pitchFamily="34" charset="0"/>
                <a:ea typeface="Calibri" pitchFamily="34" charset="-122"/>
                <a:cs typeface="Calibri" pitchFamily="34" charset="-120"/>
              </a:rPr>
              <a:t>O(b^d)</a:t>
            </a:r>
            <a:endParaRPr lang="en-US" sz="1000" dirty="0"/>
          </a:p>
        </p:txBody>
      </p:sp>
      <p:sp>
        <p:nvSpPr>
          <p:cNvPr id="22" name="Shape 20"/>
          <p:cNvSpPr/>
          <p:nvPr/>
        </p:nvSpPr>
        <p:spPr>
          <a:xfrm>
            <a:off x="7040880" y="1554480"/>
            <a:ext cx="1554480" cy="548640"/>
          </a:xfrm>
          <a:prstGeom prst="rect">
            <a:avLst/>
          </a:prstGeom>
          <a:solidFill>
            <a:srgbClr val="E8F4F8"/>
          </a:solidFill>
          <a:ln w="6350">
            <a:solidFill>
              <a:srgbClr val="CCCCCC"/>
            </a:solidFill>
            <a:prstDash val="solid"/>
          </a:ln>
        </p:spPr>
      </p:sp>
      <p:sp>
        <p:nvSpPr>
          <p:cNvPr id="23" name="Text 21"/>
          <p:cNvSpPr/>
          <p:nvPr/>
        </p:nvSpPr>
        <p:spPr>
          <a:xfrm>
            <a:off x="7086600" y="1600200"/>
            <a:ext cx="1463040" cy="457200"/>
          </a:xfrm>
          <a:prstGeom prst="rect">
            <a:avLst/>
          </a:prstGeom>
          <a:noFill/>
          <a:ln/>
        </p:spPr>
        <p:txBody>
          <a:bodyPr wrap="square" rtlCol="0" anchor="ctr"/>
          <a:lstStyle/>
          <a:p>
            <a:pPr algn="ctr" indent="0" marL="0">
              <a:buNone/>
            </a:pPr>
            <a:r>
              <a:rPr lang="en-US" sz="1000" dirty="0">
                <a:solidFill>
                  <a:srgbClr val="1A1A2E"/>
                </a:solidFill>
                <a:latin typeface="Calibri" pitchFamily="34" charset="0"/>
                <a:ea typeface="Calibri" pitchFamily="34" charset="-122"/>
                <a:cs typeface="Calibri" pitchFamily="34" charset="-120"/>
              </a:rPr>
              <a:t>O(b^d)</a:t>
            </a:r>
            <a:endParaRPr lang="en-US" sz="1000" dirty="0"/>
          </a:p>
        </p:txBody>
      </p:sp>
      <p:sp>
        <p:nvSpPr>
          <p:cNvPr id="24" name="Shape 22"/>
          <p:cNvSpPr/>
          <p:nvPr/>
        </p:nvSpPr>
        <p:spPr>
          <a:xfrm>
            <a:off x="457200" y="2121408"/>
            <a:ext cx="1554480" cy="548640"/>
          </a:xfrm>
          <a:prstGeom prst="rect">
            <a:avLst/>
          </a:prstGeom>
          <a:solidFill>
            <a:srgbClr val="FFFFFF"/>
          </a:solidFill>
          <a:ln w="6350">
            <a:solidFill>
              <a:srgbClr val="CCCCCC"/>
            </a:solidFill>
            <a:prstDash val="solid"/>
          </a:ln>
        </p:spPr>
      </p:sp>
      <p:sp>
        <p:nvSpPr>
          <p:cNvPr id="25" name="Text 23"/>
          <p:cNvSpPr/>
          <p:nvPr/>
        </p:nvSpPr>
        <p:spPr>
          <a:xfrm>
            <a:off x="502920" y="2167128"/>
            <a:ext cx="1463040" cy="457200"/>
          </a:xfrm>
          <a:prstGeom prst="rect">
            <a:avLst/>
          </a:prstGeom>
          <a:noFill/>
          <a:ln/>
        </p:spPr>
        <p:txBody>
          <a:bodyPr wrap="square" rtlCol="0" anchor="ctr"/>
          <a:lstStyle/>
          <a:p>
            <a:pPr algn="ctr" indent="0" marL="0">
              <a:buNone/>
            </a:pPr>
            <a:r>
              <a:rPr lang="en-US" sz="1000" dirty="0">
                <a:solidFill>
                  <a:srgbClr val="1A1A2E"/>
                </a:solidFill>
                <a:latin typeface="Calibri" pitchFamily="34" charset="0"/>
                <a:ea typeface="Calibri" pitchFamily="34" charset="-122"/>
                <a:cs typeface="Calibri" pitchFamily="34" charset="-120"/>
              </a:rPr>
              <a:t>DFS</a:t>
            </a:r>
            <a:endParaRPr lang="en-US" sz="1000" dirty="0"/>
          </a:p>
        </p:txBody>
      </p:sp>
      <p:sp>
        <p:nvSpPr>
          <p:cNvPr id="26" name="Shape 24"/>
          <p:cNvSpPr/>
          <p:nvPr/>
        </p:nvSpPr>
        <p:spPr>
          <a:xfrm>
            <a:off x="2103120" y="2121408"/>
            <a:ext cx="1554480" cy="548640"/>
          </a:xfrm>
          <a:prstGeom prst="rect">
            <a:avLst/>
          </a:prstGeom>
          <a:solidFill>
            <a:srgbClr val="FFFFFF"/>
          </a:solidFill>
          <a:ln w="6350">
            <a:solidFill>
              <a:srgbClr val="CCCCCC"/>
            </a:solidFill>
            <a:prstDash val="solid"/>
          </a:ln>
        </p:spPr>
      </p:sp>
      <p:sp>
        <p:nvSpPr>
          <p:cNvPr id="27" name="Text 25"/>
          <p:cNvSpPr/>
          <p:nvPr/>
        </p:nvSpPr>
        <p:spPr>
          <a:xfrm>
            <a:off x="2148840" y="2167128"/>
            <a:ext cx="1463040" cy="457200"/>
          </a:xfrm>
          <a:prstGeom prst="rect">
            <a:avLst/>
          </a:prstGeom>
          <a:noFill/>
          <a:ln/>
        </p:spPr>
        <p:txBody>
          <a:bodyPr wrap="square" rtlCol="0" anchor="ctr"/>
          <a:lstStyle/>
          <a:p>
            <a:pPr algn="ctr" indent="0" marL="0">
              <a:buNone/>
            </a:pPr>
            <a:r>
              <a:rPr lang="en-US" sz="1000" dirty="0">
                <a:solidFill>
                  <a:srgbClr val="1A1A2E"/>
                </a:solidFill>
                <a:latin typeface="Calibri" pitchFamily="34" charset="0"/>
                <a:ea typeface="Calibri" pitchFamily="34" charset="-122"/>
                <a:cs typeface="Calibri" pitchFamily="34" charset="-120"/>
              </a:rPr>
              <a:t>Yes</a:t>
            </a:r>
            <a:endParaRPr lang="en-US" sz="1000" dirty="0"/>
          </a:p>
        </p:txBody>
      </p:sp>
      <p:sp>
        <p:nvSpPr>
          <p:cNvPr id="28" name="Shape 26"/>
          <p:cNvSpPr/>
          <p:nvPr/>
        </p:nvSpPr>
        <p:spPr>
          <a:xfrm>
            <a:off x="3749040" y="2121408"/>
            <a:ext cx="1554480" cy="548640"/>
          </a:xfrm>
          <a:prstGeom prst="rect">
            <a:avLst/>
          </a:prstGeom>
          <a:solidFill>
            <a:srgbClr val="FFFFFF"/>
          </a:solidFill>
          <a:ln w="6350">
            <a:solidFill>
              <a:srgbClr val="CCCCCC"/>
            </a:solidFill>
            <a:prstDash val="solid"/>
          </a:ln>
        </p:spPr>
      </p:sp>
      <p:sp>
        <p:nvSpPr>
          <p:cNvPr id="29" name="Text 27"/>
          <p:cNvSpPr/>
          <p:nvPr/>
        </p:nvSpPr>
        <p:spPr>
          <a:xfrm>
            <a:off x="3794760" y="2167128"/>
            <a:ext cx="1463040" cy="457200"/>
          </a:xfrm>
          <a:prstGeom prst="rect">
            <a:avLst/>
          </a:prstGeom>
          <a:noFill/>
          <a:ln/>
        </p:spPr>
        <p:txBody>
          <a:bodyPr wrap="square" rtlCol="0" anchor="ctr"/>
          <a:lstStyle/>
          <a:p>
            <a:pPr algn="ctr" indent="0" marL="0">
              <a:buNone/>
            </a:pPr>
            <a:r>
              <a:rPr lang="en-US" sz="1000" dirty="0">
                <a:solidFill>
                  <a:srgbClr val="1A1A2E"/>
                </a:solidFill>
                <a:latin typeface="Calibri" pitchFamily="34" charset="0"/>
                <a:ea typeface="Calibri" pitchFamily="34" charset="-122"/>
                <a:cs typeface="Calibri" pitchFamily="34" charset="-120"/>
              </a:rPr>
              <a:t>No</a:t>
            </a:r>
            <a:endParaRPr lang="en-US" sz="1000" dirty="0"/>
          </a:p>
        </p:txBody>
      </p:sp>
      <p:sp>
        <p:nvSpPr>
          <p:cNvPr id="30" name="Shape 28"/>
          <p:cNvSpPr/>
          <p:nvPr/>
        </p:nvSpPr>
        <p:spPr>
          <a:xfrm>
            <a:off x="5394960" y="2121408"/>
            <a:ext cx="1554480" cy="548640"/>
          </a:xfrm>
          <a:prstGeom prst="rect">
            <a:avLst/>
          </a:prstGeom>
          <a:solidFill>
            <a:srgbClr val="FFFFFF"/>
          </a:solidFill>
          <a:ln w="6350">
            <a:solidFill>
              <a:srgbClr val="CCCCCC"/>
            </a:solidFill>
            <a:prstDash val="solid"/>
          </a:ln>
        </p:spPr>
      </p:sp>
      <p:sp>
        <p:nvSpPr>
          <p:cNvPr id="31" name="Text 29"/>
          <p:cNvSpPr/>
          <p:nvPr/>
        </p:nvSpPr>
        <p:spPr>
          <a:xfrm>
            <a:off x="5440680" y="2167128"/>
            <a:ext cx="1463040" cy="457200"/>
          </a:xfrm>
          <a:prstGeom prst="rect">
            <a:avLst/>
          </a:prstGeom>
          <a:noFill/>
          <a:ln/>
        </p:spPr>
        <p:txBody>
          <a:bodyPr wrap="square" rtlCol="0" anchor="ctr"/>
          <a:lstStyle/>
          <a:p>
            <a:pPr algn="ctr" indent="0" marL="0">
              <a:buNone/>
            </a:pPr>
            <a:r>
              <a:rPr lang="en-US" sz="1000" dirty="0">
                <a:solidFill>
                  <a:srgbClr val="1A1A2E"/>
                </a:solidFill>
                <a:latin typeface="Calibri" pitchFamily="34" charset="0"/>
                <a:ea typeface="Calibri" pitchFamily="34" charset="-122"/>
                <a:cs typeface="Calibri" pitchFamily="34" charset="-120"/>
              </a:rPr>
              <a:t>O(b^m)</a:t>
            </a:r>
            <a:endParaRPr lang="en-US" sz="1000" dirty="0"/>
          </a:p>
        </p:txBody>
      </p:sp>
      <p:sp>
        <p:nvSpPr>
          <p:cNvPr id="32" name="Shape 30"/>
          <p:cNvSpPr/>
          <p:nvPr/>
        </p:nvSpPr>
        <p:spPr>
          <a:xfrm>
            <a:off x="7040880" y="2121408"/>
            <a:ext cx="1554480" cy="548640"/>
          </a:xfrm>
          <a:prstGeom prst="rect">
            <a:avLst/>
          </a:prstGeom>
          <a:solidFill>
            <a:srgbClr val="FFFFFF"/>
          </a:solidFill>
          <a:ln w="6350">
            <a:solidFill>
              <a:srgbClr val="CCCCCC"/>
            </a:solidFill>
            <a:prstDash val="solid"/>
          </a:ln>
        </p:spPr>
      </p:sp>
      <p:sp>
        <p:nvSpPr>
          <p:cNvPr id="33" name="Text 31"/>
          <p:cNvSpPr/>
          <p:nvPr/>
        </p:nvSpPr>
        <p:spPr>
          <a:xfrm>
            <a:off x="7086600" y="2167128"/>
            <a:ext cx="1463040" cy="457200"/>
          </a:xfrm>
          <a:prstGeom prst="rect">
            <a:avLst/>
          </a:prstGeom>
          <a:noFill/>
          <a:ln/>
        </p:spPr>
        <p:txBody>
          <a:bodyPr wrap="square" rtlCol="0" anchor="ctr"/>
          <a:lstStyle/>
          <a:p>
            <a:pPr algn="ctr" indent="0" marL="0">
              <a:buNone/>
            </a:pPr>
            <a:r>
              <a:rPr lang="en-US" sz="1000" dirty="0">
                <a:solidFill>
                  <a:srgbClr val="1A1A2E"/>
                </a:solidFill>
                <a:latin typeface="Calibri" pitchFamily="34" charset="0"/>
                <a:ea typeface="Calibri" pitchFamily="34" charset="-122"/>
                <a:cs typeface="Calibri" pitchFamily="34" charset="-120"/>
              </a:rPr>
              <a:t>O(bm)</a:t>
            </a:r>
            <a:endParaRPr lang="en-US" sz="1000" dirty="0"/>
          </a:p>
        </p:txBody>
      </p:sp>
      <p:sp>
        <p:nvSpPr>
          <p:cNvPr id="34" name="Shape 32"/>
          <p:cNvSpPr/>
          <p:nvPr/>
        </p:nvSpPr>
        <p:spPr>
          <a:xfrm>
            <a:off x="457200" y="2688336"/>
            <a:ext cx="1554480" cy="548640"/>
          </a:xfrm>
          <a:prstGeom prst="rect">
            <a:avLst/>
          </a:prstGeom>
          <a:solidFill>
            <a:srgbClr val="E8F4F8"/>
          </a:solidFill>
          <a:ln w="6350">
            <a:solidFill>
              <a:srgbClr val="CCCCCC"/>
            </a:solidFill>
            <a:prstDash val="solid"/>
          </a:ln>
        </p:spPr>
      </p:sp>
      <p:sp>
        <p:nvSpPr>
          <p:cNvPr id="35" name="Text 33"/>
          <p:cNvSpPr/>
          <p:nvPr/>
        </p:nvSpPr>
        <p:spPr>
          <a:xfrm>
            <a:off x="502920" y="2734056"/>
            <a:ext cx="1463040" cy="457200"/>
          </a:xfrm>
          <a:prstGeom prst="rect">
            <a:avLst/>
          </a:prstGeom>
          <a:noFill/>
          <a:ln/>
        </p:spPr>
        <p:txBody>
          <a:bodyPr wrap="square" rtlCol="0" anchor="ctr"/>
          <a:lstStyle/>
          <a:p>
            <a:pPr algn="ctr" indent="0" marL="0">
              <a:buNone/>
            </a:pPr>
            <a:r>
              <a:rPr lang="en-US" sz="1000" dirty="0">
                <a:solidFill>
                  <a:srgbClr val="1A1A2E"/>
                </a:solidFill>
                <a:latin typeface="Calibri" pitchFamily="34" charset="0"/>
                <a:ea typeface="Calibri" pitchFamily="34" charset="-122"/>
                <a:cs typeface="Calibri" pitchFamily="34" charset="-120"/>
              </a:rPr>
              <a:t>UCS</a:t>
            </a:r>
            <a:endParaRPr lang="en-US" sz="1000" dirty="0"/>
          </a:p>
        </p:txBody>
      </p:sp>
      <p:sp>
        <p:nvSpPr>
          <p:cNvPr id="36" name="Shape 34"/>
          <p:cNvSpPr/>
          <p:nvPr/>
        </p:nvSpPr>
        <p:spPr>
          <a:xfrm>
            <a:off x="2103120" y="2688336"/>
            <a:ext cx="1554480" cy="548640"/>
          </a:xfrm>
          <a:prstGeom prst="rect">
            <a:avLst/>
          </a:prstGeom>
          <a:solidFill>
            <a:srgbClr val="E8F4F8"/>
          </a:solidFill>
          <a:ln w="6350">
            <a:solidFill>
              <a:srgbClr val="CCCCCC"/>
            </a:solidFill>
            <a:prstDash val="solid"/>
          </a:ln>
        </p:spPr>
      </p:sp>
      <p:sp>
        <p:nvSpPr>
          <p:cNvPr id="37" name="Text 35"/>
          <p:cNvSpPr/>
          <p:nvPr/>
        </p:nvSpPr>
        <p:spPr>
          <a:xfrm>
            <a:off x="2148840" y="2734056"/>
            <a:ext cx="1463040" cy="457200"/>
          </a:xfrm>
          <a:prstGeom prst="rect">
            <a:avLst/>
          </a:prstGeom>
          <a:noFill/>
          <a:ln/>
        </p:spPr>
        <p:txBody>
          <a:bodyPr wrap="square" rtlCol="0" anchor="ctr"/>
          <a:lstStyle/>
          <a:p>
            <a:pPr algn="ctr" indent="0" marL="0">
              <a:buNone/>
            </a:pPr>
            <a:r>
              <a:rPr lang="en-US" sz="1000" dirty="0">
                <a:solidFill>
                  <a:srgbClr val="1A1A2E"/>
                </a:solidFill>
                <a:latin typeface="Calibri" pitchFamily="34" charset="0"/>
                <a:ea typeface="Calibri" pitchFamily="34" charset="-122"/>
                <a:cs typeface="Calibri" pitchFamily="34" charset="-120"/>
              </a:rPr>
              <a:t>Yes</a:t>
            </a:r>
            <a:endParaRPr lang="en-US" sz="1000" dirty="0"/>
          </a:p>
        </p:txBody>
      </p:sp>
      <p:sp>
        <p:nvSpPr>
          <p:cNvPr id="38" name="Shape 36"/>
          <p:cNvSpPr/>
          <p:nvPr/>
        </p:nvSpPr>
        <p:spPr>
          <a:xfrm>
            <a:off x="3749040" y="2688336"/>
            <a:ext cx="1554480" cy="548640"/>
          </a:xfrm>
          <a:prstGeom prst="rect">
            <a:avLst/>
          </a:prstGeom>
          <a:solidFill>
            <a:srgbClr val="E8F4F8"/>
          </a:solidFill>
          <a:ln w="6350">
            <a:solidFill>
              <a:srgbClr val="CCCCCC"/>
            </a:solidFill>
            <a:prstDash val="solid"/>
          </a:ln>
        </p:spPr>
      </p:sp>
      <p:sp>
        <p:nvSpPr>
          <p:cNvPr id="39" name="Text 37"/>
          <p:cNvSpPr/>
          <p:nvPr/>
        </p:nvSpPr>
        <p:spPr>
          <a:xfrm>
            <a:off x="3794760" y="2734056"/>
            <a:ext cx="1463040" cy="457200"/>
          </a:xfrm>
          <a:prstGeom prst="rect">
            <a:avLst/>
          </a:prstGeom>
          <a:noFill/>
          <a:ln/>
        </p:spPr>
        <p:txBody>
          <a:bodyPr wrap="square" rtlCol="0" anchor="ctr"/>
          <a:lstStyle/>
          <a:p>
            <a:pPr algn="ctr" indent="0" marL="0">
              <a:buNone/>
            </a:pPr>
            <a:r>
              <a:rPr lang="en-US" sz="1000" dirty="0">
                <a:solidFill>
                  <a:srgbClr val="1A1A2E"/>
                </a:solidFill>
                <a:latin typeface="Calibri" pitchFamily="34" charset="0"/>
                <a:ea typeface="Calibri" pitchFamily="34" charset="-122"/>
                <a:cs typeface="Calibri" pitchFamily="34" charset="-120"/>
              </a:rPr>
              <a:t>Yes</a:t>
            </a:r>
            <a:endParaRPr lang="en-US" sz="1000" dirty="0"/>
          </a:p>
        </p:txBody>
      </p:sp>
      <p:sp>
        <p:nvSpPr>
          <p:cNvPr id="40" name="Shape 38"/>
          <p:cNvSpPr/>
          <p:nvPr/>
        </p:nvSpPr>
        <p:spPr>
          <a:xfrm>
            <a:off x="5394960" y="2688336"/>
            <a:ext cx="1554480" cy="548640"/>
          </a:xfrm>
          <a:prstGeom prst="rect">
            <a:avLst/>
          </a:prstGeom>
          <a:solidFill>
            <a:srgbClr val="E8F4F8"/>
          </a:solidFill>
          <a:ln w="6350">
            <a:solidFill>
              <a:srgbClr val="CCCCCC"/>
            </a:solidFill>
            <a:prstDash val="solid"/>
          </a:ln>
        </p:spPr>
      </p:sp>
      <p:sp>
        <p:nvSpPr>
          <p:cNvPr id="41" name="Text 39"/>
          <p:cNvSpPr/>
          <p:nvPr/>
        </p:nvSpPr>
        <p:spPr>
          <a:xfrm>
            <a:off x="5440680" y="2734056"/>
            <a:ext cx="1463040" cy="457200"/>
          </a:xfrm>
          <a:prstGeom prst="rect">
            <a:avLst/>
          </a:prstGeom>
          <a:noFill/>
          <a:ln/>
        </p:spPr>
        <p:txBody>
          <a:bodyPr wrap="square" rtlCol="0" anchor="ctr"/>
          <a:lstStyle/>
          <a:p>
            <a:pPr algn="ctr" indent="0" marL="0">
              <a:buNone/>
            </a:pPr>
            <a:r>
              <a:rPr lang="en-US" sz="1000" dirty="0">
                <a:solidFill>
                  <a:srgbClr val="1A1A2E"/>
                </a:solidFill>
                <a:latin typeface="Calibri" pitchFamily="34" charset="0"/>
                <a:ea typeface="Calibri" pitchFamily="34" charset="-122"/>
                <a:cs typeface="Calibri" pitchFamily="34" charset="-120"/>
              </a:rPr>
              <a:t>O(b^(C*/ε))</a:t>
            </a:r>
            <a:endParaRPr lang="en-US" sz="1000" dirty="0"/>
          </a:p>
        </p:txBody>
      </p:sp>
      <p:sp>
        <p:nvSpPr>
          <p:cNvPr id="42" name="Shape 40"/>
          <p:cNvSpPr/>
          <p:nvPr/>
        </p:nvSpPr>
        <p:spPr>
          <a:xfrm>
            <a:off x="7040880" y="2688336"/>
            <a:ext cx="1554480" cy="548640"/>
          </a:xfrm>
          <a:prstGeom prst="rect">
            <a:avLst/>
          </a:prstGeom>
          <a:solidFill>
            <a:srgbClr val="E8F4F8"/>
          </a:solidFill>
          <a:ln w="6350">
            <a:solidFill>
              <a:srgbClr val="CCCCCC"/>
            </a:solidFill>
            <a:prstDash val="solid"/>
          </a:ln>
        </p:spPr>
      </p:sp>
      <p:sp>
        <p:nvSpPr>
          <p:cNvPr id="43" name="Text 41"/>
          <p:cNvSpPr/>
          <p:nvPr/>
        </p:nvSpPr>
        <p:spPr>
          <a:xfrm>
            <a:off x="7086600" y="2734056"/>
            <a:ext cx="1463040" cy="457200"/>
          </a:xfrm>
          <a:prstGeom prst="rect">
            <a:avLst/>
          </a:prstGeom>
          <a:noFill/>
          <a:ln/>
        </p:spPr>
        <p:txBody>
          <a:bodyPr wrap="square" rtlCol="0" anchor="ctr"/>
          <a:lstStyle/>
          <a:p>
            <a:pPr algn="ctr" indent="0" marL="0">
              <a:buNone/>
            </a:pPr>
            <a:r>
              <a:rPr lang="en-US" sz="1000" dirty="0">
                <a:solidFill>
                  <a:srgbClr val="1A1A2E"/>
                </a:solidFill>
                <a:latin typeface="Calibri" pitchFamily="34" charset="0"/>
                <a:ea typeface="Calibri" pitchFamily="34" charset="-122"/>
                <a:cs typeface="Calibri" pitchFamily="34" charset="-120"/>
              </a:rPr>
              <a:t>O(b^(C*/ε))</a:t>
            </a:r>
            <a:endParaRPr lang="en-US" sz="1000" dirty="0"/>
          </a:p>
        </p:txBody>
      </p:sp>
      <p:sp>
        <p:nvSpPr>
          <p:cNvPr id="44" name="Shape 42"/>
          <p:cNvSpPr/>
          <p:nvPr/>
        </p:nvSpPr>
        <p:spPr>
          <a:xfrm>
            <a:off x="457200" y="3255264"/>
            <a:ext cx="1554480" cy="548640"/>
          </a:xfrm>
          <a:prstGeom prst="rect">
            <a:avLst/>
          </a:prstGeom>
          <a:solidFill>
            <a:srgbClr val="FFFFFF"/>
          </a:solidFill>
          <a:ln w="6350">
            <a:solidFill>
              <a:srgbClr val="CCCCCC"/>
            </a:solidFill>
            <a:prstDash val="solid"/>
          </a:ln>
        </p:spPr>
      </p:sp>
      <p:sp>
        <p:nvSpPr>
          <p:cNvPr id="45" name="Text 43"/>
          <p:cNvSpPr/>
          <p:nvPr/>
        </p:nvSpPr>
        <p:spPr>
          <a:xfrm>
            <a:off x="502920" y="3300984"/>
            <a:ext cx="1463040" cy="457200"/>
          </a:xfrm>
          <a:prstGeom prst="rect">
            <a:avLst/>
          </a:prstGeom>
          <a:noFill/>
          <a:ln/>
        </p:spPr>
        <p:txBody>
          <a:bodyPr wrap="square" rtlCol="0" anchor="ctr"/>
          <a:lstStyle/>
          <a:p>
            <a:pPr algn="ctr" indent="0" marL="0">
              <a:buNone/>
            </a:pPr>
            <a:r>
              <a:rPr lang="en-US" sz="1000" dirty="0">
                <a:solidFill>
                  <a:srgbClr val="1A1A2E"/>
                </a:solidFill>
                <a:latin typeface="Calibri" pitchFamily="34" charset="0"/>
                <a:ea typeface="Calibri" pitchFamily="34" charset="-122"/>
                <a:cs typeface="Calibri" pitchFamily="34" charset="-120"/>
              </a:rPr>
              <a:t>Greedy</a:t>
            </a:r>
            <a:endParaRPr lang="en-US" sz="1000" dirty="0"/>
          </a:p>
        </p:txBody>
      </p:sp>
      <p:sp>
        <p:nvSpPr>
          <p:cNvPr id="46" name="Shape 44"/>
          <p:cNvSpPr/>
          <p:nvPr/>
        </p:nvSpPr>
        <p:spPr>
          <a:xfrm>
            <a:off x="2103120" y="3255264"/>
            <a:ext cx="1554480" cy="548640"/>
          </a:xfrm>
          <a:prstGeom prst="rect">
            <a:avLst/>
          </a:prstGeom>
          <a:solidFill>
            <a:srgbClr val="FFFFFF"/>
          </a:solidFill>
          <a:ln w="6350">
            <a:solidFill>
              <a:srgbClr val="CCCCCC"/>
            </a:solidFill>
            <a:prstDash val="solid"/>
          </a:ln>
        </p:spPr>
      </p:sp>
      <p:sp>
        <p:nvSpPr>
          <p:cNvPr id="47" name="Text 45"/>
          <p:cNvSpPr/>
          <p:nvPr/>
        </p:nvSpPr>
        <p:spPr>
          <a:xfrm>
            <a:off x="2148840" y="3300984"/>
            <a:ext cx="1463040" cy="457200"/>
          </a:xfrm>
          <a:prstGeom prst="rect">
            <a:avLst/>
          </a:prstGeom>
          <a:noFill/>
          <a:ln/>
        </p:spPr>
        <p:txBody>
          <a:bodyPr wrap="square" rtlCol="0" anchor="ctr"/>
          <a:lstStyle/>
          <a:p>
            <a:pPr algn="ctr" indent="0" marL="0">
              <a:buNone/>
            </a:pPr>
            <a:r>
              <a:rPr lang="en-US" sz="1000" dirty="0">
                <a:solidFill>
                  <a:srgbClr val="1A1A2E"/>
                </a:solidFill>
                <a:latin typeface="Calibri" pitchFamily="34" charset="0"/>
                <a:ea typeface="Calibri" pitchFamily="34" charset="-122"/>
                <a:cs typeface="Calibri" pitchFamily="34" charset="-120"/>
              </a:rPr>
              <a:t>No</a:t>
            </a:r>
            <a:endParaRPr lang="en-US" sz="1000" dirty="0"/>
          </a:p>
        </p:txBody>
      </p:sp>
      <p:sp>
        <p:nvSpPr>
          <p:cNvPr id="48" name="Shape 46"/>
          <p:cNvSpPr/>
          <p:nvPr/>
        </p:nvSpPr>
        <p:spPr>
          <a:xfrm>
            <a:off x="3749040" y="3255264"/>
            <a:ext cx="1554480" cy="548640"/>
          </a:xfrm>
          <a:prstGeom prst="rect">
            <a:avLst/>
          </a:prstGeom>
          <a:solidFill>
            <a:srgbClr val="FFFFFF"/>
          </a:solidFill>
          <a:ln w="6350">
            <a:solidFill>
              <a:srgbClr val="CCCCCC"/>
            </a:solidFill>
            <a:prstDash val="solid"/>
          </a:ln>
        </p:spPr>
      </p:sp>
      <p:sp>
        <p:nvSpPr>
          <p:cNvPr id="49" name="Text 47"/>
          <p:cNvSpPr/>
          <p:nvPr/>
        </p:nvSpPr>
        <p:spPr>
          <a:xfrm>
            <a:off x="3794760" y="3300984"/>
            <a:ext cx="1463040" cy="457200"/>
          </a:xfrm>
          <a:prstGeom prst="rect">
            <a:avLst/>
          </a:prstGeom>
          <a:noFill/>
          <a:ln/>
        </p:spPr>
        <p:txBody>
          <a:bodyPr wrap="square" rtlCol="0" anchor="ctr"/>
          <a:lstStyle/>
          <a:p>
            <a:pPr algn="ctr" indent="0" marL="0">
              <a:buNone/>
            </a:pPr>
            <a:r>
              <a:rPr lang="en-US" sz="1000" dirty="0">
                <a:solidFill>
                  <a:srgbClr val="1A1A2E"/>
                </a:solidFill>
                <a:latin typeface="Calibri" pitchFamily="34" charset="0"/>
                <a:ea typeface="Calibri" pitchFamily="34" charset="-122"/>
                <a:cs typeface="Calibri" pitchFamily="34" charset="-120"/>
              </a:rPr>
              <a:t>No</a:t>
            </a:r>
            <a:endParaRPr lang="en-US" sz="1000" dirty="0"/>
          </a:p>
        </p:txBody>
      </p:sp>
      <p:sp>
        <p:nvSpPr>
          <p:cNvPr id="50" name="Shape 48"/>
          <p:cNvSpPr/>
          <p:nvPr/>
        </p:nvSpPr>
        <p:spPr>
          <a:xfrm>
            <a:off x="5394960" y="3255264"/>
            <a:ext cx="1554480" cy="548640"/>
          </a:xfrm>
          <a:prstGeom prst="rect">
            <a:avLst/>
          </a:prstGeom>
          <a:solidFill>
            <a:srgbClr val="FFFFFF"/>
          </a:solidFill>
          <a:ln w="6350">
            <a:solidFill>
              <a:srgbClr val="CCCCCC"/>
            </a:solidFill>
            <a:prstDash val="solid"/>
          </a:ln>
        </p:spPr>
      </p:sp>
      <p:sp>
        <p:nvSpPr>
          <p:cNvPr id="51" name="Text 49"/>
          <p:cNvSpPr/>
          <p:nvPr/>
        </p:nvSpPr>
        <p:spPr>
          <a:xfrm>
            <a:off x="5440680" y="3300984"/>
            <a:ext cx="1463040" cy="457200"/>
          </a:xfrm>
          <a:prstGeom prst="rect">
            <a:avLst/>
          </a:prstGeom>
          <a:noFill/>
          <a:ln/>
        </p:spPr>
        <p:txBody>
          <a:bodyPr wrap="square" rtlCol="0" anchor="ctr"/>
          <a:lstStyle/>
          <a:p>
            <a:pPr algn="ctr" indent="0" marL="0">
              <a:buNone/>
            </a:pPr>
            <a:r>
              <a:rPr lang="en-US" sz="1000" dirty="0">
                <a:solidFill>
                  <a:srgbClr val="1A1A2E"/>
                </a:solidFill>
                <a:latin typeface="Calibri" pitchFamily="34" charset="0"/>
                <a:ea typeface="Calibri" pitchFamily="34" charset="-122"/>
                <a:cs typeface="Calibri" pitchFamily="34" charset="-120"/>
              </a:rPr>
              <a:t>O(bm)</a:t>
            </a:r>
            <a:endParaRPr lang="en-US" sz="1000" dirty="0"/>
          </a:p>
        </p:txBody>
      </p:sp>
      <p:sp>
        <p:nvSpPr>
          <p:cNvPr id="52" name="Shape 50"/>
          <p:cNvSpPr/>
          <p:nvPr/>
        </p:nvSpPr>
        <p:spPr>
          <a:xfrm>
            <a:off x="7040880" y="3255264"/>
            <a:ext cx="1554480" cy="548640"/>
          </a:xfrm>
          <a:prstGeom prst="rect">
            <a:avLst/>
          </a:prstGeom>
          <a:solidFill>
            <a:srgbClr val="FFFFFF"/>
          </a:solidFill>
          <a:ln w="6350">
            <a:solidFill>
              <a:srgbClr val="CCCCCC"/>
            </a:solidFill>
            <a:prstDash val="solid"/>
          </a:ln>
        </p:spPr>
      </p:sp>
      <p:sp>
        <p:nvSpPr>
          <p:cNvPr id="53" name="Text 51"/>
          <p:cNvSpPr/>
          <p:nvPr/>
        </p:nvSpPr>
        <p:spPr>
          <a:xfrm>
            <a:off x="7086600" y="3300984"/>
            <a:ext cx="1463040" cy="457200"/>
          </a:xfrm>
          <a:prstGeom prst="rect">
            <a:avLst/>
          </a:prstGeom>
          <a:noFill/>
          <a:ln/>
        </p:spPr>
        <p:txBody>
          <a:bodyPr wrap="square" rtlCol="0" anchor="ctr"/>
          <a:lstStyle/>
          <a:p>
            <a:pPr algn="ctr" indent="0" marL="0">
              <a:buNone/>
            </a:pPr>
            <a:r>
              <a:rPr lang="en-US" sz="1000" dirty="0">
                <a:solidFill>
                  <a:srgbClr val="1A1A2E"/>
                </a:solidFill>
                <a:latin typeface="Calibri" pitchFamily="34" charset="0"/>
                <a:ea typeface="Calibri" pitchFamily="34" charset="-122"/>
                <a:cs typeface="Calibri" pitchFamily="34" charset="-120"/>
              </a:rPr>
              <a:t>O(bm)</a:t>
            </a:r>
            <a:endParaRPr lang="en-US" sz="1000" dirty="0"/>
          </a:p>
        </p:txBody>
      </p:sp>
      <p:sp>
        <p:nvSpPr>
          <p:cNvPr id="54" name="Shape 52"/>
          <p:cNvSpPr/>
          <p:nvPr/>
        </p:nvSpPr>
        <p:spPr>
          <a:xfrm>
            <a:off x="457200" y="3822192"/>
            <a:ext cx="1554480" cy="548640"/>
          </a:xfrm>
          <a:prstGeom prst="rect">
            <a:avLst/>
          </a:prstGeom>
          <a:solidFill>
            <a:srgbClr val="E8F4F8"/>
          </a:solidFill>
          <a:ln w="6350">
            <a:solidFill>
              <a:srgbClr val="CCCCCC"/>
            </a:solidFill>
            <a:prstDash val="solid"/>
          </a:ln>
        </p:spPr>
      </p:sp>
      <p:sp>
        <p:nvSpPr>
          <p:cNvPr id="55" name="Text 53"/>
          <p:cNvSpPr/>
          <p:nvPr/>
        </p:nvSpPr>
        <p:spPr>
          <a:xfrm>
            <a:off x="502920" y="3867912"/>
            <a:ext cx="1463040" cy="457200"/>
          </a:xfrm>
          <a:prstGeom prst="rect">
            <a:avLst/>
          </a:prstGeom>
          <a:noFill/>
          <a:ln/>
        </p:spPr>
        <p:txBody>
          <a:bodyPr wrap="square" rtlCol="0" anchor="ctr"/>
          <a:lstStyle/>
          <a:p>
            <a:pPr algn="ctr" indent="0" marL="0">
              <a:buNone/>
            </a:pPr>
            <a:r>
              <a:rPr lang="en-US" sz="1000" dirty="0">
                <a:solidFill>
                  <a:srgbClr val="1A1A2E"/>
                </a:solidFill>
                <a:latin typeface="Calibri" pitchFamily="34" charset="0"/>
                <a:ea typeface="Calibri" pitchFamily="34" charset="-122"/>
                <a:cs typeface="Calibri" pitchFamily="34" charset="-120"/>
              </a:rPr>
              <a:t>A*</a:t>
            </a:r>
            <a:endParaRPr lang="en-US" sz="1000" dirty="0"/>
          </a:p>
        </p:txBody>
      </p:sp>
      <p:sp>
        <p:nvSpPr>
          <p:cNvPr id="56" name="Shape 54"/>
          <p:cNvSpPr/>
          <p:nvPr/>
        </p:nvSpPr>
        <p:spPr>
          <a:xfrm>
            <a:off x="2103120" y="3822192"/>
            <a:ext cx="1554480" cy="548640"/>
          </a:xfrm>
          <a:prstGeom prst="rect">
            <a:avLst/>
          </a:prstGeom>
          <a:solidFill>
            <a:srgbClr val="E8F4F8"/>
          </a:solidFill>
          <a:ln w="6350">
            <a:solidFill>
              <a:srgbClr val="CCCCCC"/>
            </a:solidFill>
            <a:prstDash val="solid"/>
          </a:ln>
        </p:spPr>
      </p:sp>
      <p:sp>
        <p:nvSpPr>
          <p:cNvPr id="57" name="Text 55"/>
          <p:cNvSpPr/>
          <p:nvPr/>
        </p:nvSpPr>
        <p:spPr>
          <a:xfrm>
            <a:off x="2148840" y="3867912"/>
            <a:ext cx="1463040" cy="457200"/>
          </a:xfrm>
          <a:prstGeom prst="rect">
            <a:avLst/>
          </a:prstGeom>
          <a:noFill/>
          <a:ln/>
        </p:spPr>
        <p:txBody>
          <a:bodyPr wrap="square" rtlCol="0" anchor="ctr"/>
          <a:lstStyle/>
          <a:p>
            <a:pPr algn="ctr" indent="0" marL="0">
              <a:buNone/>
            </a:pPr>
            <a:r>
              <a:rPr lang="en-US" sz="1000" dirty="0">
                <a:solidFill>
                  <a:srgbClr val="1A1A2E"/>
                </a:solidFill>
                <a:latin typeface="Calibri" pitchFamily="34" charset="0"/>
                <a:ea typeface="Calibri" pitchFamily="34" charset="-122"/>
                <a:cs typeface="Calibri" pitchFamily="34" charset="-120"/>
              </a:rPr>
              <a:t>Yes</a:t>
            </a:r>
            <a:endParaRPr lang="en-US" sz="1000" dirty="0"/>
          </a:p>
        </p:txBody>
      </p:sp>
      <p:sp>
        <p:nvSpPr>
          <p:cNvPr id="58" name="Shape 56"/>
          <p:cNvSpPr/>
          <p:nvPr/>
        </p:nvSpPr>
        <p:spPr>
          <a:xfrm>
            <a:off x="3749040" y="3822192"/>
            <a:ext cx="1554480" cy="548640"/>
          </a:xfrm>
          <a:prstGeom prst="rect">
            <a:avLst/>
          </a:prstGeom>
          <a:solidFill>
            <a:srgbClr val="E8F4F8"/>
          </a:solidFill>
          <a:ln w="6350">
            <a:solidFill>
              <a:srgbClr val="CCCCCC"/>
            </a:solidFill>
            <a:prstDash val="solid"/>
          </a:ln>
        </p:spPr>
      </p:sp>
      <p:sp>
        <p:nvSpPr>
          <p:cNvPr id="59" name="Text 57"/>
          <p:cNvSpPr/>
          <p:nvPr/>
        </p:nvSpPr>
        <p:spPr>
          <a:xfrm>
            <a:off x="3794760" y="3867912"/>
            <a:ext cx="1463040" cy="457200"/>
          </a:xfrm>
          <a:prstGeom prst="rect">
            <a:avLst/>
          </a:prstGeom>
          <a:noFill/>
          <a:ln/>
        </p:spPr>
        <p:txBody>
          <a:bodyPr wrap="square" rtlCol="0" anchor="ctr"/>
          <a:lstStyle/>
          <a:p>
            <a:pPr algn="ctr" indent="0" marL="0">
              <a:buNone/>
            </a:pPr>
            <a:r>
              <a:rPr lang="en-US" sz="1000" dirty="0">
                <a:solidFill>
                  <a:srgbClr val="1A1A2E"/>
                </a:solidFill>
                <a:latin typeface="Calibri" pitchFamily="34" charset="0"/>
                <a:ea typeface="Calibri" pitchFamily="34" charset="-122"/>
                <a:cs typeface="Calibri" pitchFamily="34" charset="-120"/>
              </a:rPr>
              <a:t>Yes**</a:t>
            </a:r>
            <a:endParaRPr lang="en-US" sz="1000" dirty="0"/>
          </a:p>
        </p:txBody>
      </p:sp>
      <p:sp>
        <p:nvSpPr>
          <p:cNvPr id="60" name="Shape 58"/>
          <p:cNvSpPr/>
          <p:nvPr/>
        </p:nvSpPr>
        <p:spPr>
          <a:xfrm>
            <a:off x="5394960" y="3822192"/>
            <a:ext cx="1554480" cy="548640"/>
          </a:xfrm>
          <a:prstGeom prst="rect">
            <a:avLst/>
          </a:prstGeom>
          <a:solidFill>
            <a:srgbClr val="E8F4F8"/>
          </a:solidFill>
          <a:ln w="6350">
            <a:solidFill>
              <a:srgbClr val="CCCCCC"/>
            </a:solidFill>
            <a:prstDash val="solid"/>
          </a:ln>
        </p:spPr>
      </p:sp>
      <p:sp>
        <p:nvSpPr>
          <p:cNvPr id="61" name="Text 59"/>
          <p:cNvSpPr/>
          <p:nvPr/>
        </p:nvSpPr>
        <p:spPr>
          <a:xfrm>
            <a:off x="5440680" y="3867912"/>
            <a:ext cx="1463040" cy="457200"/>
          </a:xfrm>
          <a:prstGeom prst="rect">
            <a:avLst/>
          </a:prstGeom>
          <a:noFill/>
          <a:ln/>
        </p:spPr>
        <p:txBody>
          <a:bodyPr wrap="square" rtlCol="0" anchor="ctr"/>
          <a:lstStyle/>
          <a:p>
            <a:pPr algn="ctr" indent="0" marL="0">
              <a:buNone/>
            </a:pPr>
            <a:r>
              <a:rPr lang="en-US" sz="1000" dirty="0">
                <a:solidFill>
                  <a:srgbClr val="1A1A2E"/>
                </a:solidFill>
                <a:latin typeface="Calibri" pitchFamily="34" charset="0"/>
                <a:ea typeface="Calibri" pitchFamily="34" charset="-122"/>
                <a:cs typeface="Calibri" pitchFamily="34" charset="-120"/>
              </a:rPr>
              <a:t>O(b^d)</a:t>
            </a:r>
            <a:endParaRPr lang="en-US" sz="1000" dirty="0"/>
          </a:p>
        </p:txBody>
      </p:sp>
      <p:sp>
        <p:nvSpPr>
          <p:cNvPr id="62" name="Shape 60"/>
          <p:cNvSpPr/>
          <p:nvPr/>
        </p:nvSpPr>
        <p:spPr>
          <a:xfrm>
            <a:off x="7040880" y="3822192"/>
            <a:ext cx="1554480" cy="548640"/>
          </a:xfrm>
          <a:prstGeom prst="rect">
            <a:avLst/>
          </a:prstGeom>
          <a:solidFill>
            <a:srgbClr val="E8F4F8"/>
          </a:solidFill>
          <a:ln w="6350">
            <a:solidFill>
              <a:srgbClr val="CCCCCC"/>
            </a:solidFill>
            <a:prstDash val="solid"/>
          </a:ln>
        </p:spPr>
      </p:sp>
      <p:sp>
        <p:nvSpPr>
          <p:cNvPr id="63" name="Text 61"/>
          <p:cNvSpPr/>
          <p:nvPr/>
        </p:nvSpPr>
        <p:spPr>
          <a:xfrm>
            <a:off x="7086600" y="3867912"/>
            <a:ext cx="1463040" cy="457200"/>
          </a:xfrm>
          <a:prstGeom prst="rect">
            <a:avLst/>
          </a:prstGeom>
          <a:noFill/>
          <a:ln/>
        </p:spPr>
        <p:txBody>
          <a:bodyPr wrap="square" rtlCol="0" anchor="ctr"/>
          <a:lstStyle/>
          <a:p>
            <a:pPr algn="ctr" indent="0" marL="0">
              <a:buNone/>
            </a:pPr>
            <a:r>
              <a:rPr lang="en-US" sz="1000" dirty="0">
                <a:solidFill>
                  <a:srgbClr val="1A1A2E"/>
                </a:solidFill>
                <a:latin typeface="Calibri" pitchFamily="34" charset="0"/>
                <a:ea typeface="Calibri" pitchFamily="34" charset="-122"/>
                <a:cs typeface="Calibri" pitchFamily="34" charset="-120"/>
              </a:rPr>
              <a:t>O(b^d)</a:t>
            </a:r>
            <a:endParaRPr lang="en-US" sz="1000" dirty="0"/>
          </a:p>
        </p:txBody>
      </p:sp>
      <p:sp>
        <p:nvSpPr>
          <p:cNvPr id="64" name="Text 62"/>
          <p:cNvSpPr/>
          <p:nvPr/>
        </p:nvSpPr>
        <p:spPr>
          <a:xfrm>
            <a:off x="457200" y="4297680"/>
            <a:ext cx="8229600" cy="228600"/>
          </a:xfrm>
          <a:prstGeom prst="rect">
            <a:avLst/>
          </a:prstGeom>
          <a:noFill/>
          <a:ln/>
        </p:spPr>
        <p:txBody>
          <a:bodyPr wrap="square" rtlCol="0" anchor="ctr"/>
          <a:lstStyle/>
          <a:p>
            <a:pPr indent="0" marL="0">
              <a:buNone/>
            </a:pPr>
            <a:r>
              <a:rPr lang="en-US" sz="900" i="1" dirty="0">
                <a:solidFill>
                  <a:srgbClr val="1A1A2E"/>
                </a:solidFill>
                <a:latin typeface="Calibri" pitchFamily="34" charset="0"/>
                <a:ea typeface="Calibri" pitchFamily="34" charset="-122"/>
                <a:cs typeface="Calibri" pitchFamily="34" charset="-120"/>
              </a:rPr>
              <a:t>*for unit costs  **with admissible heuristic</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E8F4F8"/>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4000" b="1" dirty="0">
                <a:solidFill>
                  <a:srgbClr val="0D1B2A"/>
                </a:solidFill>
                <a:latin typeface="Georgia" pitchFamily="34" charset="0"/>
                <a:ea typeface="Georgia" pitchFamily="34" charset="-122"/>
                <a:cs typeface="Georgia" pitchFamily="34" charset="-120"/>
              </a:rPr>
              <a:t>Knowledge Representation: Why it Matters</a:t>
            </a:r>
            <a:endParaRPr lang="en-US" sz="4000" dirty="0"/>
          </a:p>
        </p:txBody>
      </p:sp>
      <p:sp>
        <p:nvSpPr>
          <p:cNvPr id="3" name="Shape 1"/>
          <p:cNvSpPr/>
          <p:nvPr/>
        </p:nvSpPr>
        <p:spPr>
          <a:xfrm>
            <a:off x="457200" y="1188720"/>
            <a:ext cx="3931920" cy="3566160"/>
          </a:xfrm>
          <a:prstGeom prst="rect">
            <a:avLst/>
          </a:prstGeom>
          <a:solidFill>
            <a:srgbClr val="FFFFFF"/>
          </a:solidFill>
          <a:ln w="25400">
            <a:solidFill>
              <a:srgbClr val="2E86AB"/>
            </a:solidFill>
            <a:prstDash val="solid"/>
          </a:ln>
        </p:spPr>
      </p:sp>
      <p:sp>
        <p:nvSpPr>
          <p:cNvPr id="4" name="Text 2"/>
          <p:cNvSpPr/>
          <p:nvPr/>
        </p:nvSpPr>
        <p:spPr>
          <a:xfrm>
            <a:off x="640080" y="1371600"/>
            <a:ext cx="3566160" cy="274320"/>
          </a:xfrm>
          <a:prstGeom prst="rect">
            <a:avLst/>
          </a:prstGeom>
          <a:noFill/>
          <a:ln/>
        </p:spPr>
        <p:txBody>
          <a:bodyPr wrap="square" rtlCol="0" anchor="ctr"/>
          <a:lstStyle/>
          <a:p>
            <a:pPr indent="0" marL="0">
              <a:buNone/>
            </a:pPr>
            <a:r>
              <a:rPr lang="en-US" sz="1400" b="1" dirty="0">
                <a:solidFill>
                  <a:srgbClr val="2E86AB"/>
                </a:solidFill>
                <a:latin typeface="Georgia" pitchFamily="34" charset="0"/>
                <a:ea typeface="Georgia" pitchFamily="34" charset="-122"/>
                <a:cs typeface="Georgia" pitchFamily="34" charset="-120"/>
              </a:rPr>
              <a:t>Purpose</a:t>
            </a:r>
            <a:endParaRPr lang="en-US" sz="1400" dirty="0"/>
          </a:p>
        </p:txBody>
      </p:sp>
      <p:sp>
        <p:nvSpPr>
          <p:cNvPr id="5" name="Text 3"/>
          <p:cNvSpPr/>
          <p:nvPr/>
        </p:nvSpPr>
        <p:spPr>
          <a:xfrm>
            <a:off x="731520" y="1828800"/>
            <a:ext cx="3566160" cy="2651760"/>
          </a:xfrm>
          <a:prstGeom prst="rect">
            <a:avLst/>
          </a:prstGeom>
          <a:noFill/>
          <a:ln/>
        </p:spPr>
        <p:txBody>
          <a:bodyPr wrap="square" rtlCol="0" anchor="ctr"/>
          <a:lstStyle/>
          <a:p>
            <a:pPr indent="0" marL="0">
              <a:buNone/>
            </a:pPr>
            <a:r>
              <a:rPr lang="en-US" sz="1200" dirty="0">
                <a:solidFill>
                  <a:srgbClr val="1A1A2E"/>
                </a:solidFill>
                <a:latin typeface="Calibri" pitchFamily="34" charset="0"/>
                <a:ea typeface="Calibri" pitchFamily="34" charset="-122"/>
                <a:cs typeface="Calibri" pitchFamily="34" charset="-120"/>
              </a:rPr>
              <a:t>AI systems must encode domain knowledge</a:t>
            </a:r>
            <a:pPr indent="0" marL="0">
              <a:buNone/>
            </a:pPr>
            <a:r>
              <a:rPr lang="en-US" sz="1200" dirty="0">
                <a:solidFill>
                  <a:srgbClr val="1A1A2E"/>
                </a:solidFill>
                <a:latin typeface="Calibri" pitchFamily="34" charset="0"/>
                <a:ea typeface="Calibri" pitchFamily="34" charset="-122"/>
                <a:cs typeface="Calibri" pitchFamily="34" charset="-120"/>
              </a:rPr>
              <a:t>Enables reasoning and inference</a:t>
            </a:r>
            <a:pPr indent="0" marL="0">
              <a:buNone/>
            </a:pPr>
            <a:r>
              <a:rPr lang="en-US" sz="1200" dirty="0">
                <a:solidFill>
                  <a:srgbClr val="1A1A2E"/>
                </a:solidFill>
                <a:latin typeface="Calibri" pitchFamily="34" charset="0"/>
                <a:ea typeface="Calibri" pitchFamily="34" charset="-122"/>
                <a:cs typeface="Calibri" pitchFamily="34" charset="-120"/>
              </a:rPr>
              <a:t>Different representation methods suit different domains</a:t>
            </a:r>
            <a:pPr indent="0" marL="0">
              <a:buNone/>
            </a:pPr>
            <a:r>
              <a:rPr lang="en-US" sz="1200" dirty="0">
                <a:solidFill>
                  <a:srgbClr val="1A1A2E"/>
                </a:solidFill>
                <a:latin typeface="Calibri" pitchFamily="34" charset="0"/>
                <a:ea typeface="Calibri" pitchFamily="34" charset="-122"/>
                <a:cs typeface="Calibri" pitchFamily="34" charset="-120"/>
              </a:rPr>
              <a:t>Affects system efficiency and clarity</a:t>
            </a:r>
            <a:endParaRPr lang="en-US" sz="1200" dirty="0"/>
          </a:p>
        </p:txBody>
      </p:sp>
      <p:sp>
        <p:nvSpPr>
          <p:cNvPr id="6" name="Shape 4"/>
          <p:cNvSpPr/>
          <p:nvPr/>
        </p:nvSpPr>
        <p:spPr>
          <a:xfrm>
            <a:off x="4754880" y="1188720"/>
            <a:ext cx="3931920" cy="3566160"/>
          </a:xfrm>
          <a:prstGeom prst="rect">
            <a:avLst/>
          </a:prstGeom>
          <a:solidFill>
            <a:srgbClr val="FFFFFF"/>
          </a:solidFill>
          <a:ln w="25400">
            <a:solidFill>
              <a:srgbClr val="00B4D8"/>
            </a:solidFill>
            <a:prstDash val="solid"/>
          </a:ln>
        </p:spPr>
      </p:sp>
      <p:sp>
        <p:nvSpPr>
          <p:cNvPr id="7" name="Text 5"/>
          <p:cNvSpPr/>
          <p:nvPr/>
        </p:nvSpPr>
        <p:spPr>
          <a:xfrm>
            <a:off x="4937760" y="1371600"/>
            <a:ext cx="3566160" cy="274320"/>
          </a:xfrm>
          <a:prstGeom prst="rect">
            <a:avLst/>
          </a:prstGeom>
          <a:noFill/>
          <a:ln/>
        </p:spPr>
        <p:txBody>
          <a:bodyPr wrap="square" rtlCol="0" anchor="ctr"/>
          <a:lstStyle/>
          <a:p>
            <a:pPr indent="0" marL="0">
              <a:buNone/>
            </a:pPr>
            <a:r>
              <a:rPr lang="en-US" sz="1400" b="1" dirty="0">
                <a:solidFill>
                  <a:srgbClr val="00B4D8"/>
                </a:solidFill>
                <a:latin typeface="Georgia" pitchFamily="34" charset="0"/>
                <a:ea typeface="Georgia" pitchFamily="34" charset="-122"/>
                <a:cs typeface="Georgia" pitchFamily="34" charset="-120"/>
              </a:rPr>
              <a:t>Representation Methods</a:t>
            </a:r>
            <a:endParaRPr lang="en-US" sz="1400" dirty="0"/>
          </a:p>
        </p:txBody>
      </p:sp>
      <p:sp>
        <p:nvSpPr>
          <p:cNvPr id="8" name="Shape 6"/>
          <p:cNvSpPr/>
          <p:nvPr/>
        </p:nvSpPr>
        <p:spPr>
          <a:xfrm>
            <a:off x="5120640" y="1920240"/>
            <a:ext cx="3200400" cy="594360"/>
          </a:xfrm>
          <a:prstGeom prst="roundRect">
            <a:avLst/>
          </a:prstGeom>
          <a:solidFill>
            <a:srgbClr val="00B4D8"/>
          </a:solidFill>
          <a:ln/>
        </p:spPr>
      </p:sp>
      <p:sp>
        <p:nvSpPr>
          <p:cNvPr id="9" name="Text 7"/>
          <p:cNvSpPr/>
          <p:nvPr/>
        </p:nvSpPr>
        <p:spPr>
          <a:xfrm>
            <a:off x="5303520" y="2011680"/>
            <a:ext cx="2834640" cy="41148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Logic</a:t>
            </a:r>
            <a:endParaRPr lang="en-US" sz="1200" dirty="0"/>
          </a:p>
        </p:txBody>
      </p:sp>
      <p:sp>
        <p:nvSpPr>
          <p:cNvPr id="10" name="Shape 8"/>
          <p:cNvSpPr/>
          <p:nvPr/>
        </p:nvSpPr>
        <p:spPr>
          <a:xfrm>
            <a:off x="5120640" y="2651760"/>
            <a:ext cx="3200400" cy="594360"/>
          </a:xfrm>
          <a:prstGeom prst="roundRect">
            <a:avLst/>
          </a:prstGeom>
          <a:solidFill>
            <a:srgbClr val="00B4D8"/>
          </a:solidFill>
          <a:ln/>
        </p:spPr>
      </p:sp>
      <p:sp>
        <p:nvSpPr>
          <p:cNvPr id="11" name="Text 9"/>
          <p:cNvSpPr/>
          <p:nvPr/>
        </p:nvSpPr>
        <p:spPr>
          <a:xfrm>
            <a:off x="5303520" y="2743200"/>
            <a:ext cx="2834640" cy="41148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Semantic Networks</a:t>
            </a:r>
            <a:endParaRPr lang="en-US" sz="1200" dirty="0"/>
          </a:p>
        </p:txBody>
      </p:sp>
      <p:sp>
        <p:nvSpPr>
          <p:cNvPr id="12" name="Shape 10"/>
          <p:cNvSpPr/>
          <p:nvPr/>
        </p:nvSpPr>
        <p:spPr>
          <a:xfrm>
            <a:off x="5120640" y="3383280"/>
            <a:ext cx="3200400" cy="594360"/>
          </a:xfrm>
          <a:prstGeom prst="roundRect">
            <a:avLst/>
          </a:prstGeom>
          <a:solidFill>
            <a:srgbClr val="00B4D8"/>
          </a:solidFill>
          <a:ln/>
        </p:spPr>
      </p:sp>
      <p:sp>
        <p:nvSpPr>
          <p:cNvPr id="13" name="Text 11"/>
          <p:cNvSpPr/>
          <p:nvPr/>
        </p:nvSpPr>
        <p:spPr>
          <a:xfrm>
            <a:off x="5303520" y="3474720"/>
            <a:ext cx="2834640" cy="41148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Ontologies</a:t>
            </a:r>
            <a:endParaRPr lang="en-US" sz="1200" dirty="0"/>
          </a:p>
        </p:txBody>
      </p:sp>
      <p:sp>
        <p:nvSpPr>
          <p:cNvPr id="14" name="Shape 12"/>
          <p:cNvSpPr/>
          <p:nvPr/>
        </p:nvSpPr>
        <p:spPr>
          <a:xfrm>
            <a:off x="5120640" y="4114800"/>
            <a:ext cx="3200400" cy="594360"/>
          </a:xfrm>
          <a:prstGeom prst="roundRect">
            <a:avLst/>
          </a:prstGeom>
          <a:solidFill>
            <a:srgbClr val="00B4D8"/>
          </a:solidFill>
          <a:ln/>
        </p:spPr>
      </p:sp>
      <p:sp>
        <p:nvSpPr>
          <p:cNvPr id="15" name="Text 13"/>
          <p:cNvSpPr/>
          <p:nvPr/>
        </p:nvSpPr>
        <p:spPr>
          <a:xfrm>
            <a:off x="5303520" y="4206240"/>
            <a:ext cx="2834640" cy="41148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Frames</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E8F4F8"/>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4000" b="1" dirty="0">
                <a:solidFill>
                  <a:srgbClr val="0D1B2A"/>
                </a:solidFill>
                <a:latin typeface="Georgia" pitchFamily="34" charset="0"/>
                <a:ea typeface="Georgia" pitchFamily="34" charset="-122"/>
                <a:cs typeface="Georgia" pitchFamily="34" charset="-120"/>
              </a:rPr>
              <a:t>Propositional &amp; First-Order Logic</a:t>
            </a:r>
            <a:endParaRPr lang="en-US" sz="4000" dirty="0"/>
          </a:p>
        </p:txBody>
      </p:sp>
      <p:sp>
        <p:nvSpPr>
          <p:cNvPr id="3" name="Shape 1"/>
          <p:cNvSpPr/>
          <p:nvPr/>
        </p:nvSpPr>
        <p:spPr>
          <a:xfrm>
            <a:off x="457200" y="1188720"/>
            <a:ext cx="3931920" cy="3566160"/>
          </a:xfrm>
          <a:prstGeom prst="rect">
            <a:avLst/>
          </a:prstGeom>
          <a:solidFill>
            <a:srgbClr val="FFFFFF"/>
          </a:solidFill>
          <a:ln w="25400">
            <a:solidFill>
              <a:srgbClr val="2E86AB"/>
            </a:solidFill>
            <a:prstDash val="solid"/>
          </a:ln>
        </p:spPr>
      </p:sp>
      <p:sp>
        <p:nvSpPr>
          <p:cNvPr id="4" name="Text 2"/>
          <p:cNvSpPr/>
          <p:nvPr/>
        </p:nvSpPr>
        <p:spPr>
          <a:xfrm>
            <a:off x="640080" y="1371600"/>
            <a:ext cx="3566160" cy="274320"/>
          </a:xfrm>
          <a:prstGeom prst="rect">
            <a:avLst/>
          </a:prstGeom>
          <a:noFill/>
          <a:ln/>
        </p:spPr>
        <p:txBody>
          <a:bodyPr wrap="square" rtlCol="0" anchor="ctr"/>
          <a:lstStyle/>
          <a:p>
            <a:pPr indent="0" marL="0">
              <a:buNone/>
            </a:pPr>
            <a:r>
              <a:rPr lang="en-US" sz="1400" b="1" dirty="0">
                <a:solidFill>
                  <a:srgbClr val="2E86AB"/>
                </a:solidFill>
                <a:latin typeface="Georgia" pitchFamily="34" charset="0"/>
                <a:ea typeface="Georgia" pitchFamily="34" charset="-122"/>
                <a:cs typeface="Georgia" pitchFamily="34" charset="-120"/>
              </a:rPr>
              <a:t>Propositional Logic</a:t>
            </a:r>
            <a:endParaRPr lang="en-US" sz="1400" dirty="0"/>
          </a:p>
        </p:txBody>
      </p:sp>
      <p:sp>
        <p:nvSpPr>
          <p:cNvPr id="5" name="Text 3"/>
          <p:cNvSpPr/>
          <p:nvPr/>
        </p:nvSpPr>
        <p:spPr>
          <a:xfrm>
            <a:off x="731520" y="1828800"/>
            <a:ext cx="3566160" cy="2651760"/>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Simple true/false statements</a:t>
            </a:r>
            <a:pPr indent="0" marL="0">
              <a:buNone/>
            </a:pPr>
            <a:r>
              <a:rPr lang="en-US" sz="1100" dirty="0">
                <a:solidFill>
                  <a:srgbClr val="1A1A2E"/>
                </a:solidFill>
                <a:latin typeface="Calibri" pitchFamily="34" charset="0"/>
                <a:ea typeface="Calibri" pitchFamily="34" charset="-122"/>
                <a:cs typeface="Calibri" pitchFamily="34" charset="-120"/>
              </a:rPr>
              <a:t>Combined with AND, OR, NOT</a:t>
            </a:r>
            <a:pPr indent="0" marL="0">
              <a:buNone/>
            </a:pPr>
            <a:r>
              <a:rPr lang="en-US" sz="1100" dirty="0">
                <a:solidFill>
                  <a:srgbClr val="1A1A2E"/>
                </a:solidFill>
                <a:latin typeface="Calibri" pitchFamily="34" charset="0"/>
                <a:ea typeface="Calibri" pitchFamily="34" charset="-122"/>
                <a:cs typeface="Calibri" pitchFamily="34" charset="-120"/>
              </a:rPr>
              <a:t>Easy to understand but limited</a:t>
            </a:r>
            <a:pPr indent="0" marL="0">
              <a:buNone/>
            </a:pPr>
            <a:r>
              <a:rPr lang="en-US" sz="1100" dirty="0">
                <a:solidFill>
                  <a:srgbClr val="1A1A2E"/>
                </a:solidFill>
                <a:latin typeface="Calibri" pitchFamily="34" charset="0"/>
                <a:ea typeface="Calibri" pitchFamily="34" charset="-122"/>
                <a:cs typeface="Calibri" pitchFamily="34" charset="-120"/>
              </a:rPr>
              <a:t>Example: "It is raining" AND "I have umbrella"</a:t>
            </a:r>
            <a:endParaRPr lang="en-US" sz="1100" dirty="0"/>
          </a:p>
        </p:txBody>
      </p:sp>
      <p:sp>
        <p:nvSpPr>
          <p:cNvPr id="6" name="Shape 4"/>
          <p:cNvSpPr/>
          <p:nvPr/>
        </p:nvSpPr>
        <p:spPr>
          <a:xfrm>
            <a:off x="4754880" y="1188720"/>
            <a:ext cx="3931920" cy="3566160"/>
          </a:xfrm>
          <a:prstGeom prst="rect">
            <a:avLst/>
          </a:prstGeom>
          <a:solidFill>
            <a:srgbClr val="FFFFFF"/>
          </a:solidFill>
          <a:ln w="25400">
            <a:solidFill>
              <a:srgbClr val="00B4D8"/>
            </a:solidFill>
            <a:prstDash val="solid"/>
          </a:ln>
        </p:spPr>
      </p:sp>
      <p:sp>
        <p:nvSpPr>
          <p:cNvPr id="7" name="Text 5"/>
          <p:cNvSpPr/>
          <p:nvPr/>
        </p:nvSpPr>
        <p:spPr>
          <a:xfrm>
            <a:off x="4937760" y="1371600"/>
            <a:ext cx="3566160" cy="274320"/>
          </a:xfrm>
          <a:prstGeom prst="rect">
            <a:avLst/>
          </a:prstGeom>
          <a:noFill/>
          <a:ln/>
        </p:spPr>
        <p:txBody>
          <a:bodyPr wrap="square" rtlCol="0" anchor="ctr"/>
          <a:lstStyle/>
          <a:p>
            <a:pPr indent="0" marL="0">
              <a:buNone/>
            </a:pPr>
            <a:r>
              <a:rPr lang="en-US" sz="1400" b="1" dirty="0">
                <a:solidFill>
                  <a:srgbClr val="00B4D8"/>
                </a:solidFill>
                <a:latin typeface="Georgia" pitchFamily="34" charset="0"/>
                <a:ea typeface="Georgia" pitchFamily="34" charset="-122"/>
                <a:cs typeface="Georgia" pitchFamily="34" charset="-120"/>
              </a:rPr>
              <a:t>First-Order Logic</a:t>
            </a:r>
            <a:endParaRPr lang="en-US" sz="1400" dirty="0"/>
          </a:p>
        </p:txBody>
      </p:sp>
      <p:sp>
        <p:nvSpPr>
          <p:cNvPr id="8" name="Text 6"/>
          <p:cNvSpPr/>
          <p:nvPr/>
        </p:nvSpPr>
        <p:spPr>
          <a:xfrm>
            <a:off x="5120640" y="1828800"/>
            <a:ext cx="3566160" cy="2651760"/>
          </a:xfrm>
          <a:prstGeom prst="rect">
            <a:avLst/>
          </a:prstGeom>
          <a:noFill/>
          <a:ln/>
        </p:spPr>
        <p:txBody>
          <a:bodyPr wrap="square" rtlCol="0" anchor="ctr"/>
          <a:lstStyle/>
          <a:p>
            <a:pPr indent="0" marL="0">
              <a:buNone/>
            </a:pPr>
            <a:r>
              <a:rPr lang="en-US" sz="1100" dirty="0">
                <a:solidFill>
                  <a:srgbClr val="1A1A2E"/>
                </a:solidFill>
                <a:latin typeface="Calibri" pitchFamily="34" charset="0"/>
                <a:ea typeface="Calibri" pitchFamily="34" charset="-122"/>
                <a:cs typeface="Calibri" pitchFamily="34" charset="-120"/>
              </a:rPr>
              <a:t>Objects, predicates, and variables</a:t>
            </a:r>
            <a:pPr indent="0" marL="0">
              <a:buNone/>
            </a:pPr>
            <a:r>
              <a:rPr lang="en-US" sz="1100" dirty="0">
                <a:solidFill>
                  <a:srgbClr val="1A1A2E"/>
                </a:solidFill>
                <a:latin typeface="Calibri" pitchFamily="34" charset="0"/>
                <a:ea typeface="Calibri" pitchFamily="34" charset="-122"/>
                <a:cs typeface="Calibri" pitchFamily="34" charset="-120"/>
              </a:rPr>
              <a:t>Can express relationships and quantifiers</a:t>
            </a:r>
            <a:pPr indent="0" marL="0">
              <a:buNone/>
            </a:pPr>
            <a:r>
              <a:rPr lang="en-US" sz="1100" dirty="0">
                <a:solidFill>
                  <a:srgbClr val="1A1A2E"/>
                </a:solidFill>
                <a:latin typeface="Calibri" pitchFamily="34" charset="0"/>
                <a:ea typeface="Calibri" pitchFamily="34" charset="-122"/>
                <a:cs typeface="Calibri" pitchFamily="34" charset="-120"/>
              </a:rPr>
              <a:t>More expressive than propositional logic</a:t>
            </a:r>
            <a:pPr indent="0" marL="0">
              <a:buNone/>
            </a:pPr>
            <a:r>
              <a:rPr lang="en-US" sz="1100" dirty="0">
                <a:solidFill>
                  <a:srgbClr val="1A1A2E"/>
                </a:solidFill>
                <a:latin typeface="Calibri" pitchFamily="34" charset="0"/>
                <a:ea typeface="Calibri" pitchFamily="34" charset="-122"/>
                <a:cs typeface="Calibri" pitchFamily="34" charset="-120"/>
              </a:rPr>
              <a:t>Example: For all x (Dog(x) implies Mammal(x))</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E8F4F8"/>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4000" b="1" dirty="0">
                <a:solidFill>
                  <a:srgbClr val="0D1B2A"/>
                </a:solidFill>
                <a:latin typeface="Georgia" pitchFamily="34" charset="0"/>
                <a:ea typeface="Georgia" pitchFamily="34" charset="-122"/>
                <a:cs typeface="Georgia" pitchFamily="34" charset="-120"/>
              </a:rPr>
              <a:t>Semantic Networks &amp; Ontologies</a:t>
            </a:r>
            <a:endParaRPr lang="en-US" sz="4000" dirty="0"/>
          </a:p>
        </p:txBody>
      </p:sp>
      <p:sp>
        <p:nvSpPr>
          <p:cNvPr id="3" name="Shape 1"/>
          <p:cNvSpPr/>
          <p:nvPr/>
        </p:nvSpPr>
        <p:spPr>
          <a:xfrm>
            <a:off x="457200" y="1188720"/>
            <a:ext cx="3931920" cy="3566160"/>
          </a:xfrm>
          <a:prstGeom prst="rect">
            <a:avLst/>
          </a:prstGeom>
          <a:solidFill>
            <a:srgbClr val="FFFFFF"/>
          </a:solidFill>
          <a:ln w="25400">
            <a:solidFill>
              <a:srgbClr val="2E86AB"/>
            </a:solidFill>
            <a:prstDash val="solid"/>
          </a:ln>
        </p:spPr>
      </p:sp>
      <p:sp>
        <p:nvSpPr>
          <p:cNvPr id="4" name="Text 2"/>
          <p:cNvSpPr/>
          <p:nvPr/>
        </p:nvSpPr>
        <p:spPr>
          <a:xfrm>
            <a:off x="640080" y="1371600"/>
            <a:ext cx="3566160" cy="274320"/>
          </a:xfrm>
          <a:prstGeom prst="rect">
            <a:avLst/>
          </a:prstGeom>
          <a:noFill/>
          <a:ln/>
        </p:spPr>
        <p:txBody>
          <a:bodyPr wrap="square" rtlCol="0" anchor="ctr"/>
          <a:lstStyle/>
          <a:p>
            <a:pPr indent="0" marL="0">
              <a:buNone/>
            </a:pPr>
            <a:r>
              <a:rPr lang="en-US" sz="1400" b="1" dirty="0">
                <a:solidFill>
                  <a:srgbClr val="2E86AB"/>
                </a:solidFill>
                <a:latin typeface="Georgia" pitchFamily="34" charset="0"/>
                <a:ea typeface="Georgia" pitchFamily="34" charset="-122"/>
                <a:cs typeface="Georgia" pitchFamily="34" charset="-120"/>
              </a:rPr>
              <a:t>Semantic Networks</a:t>
            </a:r>
            <a:endParaRPr lang="en-US" sz="1400" dirty="0"/>
          </a:p>
        </p:txBody>
      </p:sp>
      <p:sp>
        <p:nvSpPr>
          <p:cNvPr id="5" name="Text 3"/>
          <p:cNvSpPr/>
          <p:nvPr/>
        </p:nvSpPr>
        <p:spPr>
          <a:xfrm>
            <a:off x="731520" y="1828800"/>
            <a:ext cx="3566160" cy="1920240"/>
          </a:xfrm>
          <a:prstGeom prst="rect">
            <a:avLst/>
          </a:prstGeom>
          <a:noFill/>
          <a:ln/>
        </p:spPr>
        <p:txBody>
          <a:bodyPr wrap="square" rtlCol="0" anchor="ctr"/>
          <a:lstStyle/>
          <a:p>
            <a:pPr indent="0" marL="0">
              <a:buNone/>
            </a:pPr>
            <a:r>
              <a:rPr lang="en-US" sz="1200" dirty="0">
                <a:solidFill>
                  <a:srgbClr val="1A1A2E"/>
                </a:solidFill>
                <a:latin typeface="Calibri" pitchFamily="34" charset="0"/>
                <a:ea typeface="Calibri" pitchFamily="34" charset="-122"/>
                <a:cs typeface="Calibri" pitchFamily="34" charset="-120"/>
              </a:rPr>
              <a:t>Nodes = concepts/objects</a:t>
            </a:r>
            <a:pPr indent="0" marL="0">
              <a:buNone/>
            </a:pPr>
            <a:r>
              <a:rPr lang="en-US" sz="1200" dirty="0">
                <a:solidFill>
                  <a:srgbClr val="1A1A2E"/>
                </a:solidFill>
                <a:latin typeface="Calibri" pitchFamily="34" charset="0"/>
                <a:ea typeface="Calibri" pitchFamily="34" charset="-122"/>
                <a:cs typeface="Calibri" pitchFamily="34" charset="-120"/>
              </a:rPr>
              <a:t>Edges = relationships</a:t>
            </a:r>
            <a:pPr indent="0" marL="0">
              <a:buNone/>
            </a:pPr>
            <a:r>
              <a:rPr lang="en-US" sz="1200" dirty="0">
                <a:solidFill>
                  <a:srgbClr val="1A1A2E"/>
                </a:solidFill>
                <a:latin typeface="Calibri" pitchFamily="34" charset="0"/>
                <a:ea typeface="Calibri" pitchFamily="34" charset="-122"/>
                <a:cs typeface="Calibri" pitchFamily="34" charset="-120"/>
              </a:rPr>
              <a:t>Visual and intuitive</a:t>
            </a:r>
            <a:pPr indent="0" marL="0">
              <a:buNone/>
            </a:pPr>
            <a:r>
              <a:rPr lang="en-US" sz="1200" dirty="0">
                <a:solidFill>
                  <a:srgbClr val="1A1A2E"/>
                </a:solidFill>
                <a:latin typeface="Calibri" pitchFamily="34" charset="0"/>
                <a:ea typeface="Calibri" pitchFamily="34" charset="-122"/>
                <a:cs typeface="Calibri" pitchFamily="34" charset="-120"/>
              </a:rPr>
              <a:t>Good for object relationships</a:t>
            </a:r>
            <a:endParaRPr lang="en-US" sz="1200" dirty="0"/>
          </a:p>
        </p:txBody>
      </p:sp>
      <p:sp>
        <p:nvSpPr>
          <p:cNvPr id="6" name="Shape 4"/>
          <p:cNvSpPr/>
          <p:nvPr/>
        </p:nvSpPr>
        <p:spPr>
          <a:xfrm>
            <a:off x="1920240" y="2926080"/>
            <a:ext cx="274320" cy="274320"/>
          </a:xfrm>
          <a:prstGeom prst="ellipse">
            <a:avLst/>
          </a:prstGeom>
          <a:solidFill>
            <a:srgbClr val="2E86AB"/>
          </a:solidFill>
          <a:ln/>
        </p:spPr>
      </p:sp>
      <p:sp>
        <p:nvSpPr>
          <p:cNvPr id="7" name="Shape 5"/>
          <p:cNvSpPr/>
          <p:nvPr/>
        </p:nvSpPr>
        <p:spPr>
          <a:xfrm>
            <a:off x="1463040" y="3383280"/>
            <a:ext cx="228600" cy="228600"/>
          </a:xfrm>
          <a:prstGeom prst="ellipse">
            <a:avLst/>
          </a:prstGeom>
          <a:solidFill>
            <a:srgbClr val="2E86AB"/>
          </a:solidFill>
          <a:ln/>
        </p:spPr>
      </p:sp>
      <p:sp>
        <p:nvSpPr>
          <p:cNvPr id="8" name="Shape 6"/>
          <p:cNvSpPr/>
          <p:nvPr/>
        </p:nvSpPr>
        <p:spPr>
          <a:xfrm>
            <a:off x="2377440" y="3383280"/>
            <a:ext cx="228600" cy="228600"/>
          </a:xfrm>
          <a:prstGeom prst="ellipse">
            <a:avLst/>
          </a:prstGeom>
          <a:solidFill>
            <a:srgbClr val="2E86AB"/>
          </a:solidFill>
          <a:ln/>
        </p:spPr>
      </p:sp>
      <p:sp>
        <p:nvSpPr>
          <p:cNvPr id="9" name="Shape 7"/>
          <p:cNvSpPr/>
          <p:nvPr/>
        </p:nvSpPr>
        <p:spPr>
          <a:xfrm>
            <a:off x="4754880" y="1188720"/>
            <a:ext cx="3931920" cy="3566160"/>
          </a:xfrm>
          <a:prstGeom prst="rect">
            <a:avLst/>
          </a:prstGeom>
          <a:solidFill>
            <a:srgbClr val="FFFFFF"/>
          </a:solidFill>
          <a:ln w="25400">
            <a:solidFill>
              <a:srgbClr val="00B4D8"/>
            </a:solidFill>
            <a:prstDash val="solid"/>
          </a:ln>
        </p:spPr>
      </p:sp>
      <p:sp>
        <p:nvSpPr>
          <p:cNvPr id="10" name="Text 8"/>
          <p:cNvSpPr/>
          <p:nvPr/>
        </p:nvSpPr>
        <p:spPr>
          <a:xfrm>
            <a:off x="4937760" y="1371600"/>
            <a:ext cx="3566160" cy="274320"/>
          </a:xfrm>
          <a:prstGeom prst="rect">
            <a:avLst/>
          </a:prstGeom>
          <a:noFill/>
          <a:ln/>
        </p:spPr>
        <p:txBody>
          <a:bodyPr wrap="square" rtlCol="0" anchor="ctr"/>
          <a:lstStyle/>
          <a:p>
            <a:pPr indent="0" marL="0">
              <a:buNone/>
            </a:pPr>
            <a:r>
              <a:rPr lang="en-US" sz="1400" b="1" dirty="0">
                <a:solidFill>
                  <a:srgbClr val="00B4D8"/>
                </a:solidFill>
                <a:latin typeface="Georgia" pitchFamily="34" charset="0"/>
                <a:ea typeface="Georgia" pitchFamily="34" charset="-122"/>
                <a:cs typeface="Georgia" pitchFamily="34" charset="-120"/>
              </a:rPr>
              <a:t>Ontologies</a:t>
            </a:r>
            <a:endParaRPr lang="en-US" sz="1400" dirty="0"/>
          </a:p>
        </p:txBody>
      </p:sp>
      <p:sp>
        <p:nvSpPr>
          <p:cNvPr id="11" name="Text 9"/>
          <p:cNvSpPr/>
          <p:nvPr/>
        </p:nvSpPr>
        <p:spPr>
          <a:xfrm>
            <a:off x="5120640" y="1828800"/>
            <a:ext cx="3566160" cy="1920240"/>
          </a:xfrm>
          <a:prstGeom prst="rect">
            <a:avLst/>
          </a:prstGeom>
          <a:noFill/>
          <a:ln/>
        </p:spPr>
        <p:txBody>
          <a:bodyPr wrap="square" rtlCol="0" anchor="ctr"/>
          <a:lstStyle/>
          <a:p>
            <a:pPr indent="0" marL="0">
              <a:buNone/>
            </a:pPr>
            <a:r>
              <a:rPr lang="en-US" sz="1200" dirty="0">
                <a:solidFill>
                  <a:srgbClr val="1A1A2E"/>
                </a:solidFill>
                <a:latin typeface="Calibri" pitchFamily="34" charset="0"/>
                <a:ea typeface="Calibri" pitchFamily="34" charset="-122"/>
                <a:cs typeface="Calibri" pitchFamily="34" charset="-120"/>
              </a:rPr>
              <a:t>Formal specifications of concepts</a:t>
            </a:r>
            <a:pPr indent="0" marL="0">
              <a:buNone/>
            </a:pPr>
            <a:r>
              <a:rPr lang="en-US" sz="1200" dirty="0">
                <a:solidFill>
                  <a:srgbClr val="1A1A2E"/>
                </a:solidFill>
                <a:latin typeface="Calibri" pitchFamily="34" charset="0"/>
                <a:ea typeface="Calibri" pitchFamily="34" charset="-122"/>
                <a:cs typeface="Calibri" pitchFamily="34" charset="-120"/>
              </a:rPr>
              <a:t>Hierarchical classification</a:t>
            </a:r>
            <a:pPr indent="0" marL="0">
              <a:buNone/>
            </a:pPr>
            <a:r>
              <a:rPr lang="en-US" sz="1200" dirty="0">
                <a:solidFill>
                  <a:srgbClr val="1A1A2E"/>
                </a:solidFill>
                <a:latin typeface="Calibri" pitchFamily="34" charset="0"/>
                <a:ea typeface="Calibri" pitchFamily="34" charset="-122"/>
                <a:cs typeface="Calibri" pitchFamily="34" charset="-120"/>
              </a:rPr>
              <a:t>Enables semantic reasoning</a:t>
            </a:r>
            <a:pPr indent="0" marL="0">
              <a:buNone/>
            </a:pPr>
            <a:r>
              <a:rPr lang="en-US" sz="1200" dirty="0">
                <a:solidFill>
                  <a:srgbClr val="1A1A2E"/>
                </a:solidFill>
                <a:latin typeface="Calibri" pitchFamily="34" charset="0"/>
                <a:ea typeface="Calibri" pitchFamily="34" charset="-122"/>
                <a:cs typeface="Calibri" pitchFamily="34" charset="-120"/>
              </a:rPr>
              <a:t>Examples: SUMO, DBpedia, Schema.org</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E8F4F8"/>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4000" b="1" dirty="0">
                <a:solidFill>
                  <a:srgbClr val="0D1B2A"/>
                </a:solidFill>
                <a:latin typeface="Georgia" pitchFamily="34" charset="0"/>
                <a:ea typeface="Georgia" pitchFamily="34" charset="-122"/>
                <a:cs typeface="Georgia" pitchFamily="34" charset="-120"/>
              </a:rPr>
              <a:t>Session 3 Summary: Search &amp; Knowledge</a:t>
            </a:r>
            <a:endParaRPr lang="en-US" sz="4000" dirty="0"/>
          </a:p>
        </p:txBody>
      </p:sp>
      <p:sp>
        <p:nvSpPr>
          <p:cNvPr id="3" name="Shape 1"/>
          <p:cNvSpPr/>
          <p:nvPr/>
        </p:nvSpPr>
        <p:spPr>
          <a:xfrm>
            <a:off x="457200" y="1097280"/>
            <a:ext cx="8229600" cy="3566160"/>
          </a:xfrm>
          <a:prstGeom prst="rect">
            <a:avLst/>
          </a:prstGeom>
          <a:solidFill>
            <a:srgbClr val="FFFFFF"/>
          </a:solidFill>
          <a:ln w="25400">
            <a:solidFill>
              <a:srgbClr val="1B3A5C"/>
            </a:solidFill>
            <a:prstDash val="solid"/>
          </a:ln>
        </p:spPr>
      </p:sp>
      <p:sp>
        <p:nvSpPr>
          <p:cNvPr id="4" name="Text 2"/>
          <p:cNvSpPr/>
          <p:nvPr/>
        </p:nvSpPr>
        <p:spPr>
          <a:xfrm>
            <a:off x="731520" y="1371600"/>
            <a:ext cx="7680960" cy="3108960"/>
          </a:xfrm>
          <a:prstGeom prst="rect">
            <a:avLst/>
          </a:prstGeom>
          <a:noFill/>
          <a:ln/>
        </p:spPr>
        <p:txBody>
          <a:bodyPr wrap="square" rtlCol="0" anchor="ctr"/>
          <a:lstStyle/>
          <a:p>
            <a:pPr indent="0" marL="0">
              <a:buNone/>
            </a:pPr>
            <a:r>
              <a:rPr lang="en-US" sz="1200" dirty="0">
                <a:solidFill>
                  <a:srgbClr val="1A1A2E"/>
                </a:solidFill>
                <a:latin typeface="Calibri" pitchFamily="34" charset="0"/>
                <a:ea typeface="Calibri" pitchFamily="34" charset="-122"/>
                <a:cs typeface="Calibri" pitchFamily="34" charset="-120"/>
              </a:rPr>
              <a:t>Uninformed search explores without domain knowledge</a:t>
            </a:r>
            <a:pPr indent="0" marL="0">
              <a:buNone/>
            </a:pPr>
            <a:r>
              <a:rPr lang="en-US" sz="1200" dirty="0">
                <a:solidFill>
                  <a:srgbClr val="1A1A2E"/>
                </a:solidFill>
                <a:latin typeface="Calibri" pitchFamily="34" charset="0"/>
                <a:ea typeface="Calibri" pitchFamily="34" charset="-122"/>
                <a:cs typeface="Calibri" pitchFamily="34" charset="-120"/>
              </a:rPr>
              <a:t>BFS, DFS, UCS each have trade-offs</a:t>
            </a:r>
            <a:pPr indent="0" marL="0">
              <a:buNone/>
            </a:pPr>
            <a:r>
              <a:rPr lang="en-US" sz="1200" dirty="0">
                <a:solidFill>
                  <a:srgbClr val="1A1A2E"/>
                </a:solidFill>
                <a:latin typeface="Calibri" pitchFamily="34" charset="0"/>
                <a:ea typeface="Calibri" pitchFamily="34" charset="-122"/>
                <a:cs typeface="Calibri" pitchFamily="34" charset="-120"/>
              </a:rPr>
              <a:t>Heuristics guide informed search efficiently</a:t>
            </a:r>
            <a:pPr indent="0" marL="0">
              <a:buNone/>
            </a:pPr>
            <a:r>
              <a:rPr lang="en-US" sz="1200" dirty="0">
                <a:solidFill>
                  <a:srgbClr val="1A1A2E"/>
                </a:solidFill>
                <a:latin typeface="Calibri" pitchFamily="34" charset="0"/>
                <a:ea typeface="Calibri" pitchFamily="34" charset="-122"/>
                <a:cs typeface="Calibri" pitchFamily="34" charset="-120"/>
              </a:rPr>
              <a:t>A* combines optimality with practical speed</a:t>
            </a:r>
            <a:pPr indent="0" marL="0">
              <a:buNone/>
            </a:pPr>
            <a:r>
              <a:rPr lang="en-US" sz="1200" dirty="0">
                <a:solidFill>
                  <a:srgbClr val="1A1A2E"/>
                </a:solidFill>
                <a:latin typeface="Calibri" pitchFamily="34" charset="0"/>
                <a:ea typeface="Calibri" pitchFamily="34" charset="-122"/>
                <a:cs typeface="Calibri" pitchFamily="34" charset="-120"/>
              </a:rPr>
              <a:t>Knowledge representation enables reasoning</a:t>
            </a:r>
            <a:pPr indent="0" marL="0">
              <a:buNone/>
            </a:pPr>
            <a:r>
              <a:rPr lang="en-US" sz="1200" dirty="0">
                <a:solidFill>
                  <a:srgbClr val="1A1A2E"/>
                </a:solidFill>
                <a:latin typeface="Calibri" pitchFamily="34" charset="0"/>
                <a:ea typeface="Calibri" pitchFamily="34" charset="-122"/>
                <a:cs typeface="Calibri" pitchFamily="34" charset="-120"/>
              </a:rPr>
              <a:t>Logic, networks, and ontologies structure knowledge</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E8F4F8"/>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4000" b="1" dirty="0">
                <a:solidFill>
                  <a:srgbClr val="0D1B2A"/>
                </a:solidFill>
                <a:latin typeface="Georgia" pitchFamily="34" charset="0"/>
                <a:ea typeface="Georgia" pitchFamily="34" charset="-122"/>
                <a:cs typeface="Georgia" pitchFamily="34" charset="-120"/>
              </a:rPr>
              <a:t>Week 1 Key Takeaways</a:t>
            </a:r>
            <a:endParaRPr lang="en-US" sz="4000" dirty="0"/>
          </a:p>
        </p:txBody>
      </p:sp>
      <p:sp>
        <p:nvSpPr>
          <p:cNvPr id="3" name="Shape 1"/>
          <p:cNvSpPr/>
          <p:nvPr/>
        </p:nvSpPr>
        <p:spPr>
          <a:xfrm>
            <a:off x="457200" y="1097280"/>
            <a:ext cx="8229600" cy="3566160"/>
          </a:xfrm>
          <a:prstGeom prst="rect">
            <a:avLst/>
          </a:prstGeom>
          <a:solidFill>
            <a:srgbClr val="FFFFFF"/>
          </a:solidFill>
          <a:ln w="38100">
            <a:solidFill>
              <a:srgbClr val="2E86AB"/>
            </a:solidFill>
            <a:prstDash val="solid"/>
          </a:ln>
        </p:spPr>
      </p:sp>
      <p:sp>
        <p:nvSpPr>
          <p:cNvPr id="4" name="Text 2"/>
          <p:cNvSpPr/>
          <p:nvPr/>
        </p:nvSpPr>
        <p:spPr>
          <a:xfrm>
            <a:off x="731520" y="1371600"/>
            <a:ext cx="7680960" cy="3108960"/>
          </a:xfrm>
          <a:prstGeom prst="rect">
            <a:avLst/>
          </a:prstGeom>
          <a:noFill/>
          <a:ln/>
        </p:spPr>
        <p:txBody>
          <a:bodyPr wrap="square" rtlCol="0" anchor="ctr"/>
          <a:lstStyle/>
          <a:p>
            <a:pPr indent="0" marL="0">
              <a:buNone/>
            </a:pPr>
            <a:r>
              <a:rPr lang="en-US" sz="1300" dirty="0">
                <a:solidFill>
                  <a:srgbClr val="1A1A2E"/>
                </a:solidFill>
                <a:latin typeface="Calibri" pitchFamily="34" charset="0"/>
                <a:ea typeface="Calibri" pitchFamily="34" charset="-122"/>
                <a:cs typeface="Calibri" pitchFamily="34" charset="-120"/>
              </a:rPr>
              <a:t>AI is a broad field with multiple definitions and frameworks</a:t>
            </a:r>
            <a:pPr indent="0" marL="0">
              <a:buNone/>
            </a:pPr>
            <a:r>
              <a:rPr lang="en-US" sz="1300" dirty="0">
                <a:solidFill>
                  <a:srgbClr val="1A1A2E"/>
                </a:solidFill>
                <a:latin typeface="Calibri" pitchFamily="34" charset="0"/>
                <a:ea typeface="Calibri" pitchFamily="34" charset="-122"/>
                <a:cs typeface="Calibri" pitchFamily="34" charset="-120"/>
              </a:rPr>
              <a:t>Modern AI systems are narrow, specialized applications</a:t>
            </a:r>
            <a:pPr indent="0" marL="0">
              <a:buNone/>
            </a:pPr>
            <a:r>
              <a:rPr lang="en-US" sz="1300" dirty="0">
                <a:solidFill>
                  <a:srgbClr val="1A1A2E"/>
                </a:solidFill>
                <a:latin typeface="Calibri" pitchFamily="34" charset="0"/>
                <a:ea typeface="Calibri" pitchFamily="34" charset="-122"/>
                <a:cs typeface="Calibri" pitchFamily="34" charset="-120"/>
              </a:rPr>
              <a:t>Intelligent agents perceive, reason, and act</a:t>
            </a:r>
            <a:pPr indent="0" marL="0">
              <a:buNone/>
            </a:pPr>
            <a:r>
              <a:rPr lang="en-US" sz="1300" dirty="0">
                <a:solidFill>
                  <a:srgbClr val="1A1A2E"/>
                </a:solidFill>
                <a:latin typeface="Calibri" pitchFamily="34" charset="0"/>
                <a:ea typeface="Calibri" pitchFamily="34" charset="-122"/>
                <a:cs typeface="Calibri" pitchFamily="34" charset="-120"/>
              </a:rPr>
              <a:t>Search algorithms solve problems systematically</a:t>
            </a:r>
            <a:pPr indent="0" marL="0">
              <a:buNone/>
            </a:pPr>
            <a:r>
              <a:rPr lang="en-US" sz="1300" dirty="0">
                <a:solidFill>
                  <a:srgbClr val="1A1A2E"/>
                </a:solidFill>
                <a:latin typeface="Calibri" pitchFamily="34" charset="0"/>
                <a:ea typeface="Calibri" pitchFamily="34" charset="-122"/>
                <a:cs typeface="Calibri" pitchFamily="34" charset="-120"/>
              </a:rPr>
              <a:t>Heuristics enable efficient problem-solving</a:t>
            </a:r>
            <a:pPr indent="0" marL="0">
              <a:buNone/>
            </a:pPr>
            <a:r>
              <a:rPr lang="en-US" sz="1300" dirty="0">
                <a:solidFill>
                  <a:srgbClr val="1A1A2E"/>
                </a:solidFill>
                <a:latin typeface="Calibri" pitchFamily="34" charset="0"/>
                <a:ea typeface="Calibri" pitchFamily="34" charset="-122"/>
                <a:cs typeface="Calibri" pitchFamily="34" charset="-120"/>
              </a:rPr>
              <a:t>Knowledge representation structures domain expertise</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E8F4F8"/>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4000" b="1" dirty="0">
                <a:solidFill>
                  <a:srgbClr val="0D1B2A"/>
                </a:solidFill>
                <a:latin typeface="Georgia" pitchFamily="34" charset="0"/>
                <a:ea typeface="Georgia" pitchFamily="34" charset="-122"/>
                <a:cs typeface="Georgia" pitchFamily="34" charset="-120"/>
              </a:rPr>
              <a:t>Week 1 Deliverables</a:t>
            </a:r>
            <a:endParaRPr lang="en-US" sz="4000" dirty="0"/>
          </a:p>
        </p:txBody>
      </p:sp>
      <p:sp>
        <p:nvSpPr>
          <p:cNvPr id="3" name="Shape 1"/>
          <p:cNvSpPr/>
          <p:nvPr/>
        </p:nvSpPr>
        <p:spPr>
          <a:xfrm>
            <a:off x="457200" y="1188720"/>
            <a:ext cx="2651760" cy="3383280"/>
          </a:xfrm>
          <a:prstGeom prst="roundRect">
            <a:avLst/>
          </a:prstGeom>
          <a:solidFill>
            <a:srgbClr val="FFFFFF"/>
          </a:solidFill>
          <a:ln w="38100">
            <a:solidFill>
              <a:srgbClr val="2E86AB"/>
            </a:solidFill>
            <a:prstDash val="solid"/>
          </a:ln>
        </p:spPr>
      </p:sp>
      <p:sp>
        <p:nvSpPr>
          <p:cNvPr id="4" name="Shape 2"/>
          <p:cNvSpPr/>
          <p:nvPr/>
        </p:nvSpPr>
        <p:spPr>
          <a:xfrm>
            <a:off x="457200" y="1188720"/>
            <a:ext cx="2651760" cy="548640"/>
          </a:xfrm>
          <a:prstGeom prst="rect">
            <a:avLst/>
          </a:prstGeom>
          <a:solidFill>
            <a:srgbClr val="2E86AB"/>
          </a:solidFill>
          <a:ln/>
        </p:spPr>
      </p:sp>
      <p:sp>
        <p:nvSpPr>
          <p:cNvPr id="5" name="Text 3"/>
          <p:cNvSpPr/>
          <p:nvPr/>
        </p:nvSpPr>
        <p:spPr>
          <a:xfrm>
            <a:off x="594360" y="1234440"/>
            <a:ext cx="2377440" cy="45720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Exercise 1</a:t>
            </a:r>
            <a:endParaRPr lang="en-US" sz="1600" dirty="0"/>
          </a:p>
        </p:txBody>
      </p:sp>
      <p:sp>
        <p:nvSpPr>
          <p:cNvPr id="6" name="Text 4"/>
          <p:cNvSpPr/>
          <p:nvPr/>
        </p:nvSpPr>
        <p:spPr>
          <a:xfrm>
            <a:off x="640080" y="2011680"/>
            <a:ext cx="2286000" cy="2286000"/>
          </a:xfrm>
          <a:prstGeom prst="rect">
            <a:avLst/>
          </a:prstGeom>
          <a:noFill/>
          <a:ln/>
        </p:spPr>
        <p:txBody>
          <a:bodyPr wrap="square" rtlCol="0" anchor="t"/>
          <a:lstStyle/>
          <a:p>
            <a:pPr algn="ctr" indent="0" marL="0">
              <a:buNone/>
            </a:pPr>
            <a:r>
              <a:rPr lang="en-US" sz="1200" dirty="0">
                <a:solidFill>
                  <a:srgbClr val="1A1A2E"/>
                </a:solidFill>
                <a:latin typeface="Calibri" pitchFamily="34" charset="0"/>
                <a:ea typeface="Calibri" pitchFamily="34" charset="-122"/>
                <a:cs typeface="Calibri" pitchFamily="34" charset="-120"/>
              </a:rPr>
              <a:t>Implement BFS and DFS algorithms</a:t>
            </a:r>
            <a:endParaRPr lang="en-US" sz="1200" dirty="0"/>
          </a:p>
        </p:txBody>
      </p:sp>
      <p:sp>
        <p:nvSpPr>
          <p:cNvPr id="7" name="Shape 5"/>
          <p:cNvSpPr/>
          <p:nvPr/>
        </p:nvSpPr>
        <p:spPr>
          <a:xfrm>
            <a:off x="3337560" y="1188720"/>
            <a:ext cx="2651760" cy="3383280"/>
          </a:xfrm>
          <a:prstGeom prst="roundRect">
            <a:avLst/>
          </a:prstGeom>
          <a:solidFill>
            <a:srgbClr val="FFFFFF"/>
          </a:solidFill>
          <a:ln w="38100">
            <a:solidFill>
              <a:srgbClr val="00B4D8"/>
            </a:solidFill>
            <a:prstDash val="solid"/>
          </a:ln>
        </p:spPr>
      </p:sp>
      <p:sp>
        <p:nvSpPr>
          <p:cNvPr id="8" name="Shape 6"/>
          <p:cNvSpPr/>
          <p:nvPr/>
        </p:nvSpPr>
        <p:spPr>
          <a:xfrm>
            <a:off x="3337560" y="1188720"/>
            <a:ext cx="2651760" cy="548640"/>
          </a:xfrm>
          <a:prstGeom prst="rect">
            <a:avLst/>
          </a:prstGeom>
          <a:solidFill>
            <a:srgbClr val="00B4D8"/>
          </a:solidFill>
          <a:ln/>
        </p:spPr>
      </p:sp>
      <p:sp>
        <p:nvSpPr>
          <p:cNvPr id="9" name="Text 7"/>
          <p:cNvSpPr/>
          <p:nvPr/>
        </p:nvSpPr>
        <p:spPr>
          <a:xfrm>
            <a:off x="3474720" y="1234440"/>
            <a:ext cx="2377440" cy="45720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Assignment 1</a:t>
            </a:r>
            <a:endParaRPr lang="en-US" sz="1600" dirty="0"/>
          </a:p>
        </p:txBody>
      </p:sp>
      <p:sp>
        <p:nvSpPr>
          <p:cNvPr id="10" name="Text 8"/>
          <p:cNvSpPr/>
          <p:nvPr/>
        </p:nvSpPr>
        <p:spPr>
          <a:xfrm>
            <a:off x="3520440" y="2011680"/>
            <a:ext cx="2286000" cy="2286000"/>
          </a:xfrm>
          <a:prstGeom prst="rect">
            <a:avLst/>
          </a:prstGeom>
          <a:noFill/>
          <a:ln/>
        </p:spPr>
        <p:txBody>
          <a:bodyPr wrap="square" rtlCol="0" anchor="t"/>
          <a:lstStyle/>
          <a:p>
            <a:pPr algn="ctr" indent="0" marL="0">
              <a:buNone/>
            </a:pPr>
            <a:r>
              <a:rPr lang="en-US" sz="1200" dirty="0">
                <a:solidFill>
                  <a:srgbClr val="1A1A2E"/>
                </a:solidFill>
                <a:latin typeface="Calibri" pitchFamily="34" charset="0"/>
                <a:ea typeface="Calibri" pitchFamily="34" charset="-122"/>
                <a:cs typeface="Calibri" pitchFamily="34" charset="-120"/>
              </a:rPr>
              <a:t>AI definitions and Turing Test essay</a:t>
            </a:r>
            <a:endParaRPr lang="en-US" sz="1200" dirty="0"/>
          </a:p>
        </p:txBody>
      </p:sp>
      <p:sp>
        <p:nvSpPr>
          <p:cNvPr id="11" name="Shape 9"/>
          <p:cNvSpPr/>
          <p:nvPr/>
        </p:nvSpPr>
        <p:spPr>
          <a:xfrm>
            <a:off x="6217920" y="1188720"/>
            <a:ext cx="2651760" cy="3383280"/>
          </a:xfrm>
          <a:prstGeom prst="roundRect">
            <a:avLst/>
          </a:prstGeom>
          <a:solidFill>
            <a:srgbClr val="FFFFFF"/>
          </a:solidFill>
          <a:ln w="38100">
            <a:solidFill>
              <a:srgbClr val="1B3A5C"/>
            </a:solidFill>
            <a:prstDash val="solid"/>
          </a:ln>
        </p:spPr>
      </p:sp>
      <p:sp>
        <p:nvSpPr>
          <p:cNvPr id="12" name="Shape 10"/>
          <p:cNvSpPr/>
          <p:nvPr/>
        </p:nvSpPr>
        <p:spPr>
          <a:xfrm>
            <a:off x="6217920" y="1188720"/>
            <a:ext cx="2651760" cy="548640"/>
          </a:xfrm>
          <a:prstGeom prst="rect">
            <a:avLst/>
          </a:prstGeom>
          <a:solidFill>
            <a:srgbClr val="1B3A5C"/>
          </a:solidFill>
          <a:ln/>
        </p:spPr>
      </p:sp>
      <p:sp>
        <p:nvSpPr>
          <p:cNvPr id="13" name="Text 11"/>
          <p:cNvSpPr/>
          <p:nvPr/>
        </p:nvSpPr>
        <p:spPr>
          <a:xfrm>
            <a:off x="6355080" y="1234440"/>
            <a:ext cx="2377440" cy="457200"/>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Project 1</a:t>
            </a:r>
            <a:endParaRPr lang="en-US" sz="1600" dirty="0"/>
          </a:p>
        </p:txBody>
      </p:sp>
      <p:sp>
        <p:nvSpPr>
          <p:cNvPr id="14" name="Text 12"/>
          <p:cNvSpPr/>
          <p:nvPr/>
        </p:nvSpPr>
        <p:spPr>
          <a:xfrm>
            <a:off x="6400800" y="2011680"/>
            <a:ext cx="2286000" cy="2286000"/>
          </a:xfrm>
          <a:prstGeom prst="rect">
            <a:avLst/>
          </a:prstGeom>
          <a:noFill/>
          <a:ln/>
        </p:spPr>
        <p:txBody>
          <a:bodyPr wrap="square" rtlCol="0" anchor="t"/>
          <a:lstStyle/>
          <a:p>
            <a:pPr algn="ctr" indent="0" marL="0">
              <a:buNone/>
            </a:pPr>
            <a:r>
              <a:rPr lang="en-US" sz="1200" dirty="0">
                <a:solidFill>
                  <a:srgbClr val="1A1A2E"/>
                </a:solidFill>
                <a:latin typeface="Calibri" pitchFamily="34" charset="0"/>
                <a:ea typeface="Calibri" pitchFamily="34" charset="-122"/>
                <a:cs typeface="Calibri" pitchFamily="34" charset="-120"/>
              </a:rPr>
              <a:t>Build simple agent environment</a:t>
            </a:r>
            <a:endParaRPr lang="en-US" sz="1200" dirty="0"/>
          </a:p>
        </p:txBody>
      </p:sp>
      <p:sp>
        <p:nvSpPr>
          <p:cNvPr id="15" name="Text 13"/>
          <p:cNvSpPr/>
          <p:nvPr/>
        </p:nvSpPr>
        <p:spPr>
          <a:xfrm>
            <a:off x="457200" y="4663440"/>
            <a:ext cx="8229600" cy="274320"/>
          </a:xfrm>
          <a:prstGeom prst="rect">
            <a:avLst/>
          </a:prstGeom>
          <a:noFill/>
          <a:ln/>
        </p:spPr>
        <p:txBody>
          <a:bodyPr wrap="square" rtlCol="0" anchor="ctr"/>
          <a:lstStyle/>
          <a:p>
            <a:pPr algn="ctr" indent="0" marL="0">
              <a:buNone/>
            </a:pPr>
            <a:r>
              <a:rPr lang="en-US" sz="1200" i="1" dirty="0">
                <a:solidFill>
                  <a:srgbClr val="1A1A2E"/>
                </a:solidFill>
                <a:latin typeface="Calibri" pitchFamily="34" charset="0"/>
                <a:ea typeface="Calibri" pitchFamily="34" charset="-122"/>
                <a:cs typeface="Calibri" pitchFamily="34" charset="-120"/>
              </a:rPr>
              <a:t>Due: End of Week 1</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E8F4F8"/>
        </a:solidFill>
      </p:bgPr>
    </p:bg>
    <p:spTree>
      <p:nvGrpSpPr>
        <p:cNvPr id="1" name=""/>
        <p:cNvGrpSpPr/>
        <p:nvPr/>
      </p:nvGrpSpPr>
      <p:grpSpPr>
        <a:xfrm>
          <a:off x="0" y="0"/>
          <a:ext cx="0" cy="0"/>
          <a:chOff x="0" y="0"/>
          <a:chExt cx="0" cy="0"/>
        </a:xfrm>
      </p:grpSpPr>
      <p:sp>
        <p:nvSpPr>
          <p:cNvPr id="2" name="Text 0"/>
          <p:cNvSpPr/>
          <p:nvPr/>
        </p:nvSpPr>
        <p:spPr>
          <a:xfrm>
            <a:off x="457200" y="365760"/>
            <a:ext cx="8229600" cy="548640"/>
          </a:xfrm>
          <a:prstGeom prst="rect">
            <a:avLst/>
          </a:prstGeom>
          <a:noFill/>
          <a:ln/>
        </p:spPr>
        <p:txBody>
          <a:bodyPr wrap="square" rtlCol="0" anchor="ctr"/>
          <a:lstStyle/>
          <a:p>
            <a:pPr indent="0" marL="0">
              <a:buNone/>
            </a:pPr>
            <a:r>
              <a:rPr lang="en-US" sz="4000" b="1" dirty="0">
                <a:solidFill>
                  <a:srgbClr val="0D1B2A"/>
                </a:solidFill>
                <a:latin typeface="Georgia" pitchFamily="34" charset="0"/>
                <a:ea typeface="Georgia" pitchFamily="34" charset="-122"/>
                <a:cs typeface="Georgia" pitchFamily="34" charset="-120"/>
              </a:rPr>
              <a:t>Coming Next: Week 2</a:t>
            </a:r>
            <a:endParaRPr lang="en-US" sz="4000" dirty="0"/>
          </a:p>
        </p:txBody>
      </p:sp>
      <p:sp>
        <p:nvSpPr>
          <p:cNvPr id="3" name="Shape 1"/>
          <p:cNvSpPr/>
          <p:nvPr/>
        </p:nvSpPr>
        <p:spPr>
          <a:xfrm>
            <a:off x="457200" y="1188720"/>
            <a:ext cx="8229600" cy="1097280"/>
          </a:xfrm>
          <a:prstGeom prst="rect">
            <a:avLst/>
          </a:prstGeom>
          <a:solidFill>
            <a:srgbClr val="1B3A5C"/>
          </a:solidFill>
          <a:ln/>
        </p:spPr>
      </p:sp>
      <p:sp>
        <p:nvSpPr>
          <p:cNvPr id="4" name="Text 2"/>
          <p:cNvSpPr/>
          <p:nvPr/>
        </p:nvSpPr>
        <p:spPr>
          <a:xfrm>
            <a:off x="640080" y="1280160"/>
            <a:ext cx="7863840" cy="914400"/>
          </a:xfrm>
          <a:prstGeom prst="rect">
            <a:avLst/>
          </a:prstGeom>
          <a:noFill/>
          <a:ln/>
        </p:spPr>
        <p:txBody>
          <a:bodyPr wrap="square" rtlCol="0" anchor="ctr"/>
          <a:lstStyle/>
          <a:p>
            <a:pPr algn="ctr" indent="0" marL="0">
              <a:buNone/>
            </a:pPr>
            <a:r>
              <a:rPr lang="en-US" sz="3200" b="1" dirty="0">
                <a:solidFill>
                  <a:srgbClr val="FFFFFF"/>
                </a:solidFill>
                <a:latin typeface="Georgia" pitchFamily="34" charset="0"/>
                <a:ea typeface="Georgia" pitchFamily="34" charset="-122"/>
                <a:cs typeface="Georgia" pitchFamily="34" charset="-120"/>
              </a:rPr>
              <a:t>Machine Learning Fundamentals</a:t>
            </a:r>
            <a:endParaRPr lang="en-US" sz="3200" dirty="0"/>
          </a:p>
        </p:txBody>
      </p:sp>
      <p:sp>
        <p:nvSpPr>
          <p:cNvPr id="5" name="Shape 3"/>
          <p:cNvSpPr/>
          <p:nvPr/>
        </p:nvSpPr>
        <p:spPr>
          <a:xfrm>
            <a:off x="457200" y="2468880"/>
            <a:ext cx="8229600" cy="2194560"/>
          </a:xfrm>
          <a:prstGeom prst="rect">
            <a:avLst/>
          </a:prstGeom>
          <a:solidFill>
            <a:srgbClr val="FFFFFF"/>
          </a:solidFill>
          <a:ln w="25400">
            <a:solidFill>
              <a:srgbClr val="1B3A5C"/>
            </a:solidFill>
            <a:prstDash val="solid"/>
          </a:ln>
        </p:spPr>
      </p:sp>
      <p:sp>
        <p:nvSpPr>
          <p:cNvPr id="6" name="Text 4"/>
          <p:cNvSpPr/>
          <p:nvPr/>
        </p:nvSpPr>
        <p:spPr>
          <a:xfrm>
            <a:off x="731520" y="2651760"/>
            <a:ext cx="7680960" cy="274320"/>
          </a:xfrm>
          <a:prstGeom prst="rect">
            <a:avLst/>
          </a:prstGeom>
          <a:noFill/>
          <a:ln/>
        </p:spPr>
        <p:txBody>
          <a:bodyPr wrap="square" rtlCol="0" anchor="ctr"/>
          <a:lstStyle/>
          <a:p>
            <a:pPr indent="0" marL="0">
              <a:buNone/>
            </a:pPr>
            <a:r>
              <a:rPr lang="en-US" sz="1400" b="1" dirty="0">
                <a:solidFill>
                  <a:srgbClr val="1B3A5C"/>
                </a:solidFill>
                <a:latin typeface="Georgia" pitchFamily="34" charset="0"/>
                <a:ea typeface="Georgia" pitchFamily="34" charset="-122"/>
                <a:cs typeface="Georgia" pitchFamily="34" charset="-120"/>
              </a:rPr>
              <a:t>Topics:</a:t>
            </a:r>
            <a:endParaRPr lang="en-US" sz="1400" dirty="0"/>
          </a:p>
        </p:txBody>
      </p:sp>
      <p:sp>
        <p:nvSpPr>
          <p:cNvPr id="7" name="Text 5"/>
          <p:cNvSpPr/>
          <p:nvPr/>
        </p:nvSpPr>
        <p:spPr>
          <a:xfrm>
            <a:off x="914400" y="3017520"/>
            <a:ext cx="7498080" cy="1463040"/>
          </a:xfrm>
          <a:prstGeom prst="rect">
            <a:avLst/>
          </a:prstGeom>
          <a:noFill/>
          <a:ln/>
        </p:spPr>
        <p:txBody>
          <a:bodyPr wrap="square" rtlCol="0" anchor="ctr"/>
          <a:lstStyle/>
          <a:p>
            <a:pPr indent="0" marL="0">
              <a:buNone/>
            </a:pPr>
            <a:r>
              <a:rPr lang="en-US" sz="1300" dirty="0">
                <a:solidFill>
                  <a:srgbClr val="1A1A2E"/>
                </a:solidFill>
                <a:latin typeface="Calibri" pitchFamily="34" charset="0"/>
                <a:ea typeface="Calibri" pitchFamily="34" charset="-122"/>
                <a:cs typeface="Calibri" pitchFamily="34" charset="-120"/>
              </a:rPr>
              <a:t>Supervised vs Unsupervised Learning</a:t>
            </a:r>
            <a:pPr indent="0" marL="0">
              <a:buNone/>
            </a:pPr>
            <a:r>
              <a:rPr lang="en-US" sz="1300" dirty="0">
                <a:solidFill>
                  <a:srgbClr val="1A1A2E"/>
                </a:solidFill>
                <a:latin typeface="Calibri" pitchFamily="34" charset="0"/>
                <a:ea typeface="Calibri" pitchFamily="34" charset="-122"/>
                <a:cs typeface="Calibri" pitchFamily="34" charset="-120"/>
              </a:rPr>
              <a:t>Regression and Classification</a:t>
            </a:r>
            <a:pPr indent="0" marL="0">
              <a:buNone/>
            </a:pPr>
            <a:r>
              <a:rPr lang="en-US" sz="1300" dirty="0">
                <a:solidFill>
                  <a:srgbClr val="1A1A2E"/>
                </a:solidFill>
                <a:latin typeface="Calibri" pitchFamily="34" charset="0"/>
                <a:ea typeface="Calibri" pitchFamily="34" charset="-122"/>
                <a:cs typeface="Calibri" pitchFamily="34" charset="-120"/>
              </a:rPr>
              <a:t>Model Training and Evaluation</a:t>
            </a:r>
            <a:pPr indent="0" marL="0">
              <a:buNone/>
            </a:pPr>
            <a:r>
              <a:rPr lang="en-US" sz="1300" dirty="0">
                <a:solidFill>
                  <a:srgbClr val="1A1A2E"/>
                </a:solidFill>
                <a:latin typeface="Calibri" pitchFamily="34" charset="0"/>
                <a:ea typeface="Calibri" pitchFamily="34" charset="-122"/>
                <a:cs typeface="Calibri" pitchFamily="34" charset="-120"/>
              </a:rPr>
              <a:t>Feature Engineering</a:t>
            </a:r>
            <a:pPr indent="0" marL="0">
              <a:buNone/>
            </a:pPr>
            <a:r>
              <a:rPr lang="en-US" sz="1300" dirty="0">
                <a:solidFill>
                  <a:srgbClr val="1A1A2E"/>
                </a:solidFill>
                <a:latin typeface="Calibri" pitchFamily="34" charset="0"/>
                <a:ea typeface="Calibri" pitchFamily="34" charset="-122"/>
                <a:cs typeface="Calibri" pitchFamily="34" charset="-120"/>
              </a:rPr>
              <a:t>Overfitting and Regularization</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57200" y="1645920"/>
            <a:ext cx="8229600" cy="731520"/>
          </a:xfrm>
          <a:prstGeom prst="rect">
            <a:avLst/>
          </a:prstGeom>
          <a:noFill/>
          <a:ln/>
        </p:spPr>
        <p:txBody>
          <a:bodyPr wrap="square" rtlCol="0" anchor="ctr"/>
          <a:lstStyle/>
          <a:p>
            <a:pPr algn="ctr" indent="0" marL="0">
              <a:buNone/>
            </a:pPr>
            <a:r>
              <a:rPr lang="en-US" sz="5400" b="1" dirty="0">
                <a:solidFill>
                  <a:srgbClr val="00B4D8"/>
                </a:solidFill>
                <a:latin typeface="Georgia" pitchFamily="34" charset="0"/>
                <a:ea typeface="Georgia" pitchFamily="34" charset="-122"/>
                <a:cs typeface="Georgia" pitchFamily="34" charset="-120"/>
              </a:rPr>
              <a:t>Thank You</a:t>
            </a:r>
            <a:endParaRPr lang="en-US" sz="5400" dirty="0"/>
          </a:p>
        </p:txBody>
      </p:sp>
      <p:sp>
        <p:nvSpPr>
          <p:cNvPr id="3" name="Text 1"/>
          <p:cNvSpPr/>
          <p:nvPr/>
        </p:nvSpPr>
        <p:spPr>
          <a:xfrm>
            <a:off x="457200" y="2560320"/>
            <a:ext cx="8229600" cy="548640"/>
          </a:xfrm>
          <a:prstGeom prst="rect">
            <a:avLst/>
          </a:prstGeom>
          <a:noFill/>
          <a:ln/>
        </p:spPr>
        <p:txBody>
          <a:bodyPr wrap="square" rtlCol="0" anchor="ctr"/>
          <a:lstStyle/>
          <a:p>
            <a:pPr algn="ctr" indent="0" marL="0">
              <a:buNone/>
            </a:pPr>
            <a:r>
              <a:rPr lang="en-US" sz="4000" dirty="0">
                <a:solidFill>
                  <a:srgbClr val="FFFFFF"/>
                </a:solidFill>
                <a:latin typeface="Georgia" pitchFamily="34" charset="0"/>
                <a:ea typeface="Georgia" pitchFamily="34" charset="-122"/>
                <a:cs typeface="Georgia" pitchFamily="34" charset="-120"/>
              </a:rPr>
              <a:t>Questions?</a:t>
            </a:r>
            <a:endParaRPr lang="en-US" sz="4000" dirty="0"/>
          </a:p>
        </p:txBody>
      </p:sp>
      <p:sp>
        <p:nvSpPr>
          <p:cNvPr id="4" name="Shape 2"/>
          <p:cNvSpPr/>
          <p:nvPr/>
        </p:nvSpPr>
        <p:spPr>
          <a:xfrm>
            <a:off x="2286000" y="3291840"/>
            <a:ext cx="4572000" cy="73152"/>
          </a:xfrm>
          <a:prstGeom prst="rect">
            <a:avLst/>
          </a:prstGeom>
          <a:solidFill>
            <a:srgbClr val="2E86AB"/>
          </a:solidFill>
          <a:ln/>
        </p:spPr>
      </p:sp>
      <p:sp>
        <p:nvSpPr>
          <p:cNvPr id="5" name="Text 3"/>
          <p:cNvSpPr/>
          <p:nvPr/>
        </p:nvSpPr>
        <p:spPr>
          <a:xfrm>
            <a:off x="457200" y="3749040"/>
            <a:ext cx="8229600" cy="914400"/>
          </a:xfrm>
          <a:prstGeom prst="rect">
            <a:avLst/>
          </a:prstGeom>
          <a:noFill/>
          <a:ln/>
        </p:spPr>
        <p:txBody>
          <a:bodyPr wrap="square" rtlCol="0" anchor="ctr"/>
          <a:lstStyle/>
          <a:p>
            <a:pPr algn="ctr" indent="0" marL="0">
              <a:buNone/>
            </a:pPr>
            <a:r>
              <a:rPr lang="en-US" sz="1300" dirty="0">
                <a:solidFill>
                  <a:srgbClr val="E8F4F8"/>
                </a:solidFill>
                <a:latin typeface="Calibri" pitchFamily="34" charset="0"/>
                <a:ea typeface="Calibri" pitchFamily="34" charset="-122"/>
                <a:cs typeface="Calibri" pitchFamily="34" charset="-120"/>
              </a:rPr>
              <a:t>Proxiant AI Academy</a:t>
            </a:r>
            <a:endParaRPr lang="en-US" sz="1300" dirty="0"/>
          </a:p>
          <a:p>
            <a:pPr algn="ctr" indent="0" marL="0">
              <a:buNone/>
            </a:pPr>
            <a:r>
              <a:rPr lang="en-US" sz="1300" dirty="0">
                <a:solidFill>
                  <a:srgbClr val="E8F4F8"/>
                </a:solidFill>
                <a:latin typeface="Calibri" pitchFamily="34" charset="0"/>
                <a:ea typeface="Calibri" pitchFamily="34" charset="-122"/>
                <a:cs typeface="Calibri" pitchFamily="34" charset="-120"/>
              </a:rPr>
              <a:t>Week 1: Foundations of Artificial Intelligence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2026-02-14T03:13:18Z</dcterms:created>
  <dcterms:modified xsi:type="dcterms:W3CDTF">2026-02-14T03:13:18Z</dcterms:modified>
</cp:coreProperties>
</file>