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Fundamentals Course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2: Machine Learning Fundamentals</a:t>
            </a:r>
            <a:endParaRPr lang="en-US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Proxiant Academy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AI &amp; Machine Learning Education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E86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SESSION 4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ML, ML Pipeline, Supervised Learning</a:t>
            </a:r>
            <a:endParaRPr lang="en-US" sz="2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Machine Learning?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from data without explicit programming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32588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discover patterns automatically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73736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+ Labels -&gt; Rules (instead of Rules + Data -&gt; Output)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148840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Enables adaptation to new data and scenarios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Machine Learning Pipeline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Collection: Gather relevant data from sources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28016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Preprocessing: Clean, handle missing values, normalize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64592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Engineering: Transform and select meaningful features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01168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Selection: Choose appropriate algorithms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37744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Training: Learn parameters from data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274320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Evaluation: Assess performance on test data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Types of Machine Learning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Supervised Learning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7955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from labeled data with known outcomes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691640"/>
            <a:ext cx="7955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Classification, Regression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2011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Unsupervised Learning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" y="2468880"/>
            <a:ext cx="7955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Discovering patterns in unlabeled data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2788920"/>
            <a:ext cx="7955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Clustering, Dimensionality Reduction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3108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Reinforcement Learning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31520" y="3566160"/>
            <a:ext cx="7955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through rewards and penalties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Linear Regression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Hypothesis: h(x) = theta0 + theta1*x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Function: J(theta) = (1/2m)*Sum(h(x)-y)^2 (Mean Squared Error)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554480"/>
            <a:ext cx="7955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linear relationship between features and output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1874520"/>
            <a:ext cx="7955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Optimization via gradient descent to minimize cost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194560"/>
            <a:ext cx="7955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Interpretable: coefficients show feature impact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Gradient Descent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optimization algorithm: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thetaj := thetaj - alpha*(dJ/dthetaj)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Variants: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31520" y="2011680"/>
            <a:ext cx="7955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Batch: Uses all training examples (stable, slow)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331720"/>
            <a:ext cx="7955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Stochastic: Uses one example per iteration (fast, noisy)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2651760"/>
            <a:ext cx="7955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Mini-batch: Uses small subsets (balanced approach)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 Regression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algorithm (despite name)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28016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sigmoid function: g(z) = 1/(1+e^(-z))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64592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probability between 0 and 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01168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boundary at probability 0.5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37744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decision boundary in feature space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E86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SESSION 5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Models &amp; Ensemble Methods</a:t>
            </a:r>
            <a:endParaRPr lang="en-US" sz="2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 Trees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Recursively partition feature space via binary decisions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28016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criteria: Information Gain or Gini Impurity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64592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Gini Impurity: Probability of misclassification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01168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Pruning prevents overfitting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37744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Highly interpretable, prone to overfitting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Random Forests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of decision trees trained on random data subsets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28016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Bagging: Bootstrap Aggregating reduces variance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64592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randomness at each split decorrelates trees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01168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Predictions via majority voting (classification)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37744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Out-of-bag error provides generalization estimate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 Vector Machines (SVM)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optimal hyperplane maximizing class margin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28016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Margin: Distance from hyperplane to nearest points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64592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trick enables nonlinear relationships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01168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margin allows controlled misclassifications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37744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kernels: linear, polynomial, RBF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Ensemble Methods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Bagging: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independent models on random samples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1645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Boosting: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31520" y="210312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Sequentially train models focusing on hard examples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37744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AdaBoost: Adjust sample weights per iteration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265176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XGBoost: Gradient boosting with optimized performance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Insight: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731520" y="338328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 weak learners creates strong predictor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K-Nearest Neighbors (KNN)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point by majority class of k nearest neighbors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28016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metrics: Euclidean, Manhattan, Minkowski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645920"/>
            <a:ext cx="7955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k=1: High variance (memorizes data)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1965960"/>
            <a:ext cx="7955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k: High bias (loses local patterns)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286000"/>
            <a:ext cx="7955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Simple, lazy learner, computationally expensive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E86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SESSION 6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Unsupervised Learning &amp; Model Evaluation</a:t>
            </a:r>
            <a:endParaRPr lang="en-US" sz="2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Unsupervised Learning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 patterns in unlabeled data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28016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predefined output targets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64592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Valuable when labeling is expensive or unavailable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2011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 Paradigms: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" y="2468880"/>
            <a:ext cx="7955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Clustering: Group similar examples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2788920"/>
            <a:ext cx="7955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Dimensionality Reduction: Lower-dimensional representations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K-Means Clustering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7955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 data into k clusters iteratively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7955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Assign points to nearest centroid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554480"/>
            <a:ext cx="7955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Update centroids as cluster mean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1874520"/>
            <a:ext cx="7955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Minimizes within-cluster variance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194560"/>
            <a:ext cx="7955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Elbow method: Select k where curve 'elbows'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2514600"/>
            <a:ext cx="7955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Converges when centroids stabilize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Principal Component Analysis (PCA)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7955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orthogonal axes maximizing data variance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7955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Eigenvalues represent variance along components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554480"/>
            <a:ext cx="7955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explained variance guides dimensionality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1874520"/>
            <a:ext cx="7955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Benefits: Visualization, noise reduction, preprocessing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194560"/>
            <a:ext cx="7955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Limitation: Components lose original interpretability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2514600"/>
            <a:ext cx="7955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t-SNE: Alternative for visualization preserving local structure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Evaluation Methods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Train/Validation/Test Split: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Training: 60-70% (learn parameters)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64592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Validation: 15-20% (tune hyperparameters)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192024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15-20% (unbiased final evaluation)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194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Cross-Validation: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31520" y="265176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k-fold: Rotate which data serves as validation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31520" y="292608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Maximizes data usage, robust estimates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Classification Performance Metrics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7955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Accuracy: Overall correctness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7955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Precision: Positive prediction accuracy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554480"/>
            <a:ext cx="7955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Recall: Actual positive detection rate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1874520"/>
            <a:ext cx="7955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Score: Harmonic mean of precision and recall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194560"/>
            <a:ext cx="7955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Matrix: TP, TN, FP, FN breakdown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2514600"/>
            <a:ext cx="7955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ROC-AUC: TPR vs FPR across classification thresholds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Bias-Variance Tradeoff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Bias: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 error from oversimplified models (underfitting)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1645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Variance: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31520" y="210312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to training data fluctuations (overfitting)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3774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Total Error = Bias squared + Variance + Noise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models: High bias, low variance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31520" y="310896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models: Low bias, high variance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Regularization Techniques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Penalize model complexity to prevent overfitting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L1 Regularization (Lasso):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173736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|theta| penalty, encourages sparse solutions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2011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L2 Regularization (Ridge):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" y="246888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theta^2 penalty, shrinks all coefficients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274320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Trades small bias increase for large variance reduction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 2 Key Takeaways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7955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enables automatic pattern discovery from data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7955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pipeline: collection, preprocessing, training, evaluation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554480"/>
            <a:ext cx="7955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algorithms suited for different problem types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1874520"/>
            <a:ext cx="7955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methods leverage multiple learners effectively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194560"/>
            <a:ext cx="7955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Bias-variance tradeoff guides model complexity selection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2514600"/>
            <a:ext cx="7955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Rigorous evaluation via cross-validation and multiple metrics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You!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 - AI Fundamentals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2026-02-14T00:55:29Z</dcterms:created>
  <dcterms:modified xsi:type="dcterms:W3CDTF">2026-02-14T00:55:29Z</dcterms:modified>
</cp:coreProperties>
</file>