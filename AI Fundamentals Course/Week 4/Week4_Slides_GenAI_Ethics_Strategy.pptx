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</p:sldIdLst>
  <p:notesMasterIdLst>
    <p:notesMasterId r:id="rId43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notesMaster" Target="notesMasters/notesMaster1.xml"/><Relationship Id="rId44" Type="http://schemas.openxmlformats.org/officeDocument/2006/relationships/presProps" Target="presProps.xml"/><Relationship Id="rId45" Type="http://schemas.openxmlformats.org/officeDocument/2006/relationships/viewProps" Target="viewProps.xml"/><Relationship Id="rId46" Type="http://schemas.openxmlformats.org/officeDocument/2006/relationships/theme" Target="theme/theme1.xml"/><Relationship Id="rId4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8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9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0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D1B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2E86AB"/>
                </a:solidFill>
              </a:rPr>
              <a:t>PROXIANT ACADEMY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457200" y="2286000"/>
            <a:ext cx="82296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5400" b="1" dirty="0">
                <a:solidFill>
                  <a:srgbClr val="FFFFFF"/>
                </a:solidFill>
              </a:rPr>
              <a:t>Week 4: Generative AI, Ethics &amp; Strategy</a:t>
            </a:r>
            <a:endParaRPr lang="en-US" sz="5400" dirty="0"/>
          </a:p>
        </p:txBody>
      </p:sp>
      <p:sp>
        <p:nvSpPr>
          <p:cNvPr id="4" name="Text 2"/>
          <p:cNvSpPr/>
          <p:nvPr/>
        </p:nvSpPr>
        <p:spPr>
          <a:xfrm>
            <a:off x="457200" y="3840480"/>
            <a:ext cx="82296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E8F4F8"/>
                </a:solidFill>
              </a:rPr>
              <a:t>AI Fundamentals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457200" y="594360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2E86AB"/>
                </a:solidFill>
              </a:rPr>
              <a:t>Weeks 4 - Sessions 10-12</a:t>
            </a:r>
            <a:endParaRPr lang="en-US" sz="16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D1B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2E86AB"/>
                </a:solidFill>
              </a:rPr>
              <a:t>PROXIANT ACADEMY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457200" y="2286000"/>
            <a:ext cx="82296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5400" b="1" dirty="0">
                <a:solidFill>
                  <a:srgbClr val="FFFFFF"/>
                </a:solidFill>
              </a:rPr>
              <a:t>Session 10: Large Language Models &amp; Generative AI</a:t>
            </a:r>
            <a:endParaRPr lang="en-US" sz="5400" dirty="0"/>
          </a:p>
        </p:txBody>
      </p:sp>
      <p:sp>
        <p:nvSpPr>
          <p:cNvPr id="4" name="Text 2"/>
          <p:cNvSpPr/>
          <p:nvPr/>
        </p:nvSpPr>
        <p:spPr>
          <a:xfrm>
            <a:off x="457200" y="3840480"/>
            <a:ext cx="82296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E8F4F8"/>
                </a:solidFill>
              </a:rPr>
              <a:t>Understanding modern AI systems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457200" y="594360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2E86AB"/>
                </a:solidFill>
              </a:rPr>
              <a:t>Session 10</a:t>
            </a:r>
            <a:endParaRPr lang="en-US" sz="16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31520"/>
          </a:xfrm>
          <a:prstGeom prst="rect">
            <a:avLst/>
          </a:prstGeom>
          <a:solidFill>
            <a:srgbClr val="0D1B2A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13716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</a:rPr>
              <a:t>Generative vs Discriminative Models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640080" y="1097280"/>
            <a:ext cx="78638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33333"/>
                </a:solidFill>
              </a:rPr>
              <a:t>• Discriminative: Learn decision boundaries (classification/regression)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640080" y="1737360"/>
            <a:ext cx="78638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33333"/>
                </a:solidFill>
              </a:rPr>
              <a:t>• Generative: Learn data distribution (sampling, generation)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640080" y="2377440"/>
            <a:ext cx="78638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33333"/>
                </a:solidFill>
              </a:rPr>
              <a:t>• GPT models: Generative - learn probability distribution of text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640080" y="3017520"/>
            <a:ext cx="78638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33333"/>
                </a:solidFill>
              </a:rPr>
              <a:t>• Key: Generative can create new data, discriminative classifies</a:t>
            </a:r>
            <a:endParaRPr lang="en-US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31520"/>
          </a:xfrm>
          <a:prstGeom prst="rect">
            <a:avLst/>
          </a:prstGeom>
          <a:solidFill>
            <a:srgbClr val="0D1B2A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13716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</a:rPr>
              <a:t>What Makes LLMs 'Large'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640080" y="1097280"/>
            <a:ext cx="78638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33333"/>
                </a:solidFill>
              </a:rPr>
              <a:t>• Parameters: 7B to 405B+ trainable weights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640080" y="1737360"/>
            <a:ext cx="78638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33333"/>
                </a:solidFill>
              </a:rPr>
              <a:t>• Training data: Massive corpora (terabytes of text)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640080" y="2377440"/>
            <a:ext cx="78638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33333"/>
                </a:solidFill>
              </a:rPr>
              <a:t>• Compute: Thousands of GPUs training for months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640080" y="3017520"/>
            <a:ext cx="78638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33333"/>
                </a:solidFill>
              </a:rPr>
              <a:t>• Example: GPT-4: ~1.7T parameters, massive web data</a:t>
            </a:r>
            <a:endParaRPr lang="en-US" sz="14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31520"/>
          </a:xfrm>
          <a:prstGeom prst="rect">
            <a:avLst/>
          </a:prstGeom>
          <a:solidFill>
            <a:srgbClr val="0D1B2A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13716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</a:rPr>
              <a:t>Scaling Laws &amp; Emergent Capabilities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640080" y="1097280"/>
            <a:ext cx="78638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33333"/>
                </a:solidFill>
              </a:rPr>
              <a:t>• Scaling law: Performance follows power law with compute/data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640080" y="1737360"/>
            <a:ext cx="78638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33333"/>
                </a:solidFill>
              </a:rPr>
              <a:t>• Emergent capabilities: Arise unpredictably at scale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640080" y="2377440"/>
            <a:ext cx="78638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33333"/>
                </a:solidFill>
              </a:rPr>
              <a:t>• Few-shot learning: Learn from examples in context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640080" y="3017520"/>
            <a:ext cx="78638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33333"/>
                </a:solidFill>
              </a:rPr>
              <a:t>• In-context learning: Use prompt examples without retraining</a:t>
            </a:r>
            <a:endParaRPr lang="en-US" sz="14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31520"/>
          </a:xfrm>
          <a:prstGeom prst="rect">
            <a:avLst/>
          </a:prstGeom>
          <a:solidFill>
            <a:srgbClr val="0D1B2A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13716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</a:rPr>
              <a:t>GPT Architecture: Decoder-Only Transformer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640080" y="1097280"/>
            <a:ext cx="78638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33333"/>
                </a:solidFill>
              </a:rPr>
              <a:t>• Transformer blocks: Attention mechanisms for context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640080" y="1737360"/>
            <a:ext cx="78638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33333"/>
                </a:solidFill>
              </a:rPr>
              <a:t>• Decoder-only: Predicts next token given previous tokens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640080" y="2377440"/>
            <a:ext cx="78638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33333"/>
                </a:solidFill>
              </a:rPr>
              <a:t>• Autoregressive generation: One token at a time, left-to-right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640080" y="3017520"/>
            <a:ext cx="78638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33333"/>
                </a:solidFill>
              </a:rPr>
              <a:t>• Attention: Focus on relevant context</a:t>
            </a:r>
            <a:endParaRPr lang="en-US" sz="14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31520"/>
          </a:xfrm>
          <a:prstGeom prst="rect">
            <a:avLst/>
          </a:prstGeom>
          <a:solidFill>
            <a:srgbClr val="0D1B2A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13716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</a:rPr>
              <a:t>Training LLMs: Three Stages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640080" y="1097280"/>
            <a:ext cx="78638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33333"/>
                </a:solidFill>
              </a:rPr>
              <a:t>• Pre-training: Learn language patterns on massive unlabeled text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640080" y="1737360"/>
            <a:ext cx="78638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33333"/>
                </a:solidFill>
              </a:rPr>
              <a:t>• Instruction tuning: Fine-tune on task-specific examples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640080" y="2377440"/>
            <a:ext cx="78638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33333"/>
                </a:solidFill>
              </a:rPr>
              <a:t>• RLHF: Reinforcement Learning from Human Feedback alignment</a:t>
            </a:r>
            <a:endParaRPr lang="en-US" sz="14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31520"/>
          </a:xfrm>
          <a:prstGeom prst="rect">
            <a:avLst/>
          </a:prstGeom>
          <a:solidFill>
            <a:srgbClr val="0D1B2A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13716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</a:rPr>
              <a:t>Major LLM Landscape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640080" y="1097280"/>
            <a:ext cx="78638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33333"/>
                </a:solidFill>
              </a:rPr>
              <a:t>• Claude (Anthropic): Safety and helpfulness focus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640080" y="1737360"/>
            <a:ext cx="78638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33333"/>
                </a:solidFill>
              </a:rPr>
              <a:t>• GPT-4 (OpenAI): Multimodal, state-of-the-art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640080" y="2377440"/>
            <a:ext cx="78638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33333"/>
                </a:solidFill>
              </a:rPr>
              <a:t>• Gemini (Google): Multimodal, ecosystem integrated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640080" y="3017520"/>
            <a:ext cx="78638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33333"/>
                </a:solidFill>
              </a:rPr>
              <a:t>• Llama (Meta): Open-source, efficient models</a:t>
            </a:r>
            <a:endParaRPr lang="en-US" sz="14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31520"/>
          </a:xfrm>
          <a:prstGeom prst="rect">
            <a:avLst/>
          </a:prstGeom>
          <a:solidFill>
            <a:srgbClr val="0D1B2A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13716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</a:rPr>
              <a:t>Generative AI Modalities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640080" y="1097280"/>
            <a:ext cx="78638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33333"/>
                </a:solidFill>
              </a:rPr>
              <a:t>• Text: LLMs, language generation, summarization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640080" y="1737360"/>
            <a:ext cx="78638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33333"/>
                </a:solidFill>
              </a:rPr>
              <a:t>• Images: Diffusion models (DALL-E, Stable Diffusion), GANs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640080" y="2377440"/>
            <a:ext cx="78638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33333"/>
                </a:solidFill>
              </a:rPr>
              <a:t>• Audio: Speech synthesis, music generation, voice conversion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640080" y="3017520"/>
            <a:ext cx="78638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33333"/>
                </a:solidFill>
              </a:rPr>
              <a:t>• Video: Frame interpolation, video generation (emerging)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40080" y="3657600"/>
            <a:ext cx="78638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33333"/>
                </a:solidFill>
              </a:rPr>
              <a:t>• Code: Code completion, code generation (Copilot, Claude)</a:t>
            </a:r>
            <a:endParaRPr lang="en-US" sz="14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31520"/>
          </a:xfrm>
          <a:prstGeom prst="rect">
            <a:avLst/>
          </a:prstGeom>
          <a:solidFill>
            <a:srgbClr val="0D1B2A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13716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</a:rPr>
              <a:t>Prompt Engineering Techniques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640080" y="1097280"/>
            <a:ext cx="78638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33333"/>
                </a:solidFill>
              </a:rPr>
              <a:t>• Zero-shot: Direct prompt without examples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640080" y="1737360"/>
            <a:ext cx="78638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33333"/>
                </a:solidFill>
              </a:rPr>
              <a:t>• Few-shot: Provide examples for better performance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640080" y="2377440"/>
            <a:ext cx="78638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33333"/>
                </a:solidFill>
              </a:rPr>
              <a:t>• Chain-of-thought: Ask model to show step-by-step reasoning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640080" y="3017520"/>
            <a:ext cx="78638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33333"/>
                </a:solidFill>
              </a:rPr>
              <a:t>• System prompts: Set behavior and constraints</a:t>
            </a:r>
            <a:endParaRPr lang="en-US" sz="14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31520"/>
          </a:xfrm>
          <a:prstGeom prst="rect">
            <a:avLst/>
          </a:prstGeom>
          <a:solidFill>
            <a:srgbClr val="0D1B2A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13716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</a:rPr>
              <a:t>Retrieval-Augmented Generation (RAG)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640080" y="1097280"/>
            <a:ext cx="78638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33333"/>
                </a:solidFill>
              </a:rPr>
              <a:t>• Problem: LLMs may hallucinate or lack current information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640080" y="1737360"/>
            <a:ext cx="78638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33333"/>
                </a:solidFill>
              </a:rPr>
              <a:t>• Solution: Retrieve documents, then generate response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640080" y="2377440"/>
            <a:ext cx="78638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33333"/>
                </a:solidFill>
              </a:rPr>
              <a:t>• Workflow: Query → Search → Augment prompt → Generate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640080" y="3017520"/>
            <a:ext cx="78638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33333"/>
                </a:solidFill>
              </a:rPr>
              <a:t>• Use cases: Document Q&amp;A, customer support</a:t>
            </a:r>
            <a:endParaRPr lang="en-US" sz="14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31520"/>
          </a:xfrm>
          <a:prstGeom prst="rect">
            <a:avLst/>
          </a:prstGeom>
          <a:solidFill>
            <a:srgbClr val="0D1B2A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13716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</a:rPr>
              <a:t>AI Agents &amp; Tool Use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640080" y="1097280"/>
            <a:ext cx="78638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33333"/>
                </a:solidFill>
              </a:rPr>
              <a:t>• AI agents: Autonomous systems that plan and act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640080" y="1737360"/>
            <a:ext cx="78638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33333"/>
                </a:solidFill>
              </a:rPr>
              <a:t>• Tool use: Models call external functions/APIs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640080" y="2377440"/>
            <a:ext cx="78638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33333"/>
                </a:solidFill>
              </a:rPr>
              <a:t>• Planning: Break goals into steps, select tools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640080" y="3017520"/>
            <a:ext cx="78638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33333"/>
                </a:solidFill>
              </a:rPr>
              <a:t>• Examples: ChatGPT with plugins, Claude with tools</a:t>
            </a:r>
            <a:endParaRPr lang="en-US" sz="14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31520"/>
          </a:xfrm>
          <a:prstGeom prst="rect">
            <a:avLst/>
          </a:prstGeom>
          <a:solidFill>
            <a:srgbClr val="0D1B2A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13716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</a:rPr>
              <a:t>LLM Limitations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640080" y="1097280"/>
            <a:ext cx="78638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33333"/>
                </a:solidFill>
              </a:rPr>
              <a:t>• Hallucinations: Confident but false information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640080" y="1737360"/>
            <a:ext cx="78638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33333"/>
                </a:solidFill>
              </a:rPr>
              <a:t>• Context windows: Limited memory (mitigated by longer contexts)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640080" y="2377440"/>
            <a:ext cx="78638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33333"/>
                </a:solidFill>
              </a:rPr>
              <a:t>• Reasoning failures: Struggles with complex math, logic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640080" y="3017520"/>
            <a:ext cx="78638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33333"/>
                </a:solidFill>
              </a:rPr>
              <a:t>• Training data cutoff: No knowledge of recent events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40080" y="3657600"/>
            <a:ext cx="78638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33333"/>
                </a:solidFill>
              </a:rPr>
              <a:t>• Bias: Reflects biases in training data</a:t>
            </a:r>
            <a:endParaRPr lang="en-US" sz="14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0D1B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2E86AB"/>
                </a:solidFill>
              </a:rPr>
              <a:t>PROXIANT ACADEMY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457200" y="2286000"/>
            <a:ext cx="82296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5400" b="1" dirty="0">
                <a:solidFill>
                  <a:srgbClr val="FFFFFF"/>
                </a:solidFill>
              </a:rPr>
              <a:t>Session 11: AI Ethics, Safety &amp; Regulation</a:t>
            </a:r>
            <a:endParaRPr lang="en-US" sz="5400" dirty="0"/>
          </a:p>
        </p:txBody>
      </p:sp>
      <p:sp>
        <p:nvSpPr>
          <p:cNvPr id="4" name="Text 2"/>
          <p:cNvSpPr/>
          <p:nvPr/>
        </p:nvSpPr>
        <p:spPr>
          <a:xfrm>
            <a:off x="457200" y="3840480"/>
            <a:ext cx="82296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E8F4F8"/>
                </a:solidFill>
              </a:rPr>
              <a:t>Building trustworthy AI systems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457200" y="594360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2E86AB"/>
                </a:solidFill>
              </a:rPr>
              <a:t>Session 11</a:t>
            </a:r>
            <a:endParaRPr lang="en-US" sz="16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31520"/>
          </a:xfrm>
          <a:prstGeom prst="rect">
            <a:avLst/>
          </a:prstGeom>
          <a:solidFill>
            <a:srgbClr val="0D1B2A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13716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</a:rPr>
              <a:t>Why AI Ethics Matters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640080" y="1097280"/>
            <a:ext cx="78638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33333"/>
                </a:solidFill>
              </a:rPr>
              <a:t>• Real-world impact: Healthcare, hiring, criminal justice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640080" y="1737360"/>
            <a:ext cx="78638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33333"/>
                </a:solidFill>
              </a:rPr>
              <a:t>• Scale: AI decisions affect millions of people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640080" y="2377440"/>
            <a:ext cx="78638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33333"/>
                </a:solidFill>
              </a:rPr>
              <a:t>• Irreversibility: Some harms cannot be undone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640080" y="3017520"/>
            <a:ext cx="78638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33333"/>
                </a:solidFill>
              </a:rPr>
              <a:t>• Accountability: Who is responsible when AI fails?</a:t>
            </a:r>
            <a:endParaRPr lang="en-US" sz="14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31520"/>
          </a:xfrm>
          <a:prstGeom prst="rect">
            <a:avLst/>
          </a:prstGeom>
          <a:solidFill>
            <a:srgbClr val="0D1B2A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13716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</a:rPr>
              <a:t>Sources of Bias in AI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640080" y="1097280"/>
            <a:ext cx="78638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33333"/>
                </a:solidFill>
              </a:rPr>
              <a:t>• Data bias: Training data reflects historical discrimination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640080" y="1737360"/>
            <a:ext cx="78638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33333"/>
                </a:solidFill>
              </a:rPr>
              <a:t>• Algorithmic bias: Model architecture choices introduce bias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640080" y="2377440"/>
            <a:ext cx="78638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33333"/>
                </a:solidFill>
              </a:rPr>
              <a:t>• Societal bias: Broader inequalities encoded in data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640080" y="3017520"/>
            <a:ext cx="78638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33333"/>
                </a:solidFill>
              </a:rPr>
              <a:t>• Example: Hiring models trained on historical hiring (gender bias)</a:t>
            </a:r>
            <a:endParaRPr lang="en-US" sz="14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31520"/>
          </a:xfrm>
          <a:prstGeom prst="rect">
            <a:avLst/>
          </a:prstGeom>
          <a:solidFill>
            <a:srgbClr val="0D1B2A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13716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</a:rPr>
              <a:t>Bias Examples Across Industries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640080" y="1097280"/>
            <a:ext cx="78638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33333"/>
                </a:solidFill>
              </a:rPr>
              <a:t>• Healthcare: Algorithms underestimating health needs for Black patients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640080" y="1737360"/>
            <a:ext cx="78638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33333"/>
                </a:solidFill>
              </a:rPr>
              <a:t>• Criminal justice: Recidivism prediction tools showing racial bias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640080" y="2377440"/>
            <a:ext cx="78638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33333"/>
                </a:solidFill>
              </a:rPr>
              <a:t>• Finance: Loan approval algorithms discriminating against groups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640080" y="3017520"/>
            <a:ext cx="78638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33333"/>
                </a:solidFill>
              </a:rPr>
              <a:t>• Hiring: Resume screening tools downranking women in tech</a:t>
            </a:r>
            <a:endParaRPr lang="en-US" sz="14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31520"/>
          </a:xfrm>
          <a:prstGeom prst="rect">
            <a:avLst/>
          </a:prstGeom>
          <a:solidFill>
            <a:srgbClr val="0D1B2A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13716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</a:rPr>
              <a:t>Fairness Definitions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640080" y="1097280"/>
            <a:ext cx="78638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33333"/>
                </a:solidFill>
              </a:rPr>
              <a:t>• Demographic parity: Equal outcomes across groups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640080" y="1737360"/>
            <a:ext cx="78638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33333"/>
                </a:solidFill>
              </a:rPr>
              <a:t>• Equalized odds: Equal true/false positive rates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640080" y="2377440"/>
            <a:ext cx="78638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33333"/>
                </a:solidFill>
              </a:rPr>
              <a:t>• Individual fairness: Similar individuals treated similarly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640080" y="3017520"/>
            <a:ext cx="78638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33333"/>
                </a:solidFill>
              </a:rPr>
              <a:t>• Impossibility: Cannot satisfy all fairness definitions simultaneously</a:t>
            </a:r>
            <a:endParaRPr lang="en-US" sz="14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31520"/>
          </a:xfrm>
          <a:prstGeom prst="rect">
            <a:avLst/>
          </a:prstGeom>
          <a:solidFill>
            <a:srgbClr val="0D1B2A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13716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</a:rPr>
              <a:t>Transparency &amp; Explainability (XAI)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640080" y="1097280"/>
            <a:ext cx="78638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33333"/>
                </a:solidFill>
              </a:rPr>
              <a:t>• Black box problem: Neural networks lack interpretability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640080" y="1737360"/>
            <a:ext cx="78638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33333"/>
                </a:solidFill>
              </a:rPr>
              <a:t>• LIME: Local Interpretable Model-agnostic Explanations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640080" y="2377440"/>
            <a:ext cx="78638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33333"/>
                </a:solidFill>
              </a:rPr>
              <a:t>• SHAP: SHapley Additive exPlanations from game theory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640080" y="3017520"/>
            <a:ext cx="78638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33333"/>
                </a:solidFill>
              </a:rPr>
              <a:t>• Tradeoff: Simpler interpretable, complex more accurate</a:t>
            </a:r>
            <a:endParaRPr lang="en-US" sz="14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31520"/>
          </a:xfrm>
          <a:prstGeom prst="rect">
            <a:avLst/>
          </a:prstGeom>
          <a:solidFill>
            <a:srgbClr val="0D1B2A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13716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</a:rPr>
              <a:t>Accountability Framework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640080" y="1097280"/>
            <a:ext cx="78638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33333"/>
                </a:solidFill>
              </a:rPr>
              <a:t>• Responsibility: Developer? Company? User? Regulator?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640080" y="1737360"/>
            <a:ext cx="78638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33333"/>
                </a:solidFill>
              </a:rPr>
              <a:t>• Documentation: Model cards, dataset cards for transparency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640080" y="2377440"/>
            <a:ext cx="78638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33333"/>
                </a:solidFill>
              </a:rPr>
              <a:t>• Auditing: Regular testing for bias and performance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640080" y="3017520"/>
            <a:ext cx="78638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33333"/>
                </a:solidFill>
              </a:rPr>
              <a:t>• Redress: Process for people harmed by AI decisions</a:t>
            </a:r>
            <a:endParaRPr lang="en-US" sz="14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31520"/>
          </a:xfrm>
          <a:prstGeom prst="rect">
            <a:avLst/>
          </a:prstGeom>
          <a:solidFill>
            <a:srgbClr val="0D1B2A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13716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</a:rPr>
              <a:t>Privacy in AI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640080" y="1097280"/>
            <a:ext cx="78638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33333"/>
                </a:solidFill>
              </a:rPr>
              <a:t>• Data rights: Control over personal data, right to deletion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640080" y="1737360"/>
            <a:ext cx="78638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33333"/>
                </a:solidFill>
              </a:rPr>
              <a:t>• Differential privacy: Add noise to protect individual privacy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640080" y="2377440"/>
            <a:ext cx="78638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33333"/>
                </a:solidFill>
              </a:rPr>
              <a:t>• Federated learning: Train models without centralizing data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640080" y="3017520"/>
            <a:ext cx="78638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33333"/>
                </a:solidFill>
              </a:rPr>
              <a:t>• Risk: Membership inference attacks</a:t>
            </a:r>
            <a:endParaRPr lang="en-US" sz="14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31520"/>
          </a:xfrm>
          <a:prstGeom prst="rect">
            <a:avLst/>
          </a:prstGeom>
          <a:solidFill>
            <a:srgbClr val="0D1B2A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13716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</a:rPr>
              <a:t>AI Safety &amp; Alignment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640080" y="1097280"/>
            <a:ext cx="78638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33333"/>
                </a:solidFill>
              </a:rPr>
              <a:t>• Alignment problem: Ensuring AI pursues intended goals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640080" y="1737360"/>
            <a:ext cx="78638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33333"/>
                </a:solidFill>
              </a:rPr>
              <a:t>• Reward hacking: Gaming reward function instead of solving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640080" y="2377440"/>
            <a:ext cx="78638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33333"/>
                </a:solidFill>
              </a:rPr>
              <a:t>• Specification gaming: Exploiting loopholes in specifications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640080" y="3017520"/>
            <a:ext cx="78638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33333"/>
                </a:solidFill>
              </a:rPr>
              <a:t>• Goal misalignment: What we want vs what we specify</a:t>
            </a:r>
            <a:endParaRPr lang="en-US" sz="14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31520"/>
          </a:xfrm>
          <a:prstGeom prst="rect">
            <a:avLst/>
          </a:prstGeom>
          <a:solidFill>
            <a:srgbClr val="0D1B2A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13716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</a:rPr>
              <a:t>Deepfakes &amp; Misinformation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640080" y="1097280"/>
            <a:ext cx="78638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33333"/>
                </a:solidFill>
              </a:rPr>
              <a:t>• Deepfakes: AI-generated realistic fake videos/audio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640080" y="1737360"/>
            <a:ext cx="78638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33333"/>
                </a:solidFill>
              </a:rPr>
              <a:t>• Misinformation: False or misleading AI-generated content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640080" y="2377440"/>
            <a:ext cx="78638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33333"/>
                </a:solidFill>
              </a:rPr>
              <a:t>• Detection: Watermarking, digital signatures, statistics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640080" y="3017520"/>
            <a:ext cx="78638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33333"/>
                </a:solidFill>
              </a:rPr>
              <a:t>• Policy: Media literacy, platform responsibility</a:t>
            </a:r>
            <a:endParaRPr lang="en-US" sz="14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31520"/>
          </a:xfrm>
          <a:prstGeom prst="rect">
            <a:avLst/>
          </a:prstGeom>
          <a:solidFill>
            <a:srgbClr val="0D1B2A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13716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</a:rPr>
              <a:t>EU AI Act (Risk-Based Framework)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640080" y="1097280"/>
            <a:ext cx="78638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33333"/>
                </a:solidFill>
              </a:rPr>
              <a:t>• Prohibited: Social credit scoring, real-time facial recognition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640080" y="1737360"/>
            <a:ext cx="78638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33333"/>
                </a:solidFill>
              </a:rPr>
              <a:t>• High-risk: Criminal justice, hiring, healthcare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640080" y="2377440"/>
            <a:ext cx="78638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33333"/>
                </a:solidFill>
              </a:rPr>
              <a:t>• Limited-risk: Transparency (e.g., chatbots disclose AI)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640080" y="3017520"/>
            <a:ext cx="78638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33333"/>
                </a:solidFill>
              </a:rPr>
              <a:t>• Minimal-risk: General purpose AI with light regulation</a:t>
            </a:r>
            <a:endParaRPr lang="en-US" sz="14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31520"/>
          </a:xfrm>
          <a:prstGeom prst="rect">
            <a:avLst/>
          </a:prstGeom>
          <a:solidFill>
            <a:srgbClr val="0D1B2A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13716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</a:rPr>
              <a:t>NIST AI RMF &amp; US Regulation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640080" y="1097280"/>
            <a:ext cx="78638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33333"/>
                </a:solidFill>
              </a:rPr>
              <a:t>• NIST AI Risk Management Framework: Map, measure, manage, govern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640080" y="1737360"/>
            <a:ext cx="78638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33333"/>
                </a:solidFill>
              </a:rPr>
              <a:t>• White House Executive Order: Advancing responsible AI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640080" y="2377440"/>
            <a:ext cx="78638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33333"/>
                </a:solidFill>
              </a:rPr>
              <a:t>• GDPR enforcement: Up to 4% of global revenue in fines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640080" y="3017520"/>
            <a:ext cx="78638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33333"/>
                </a:solidFill>
              </a:rPr>
              <a:t>• State-level: California AI privacy laws, Colorado AI bias laws</a:t>
            </a:r>
            <a:endParaRPr lang="en-US" sz="14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31520"/>
          </a:xfrm>
          <a:prstGeom prst="rect">
            <a:avLst/>
          </a:prstGeom>
          <a:solidFill>
            <a:srgbClr val="0D1B2A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13716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</a:rPr>
              <a:t>Responsible AI Frameworks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640080" y="1097280"/>
            <a:ext cx="78638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33333"/>
                </a:solidFill>
              </a:rPr>
              <a:t>• Principles: Fairness, transparency, accountability, privacy, security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640080" y="1737360"/>
            <a:ext cx="78638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33333"/>
                </a:solidFill>
              </a:rPr>
              <a:t>• Guidelines: Established by tech companies, industry bodies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640080" y="2377440"/>
            <a:ext cx="78638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33333"/>
                </a:solidFill>
              </a:rPr>
              <a:t>• Auditing: Regular testing for compliance and harm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640080" y="3017520"/>
            <a:ext cx="78638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33333"/>
                </a:solidFill>
              </a:rPr>
              <a:t>• Tools: Transparency tools, bias detection, fairness metrics</a:t>
            </a:r>
            <a:endParaRPr lang="en-US" sz="14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0D1B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2E86AB"/>
                </a:solidFill>
              </a:rPr>
              <a:t>PROXIANT ACADEMY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457200" y="2286000"/>
            <a:ext cx="82296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5400" b="1" dirty="0">
                <a:solidFill>
                  <a:srgbClr val="FFFFFF"/>
                </a:solidFill>
              </a:rPr>
              <a:t>Session 12: AI in Industry &amp; Strategy</a:t>
            </a:r>
            <a:endParaRPr lang="en-US" sz="5400" dirty="0"/>
          </a:p>
        </p:txBody>
      </p:sp>
      <p:sp>
        <p:nvSpPr>
          <p:cNvPr id="4" name="Text 2"/>
          <p:cNvSpPr/>
          <p:nvPr/>
        </p:nvSpPr>
        <p:spPr>
          <a:xfrm>
            <a:off x="457200" y="3840480"/>
            <a:ext cx="82296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E8F4F8"/>
                </a:solidFill>
              </a:rPr>
              <a:t>Realizing value from AI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457200" y="594360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2E86AB"/>
                </a:solidFill>
              </a:rPr>
              <a:t>Session 12</a:t>
            </a:r>
            <a:endParaRPr lang="en-US" sz="16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31520"/>
          </a:xfrm>
          <a:prstGeom prst="rect">
            <a:avLst/>
          </a:prstGeom>
          <a:solidFill>
            <a:srgbClr val="0D1B2A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13716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</a:rPr>
              <a:t>AI in Healthcare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640080" y="1097280"/>
            <a:ext cx="78638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33333"/>
                </a:solidFill>
              </a:rPr>
              <a:t>• Diagnostics: Image analysis (X-rays, MRI) high accuracy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640080" y="1737360"/>
            <a:ext cx="78638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33333"/>
                </a:solidFill>
              </a:rPr>
              <a:t>• Drug discovery: Accelerate research, predict properties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640080" y="2377440"/>
            <a:ext cx="78638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33333"/>
                </a:solidFill>
              </a:rPr>
              <a:t>• Personalized medicine: Tailored treatments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640080" y="3017520"/>
            <a:ext cx="78638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33333"/>
                </a:solidFill>
              </a:rPr>
              <a:t>• Challenges: Regulatory approval, privacy (HIPAA), liability</a:t>
            </a:r>
            <a:endParaRPr lang="en-US" sz="14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31520"/>
          </a:xfrm>
          <a:prstGeom prst="rect">
            <a:avLst/>
          </a:prstGeom>
          <a:solidFill>
            <a:srgbClr val="0D1B2A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13716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</a:rPr>
              <a:t>AI in Finance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640080" y="1097280"/>
            <a:ext cx="78638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33333"/>
                </a:solidFill>
              </a:rPr>
              <a:t>• Fraud detection: Pattern recognition in transactions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640080" y="1737360"/>
            <a:ext cx="78638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33333"/>
                </a:solidFill>
              </a:rPr>
              <a:t>• Algorithmic trading: High-frequency trading strategies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640080" y="2377440"/>
            <a:ext cx="78638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33333"/>
                </a:solidFill>
              </a:rPr>
              <a:t>• Risk assessment: Credit scoring, portfolio optimization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640080" y="3017520"/>
            <a:ext cx="78638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33333"/>
                </a:solidFill>
              </a:rPr>
              <a:t>• Challenges: Fairness in lending, market stability, compliance</a:t>
            </a:r>
            <a:endParaRPr lang="en-US" sz="14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31520"/>
          </a:xfrm>
          <a:prstGeom prst="rect">
            <a:avLst/>
          </a:prstGeom>
          <a:solidFill>
            <a:srgbClr val="0D1B2A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13716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</a:rPr>
              <a:t>AI in Manufacturing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640080" y="1097280"/>
            <a:ext cx="78638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33333"/>
                </a:solidFill>
              </a:rPr>
              <a:t>• Predictive maintenance: Prevent failures before they occur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640080" y="1737360"/>
            <a:ext cx="78638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33333"/>
                </a:solidFill>
              </a:rPr>
              <a:t>• Quality control: Detect production defects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640080" y="2377440"/>
            <a:ext cx="78638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33333"/>
                </a:solidFill>
              </a:rPr>
              <a:t>• Supply chain: Demand forecasting, inventory management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640080" y="3017520"/>
            <a:ext cx="78638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33333"/>
                </a:solidFill>
              </a:rPr>
              <a:t>• Example: Reduce unplanned downtime by 50%</a:t>
            </a:r>
            <a:endParaRPr lang="en-US" sz="14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31520"/>
          </a:xfrm>
          <a:prstGeom prst="rect">
            <a:avLst/>
          </a:prstGeom>
          <a:solidFill>
            <a:srgbClr val="0D1B2A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13716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</a:rPr>
              <a:t>AI in Marketing &amp; CX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640080" y="1097280"/>
            <a:ext cx="78638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33333"/>
                </a:solidFill>
              </a:rPr>
              <a:t>• Personalization: Recommendations, product suggestions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640080" y="1737360"/>
            <a:ext cx="78638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33333"/>
                </a:solidFill>
              </a:rPr>
              <a:t>• Content generation: Automated copy, social media content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640080" y="2377440"/>
            <a:ext cx="78638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33333"/>
                </a:solidFill>
              </a:rPr>
              <a:t>• Customer analytics: Churn prediction, lifetime value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640080" y="3017520"/>
            <a:ext cx="78638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33333"/>
                </a:solidFill>
              </a:rPr>
              <a:t>• Challenges: Privacy, consent, over-personalization</a:t>
            </a:r>
            <a:endParaRPr lang="en-US" sz="14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31520"/>
          </a:xfrm>
          <a:prstGeom prst="rect">
            <a:avLst/>
          </a:prstGeom>
          <a:solidFill>
            <a:srgbClr val="0D1B2A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13716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</a:rPr>
              <a:t>AI in Human Resources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640080" y="1097280"/>
            <a:ext cx="78638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33333"/>
                </a:solidFill>
              </a:rPr>
              <a:t>• Recruitment: Resume parsing, candidate matching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640080" y="1737360"/>
            <a:ext cx="78638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33333"/>
                </a:solidFill>
              </a:rPr>
              <a:t>• Retention analytics: Predict turnover, engagement scoring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640080" y="2377440"/>
            <a:ext cx="78638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33333"/>
                </a:solidFill>
              </a:rPr>
              <a:t>• Workforce planning: Skills gap analysis, learning paths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640080" y="3017520"/>
            <a:ext cx="78638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33333"/>
                </a:solidFill>
              </a:rPr>
              <a:t>• Risks: Bias in hiring, privacy in monitoring</a:t>
            </a:r>
            <a:endParaRPr lang="en-US" sz="14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31520"/>
          </a:xfrm>
          <a:prstGeom prst="rect">
            <a:avLst/>
          </a:prstGeom>
          <a:solidFill>
            <a:srgbClr val="0D1B2A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13716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</a:rPr>
              <a:t>AI in Operations &amp; Logistics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640080" y="1097280"/>
            <a:ext cx="78638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33333"/>
                </a:solidFill>
              </a:rPr>
              <a:t>• Route optimization: Reduce time and costs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640080" y="1737360"/>
            <a:ext cx="78638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33333"/>
                </a:solidFill>
              </a:rPr>
              <a:t>• Demand forecasting: Predict customer demand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640080" y="2377440"/>
            <a:ext cx="78638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33333"/>
                </a:solidFill>
              </a:rPr>
              <a:t>• Warehouse automation: Robotics, picking, packing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640080" y="3017520"/>
            <a:ext cx="78638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33333"/>
                </a:solidFill>
              </a:rPr>
              <a:t>• Impact: 20-30% cost reduction, faster delivery</a:t>
            </a:r>
            <a:endParaRPr lang="en-US" sz="14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31520"/>
          </a:xfrm>
          <a:prstGeom prst="rect">
            <a:avLst/>
          </a:prstGeom>
          <a:solidFill>
            <a:srgbClr val="0D1B2A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13716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</a:rPr>
              <a:t>Building an AI Strategy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640080" y="1097280"/>
            <a:ext cx="78638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33333"/>
                </a:solidFill>
              </a:rPr>
              <a:t>• Assessment: Current state, capabilities, competitive landscape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640080" y="1737360"/>
            <a:ext cx="78638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33333"/>
                </a:solidFill>
              </a:rPr>
              <a:t>• Vision: Where AI creates most value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640080" y="2377440"/>
            <a:ext cx="78638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33333"/>
                </a:solidFill>
              </a:rPr>
              <a:t>• Roadmap: Prioritized initiatives, timeline, resources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640080" y="3017520"/>
            <a:ext cx="78638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33333"/>
                </a:solidFill>
              </a:rPr>
              <a:t>• Talent &amp; Infrastructure: Hiring, tools, data platforms</a:t>
            </a:r>
            <a:endParaRPr lang="en-US" sz="140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31520"/>
          </a:xfrm>
          <a:prstGeom prst="rect">
            <a:avLst/>
          </a:prstGeom>
          <a:solidFill>
            <a:srgbClr val="0D1B2A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13716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</a:rPr>
              <a:t>AI Maturity Models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640080" y="1097280"/>
            <a:ext cx="78638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33333"/>
                </a:solidFill>
              </a:rPr>
              <a:t>• Level 1: Ad-hoc, pilot projects, limited impact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640080" y="1737360"/>
            <a:ext cx="78638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33333"/>
                </a:solidFill>
              </a:rPr>
              <a:t>• Level 2: Operational AI in specific domains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640080" y="2377440"/>
            <a:ext cx="78638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33333"/>
                </a:solidFill>
              </a:rPr>
              <a:t>• Level 3: Strategic AI across multiple functions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640080" y="3017520"/>
            <a:ext cx="78638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33333"/>
                </a:solidFill>
              </a:rPr>
              <a:t>• Level 4: AI-driven organization, competitive advantage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40080" y="3657600"/>
            <a:ext cx="78638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33333"/>
                </a:solidFill>
              </a:rPr>
              <a:t>• Level 5: AI innovation, market leadership</a:t>
            </a:r>
            <a:endParaRPr lang="en-US" sz="140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31520"/>
          </a:xfrm>
          <a:prstGeom prst="rect">
            <a:avLst/>
          </a:prstGeom>
          <a:solidFill>
            <a:srgbClr val="0D1B2A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13716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</a:rPr>
              <a:t>Change Management for AI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640080" y="1097280"/>
            <a:ext cx="78638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33333"/>
                </a:solidFill>
              </a:rPr>
              <a:t>• Culture: Upskill workforce, foster experimentation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640080" y="1737360"/>
            <a:ext cx="78638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33333"/>
                </a:solidFill>
              </a:rPr>
              <a:t>• Organization: New roles (ML engineers, data scientists, ethics)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640080" y="2377440"/>
            <a:ext cx="78638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33333"/>
                </a:solidFill>
              </a:rPr>
              <a:t>• Processes: Integrate AI into existing workflows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640080" y="3017520"/>
            <a:ext cx="78638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33333"/>
                </a:solidFill>
              </a:rPr>
              <a:t>• Governance: Policies, compliance, responsible AI oversight</a:t>
            </a:r>
            <a:endParaRPr lang="en-US" sz="140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31520"/>
          </a:xfrm>
          <a:prstGeom prst="rect">
            <a:avLst/>
          </a:prstGeom>
          <a:solidFill>
            <a:srgbClr val="0D1B2A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13716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</a:rPr>
              <a:t>The Future of AI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640080" y="1097280"/>
            <a:ext cx="78638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33333"/>
                </a:solidFill>
              </a:rPr>
              <a:t>• AGI debate: Could AI reach human-level general intelligence?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640080" y="1737360"/>
            <a:ext cx="78638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33333"/>
                </a:solidFill>
              </a:rPr>
              <a:t>• Quantum AI: Quantum computing to accelerate AI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640080" y="2377440"/>
            <a:ext cx="78638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33333"/>
                </a:solidFill>
              </a:rPr>
              <a:t>• Neuromorphic: Brain-inspired architectures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640080" y="3017520"/>
            <a:ext cx="78638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33333"/>
                </a:solidFill>
              </a:rPr>
              <a:t>• AI &amp; climate: Model training carbon, AI for sustainability</a:t>
            </a:r>
            <a:endParaRPr lang="en-US" sz="1400" dirty="0"/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31520"/>
          </a:xfrm>
          <a:prstGeom prst="rect">
            <a:avLst/>
          </a:prstGeom>
          <a:solidFill>
            <a:srgbClr val="0D1B2A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13716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</a:rPr>
              <a:t>Career Paths in AI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640080" y="1097280"/>
            <a:ext cx="78638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33333"/>
                </a:solidFill>
              </a:rPr>
              <a:t>• ML Engineer: Build and deploy models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640080" y="1737360"/>
            <a:ext cx="78638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33333"/>
                </a:solidFill>
              </a:rPr>
              <a:t>• Data Scientist: Analyze data, solve business problems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640080" y="2377440"/>
            <a:ext cx="78638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33333"/>
                </a:solidFill>
              </a:rPr>
              <a:t>• AI Researcher: Advance state-of-the-art research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640080" y="3017520"/>
            <a:ext cx="78638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33333"/>
                </a:solidFill>
              </a:rPr>
              <a:t>• AI Ethics &amp; Policy: Ensure responsible AI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40080" y="3657600"/>
            <a:ext cx="78638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33333"/>
                </a:solidFill>
              </a:rPr>
              <a:t>• Product Manager: Lead AI product strategy</a:t>
            </a:r>
            <a:endParaRPr lang="en-US" sz="1400" dirty="0"/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31520"/>
          </a:xfrm>
          <a:prstGeom prst="rect">
            <a:avLst/>
          </a:prstGeom>
          <a:solidFill>
            <a:srgbClr val="0D1B2A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13716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</a:rPr>
              <a:t>Skills for AI Careers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640080" y="1097280"/>
            <a:ext cx="78638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33333"/>
                </a:solidFill>
              </a:rPr>
              <a:t>• Technical: Python, ML frameworks, statistics, SQL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640080" y="1737360"/>
            <a:ext cx="78638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33333"/>
                </a:solidFill>
              </a:rPr>
              <a:t>• Business: Problem framing, communication, ROI analysis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640080" y="2377440"/>
            <a:ext cx="78638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33333"/>
                </a:solidFill>
              </a:rPr>
              <a:t>• Ethics: Bias detection, fairness, responsible AI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640080" y="3017520"/>
            <a:ext cx="78638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33333"/>
                </a:solidFill>
              </a:rPr>
              <a:t>• Certifications: PCAP (Python Programmer)</a:t>
            </a:r>
            <a:endParaRPr lang="en-US" sz="1400" dirty="0"/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31520"/>
          </a:xfrm>
          <a:prstGeom prst="rect">
            <a:avLst/>
          </a:prstGeom>
          <a:solidFill>
            <a:srgbClr val="0D1B2A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13716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</a:rPr>
              <a:t>Course Recap: Key Takeaways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640080" y="1097280"/>
            <a:ext cx="78638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33333"/>
                </a:solidFill>
              </a:rPr>
              <a:t>• AI fundamentals: Supervised/unsupervised, neural networks, transformers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640080" y="1737360"/>
            <a:ext cx="78638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33333"/>
                </a:solidFill>
              </a:rPr>
              <a:t>• Generative AI: LLMs, prompt engineering, RAG, agents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640080" y="2377440"/>
            <a:ext cx="78638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33333"/>
                </a:solidFill>
              </a:rPr>
              <a:t>• Ethics: Bias, fairness, accountability, safety, regulation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640080" y="3017520"/>
            <a:ext cx="78638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33333"/>
                </a:solidFill>
              </a:rPr>
              <a:t>• Strategy: Industry applications, roadmap, careers</a:t>
            </a:r>
            <a:endParaRPr lang="en-US" sz="1400" dirty="0"/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31520"/>
          </a:xfrm>
          <a:prstGeom prst="rect">
            <a:avLst/>
          </a:prstGeom>
          <a:solidFill>
            <a:srgbClr val="0D1B2A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13716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</a:rPr>
              <a:t>Certification Preparation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640080" y="1097280"/>
            <a:ext cx="78638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33333"/>
                </a:solidFill>
              </a:rPr>
              <a:t>• PCAP: Python syntax, data structures, OOP, file handling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640080" y="1737360"/>
            <a:ext cx="78638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33333"/>
                </a:solidFill>
              </a:rPr>
              <a:t>• AI knowledge: Concepts, definitions, real-world applications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640080" y="2377440"/>
            <a:ext cx="78638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33333"/>
                </a:solidFill>
              </a:rPr>
              <a:t>• Case studies: Understand ethics challenges, solutions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640080" y="3017520"/>
            <a:ext cx="78638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33333"/>
                </a:solidFill>
              </a:rPr>
              <a:t>• Next: Specialization, deeper learning in interest areas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41</Slides>
  <Notes>41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41</vt:i4>
      </vt:variant>
    </vt:vector>
  </HeadingPairs>
  <TitlesOfParts>
    <vt:vector size="4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2026-02-14T00:54:52Z</dcterms:created>
  <dcterms:modified xsi:type="dcterms:W3CDTF">2026-02-14T00:54:52Z</dcterms:modified>
</cp:coreProperties>
</file>