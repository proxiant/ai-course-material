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6AB"/>
                </a:solidFill>
              </a:rPr>
              <a:t>PROXIANT ACADEMY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Week 4: Generative AI, Ethics &amp; Strategy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F4F8"/>
                </a:solidFill>
              </a:rPr>
              <a:t>AI Fundamentals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86AB"/>
                </a:solidFill>
              </a:rPr>
              <a:t>Weeks 4 - Sessions 10-12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6AB"/>
                </a:solidFill>
              </a:rPr>
              <a:t>PROXIANT ACADEMY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Session 10: Large Language Models &amp; Generative AI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F4F8"/>
                </a:solidFill>
              </a:rPr>
              <a:t>Understanding modern AI systems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86AB"/>
                </a:solidFill>
              </a:rPr>
              <a:t>Session 10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Generative vs Discriminative Models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Discriminative: Learn decision boundaries (classification/regression)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Generative: Learn data distribution (sampling, generation)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GPT models: Generative - learn probability distribution of text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Key: Generative can create new data, discriminative classifies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What Makes LLMs 'Large'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Parameters: 7B to 405B+ trainable weights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Training data: Massive corpora (terabytes of text)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Compute: Thousands of GPUs training for months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Example: GPT-4: parameter count undisclosed (outside estimates ~1T+), massive web data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Scaling Laws &amp; Emergent Capabilities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Scaling law: Performance follows power law with compute/data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Emergent capabilities: Arise unpredictably at scale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Few-shot learning: Learn from examples in context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In-context learning: Use prompt examples without retraining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GPT Architecture: Decoder-Only Transformer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Transformer blocks: Attention mechanisms for context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Decoder-only: Predicts next token given previous tokens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Autoregressive generation: One token at a time, left-to-right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Attention: Focus on relevant context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Training LLMs: Three Stages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Pre-training: Learn language patterns on massive unlabeled text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Instruction tuning: Fine-tune on task-specific examples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RLHF: Reinforcement Learning from Human Feedback alignment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Major LLM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Claude (Anthropic): Safety and helpfulness focus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GPT-4 (OpenAI): Multimodal, state-of-the-art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Gemini (Google): Multimodal, ecosystem integrated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Llama (Meta): Open-source, efficient models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Generative AI Modalities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Text: LLMs, language generation, summarization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Images: Diffusion models (DALL-E, Stable Diffusion), GANs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Audio: Speech synthesis, music generation, voice conversion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Video: Frame interpolation, video generation (emerging)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Code: Code completion, code generation (Copilot, Claude)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Prompt Engineering Techniques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Zero-shot: Direct prompt without examples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Few-shot: Provide examples for better performance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Chain-of-thought: Ask model to show step-by-step reasoning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System prompts: Set behavior and constraints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Retrieval-Augmented Generation (RAG)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Problem: LLMs may hallucinate or lack current information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Solution: Retrieve documents, then generate response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Workflow: Query → Search → Augment prompt → Generate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Use cases: Document Q&amp;A, customer support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Agents &amp; Tool Use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AI agents: Autonomous systems that plan and act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Tool use: Models call external functions/APIs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Planning: Break goals into steps, select tools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Examples: ChatGPT with plugins, Claude with tools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LLM Limitations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Hallucinations: Confident but false information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Context windows: Limited memory (mitigated by longer contexts)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Reasoning failures: Struggles with complex math, logic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Training data cutoff: No knowledge of recent events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Bias: Reflects biases in training data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6AB"/>
                </a:solidFill>
              </a:rPr>
              <a:t>PROXIANT ACADEMY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Session 11: AI Ethics, Safety &amp; Regulation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F4F8"/>
                </a:solidFill>
              </a:rPr>
              <a:t>Building trustworthy AI systems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86AB"/>
                </a:solidFill>
              </a:rPr>
              <a:t>Session 11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Why AI Ethics Matters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Real-world impact: Healthcare, hiring, criminal justice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Scale: AI decisions affect millions of people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Irreversibility: Some harms cannot be undone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Accountability: Who is responsible when AI fails?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Sources of Bias in AI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Data bias: Training data reflects historical discrimination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Algorithmic bias: Model architecture choices introduce bias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Societal bias: Broader inequalities encoded in data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Example: Hiring models trained on historical hiring (gender bias)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Bias Examples Across Industries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Healthcare: Algorithms underestimating health needs for Black patients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Criminal justice: Recidivism prediction tools showing racial bias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Finance: Loan approval algorithms discriminating against groups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Hiring: Resume screening tools downranking women in tech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Fairness Definitions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Demographic parity: Equal outcomes across groups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Equalized odds: Equal true/false positive rates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Individual fairness: Similar individuals treated similarly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Impossibility: Cannot satisfy all fairness definitions simultaneously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Transparency &amp; Explainability (XAI)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Black box problem: Neural networks lack interpretability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LIME: Local Interpretable Model-agnostic Explanations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SHAP: SHapley Additive exPlanations from game theory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Tradeoff: Simpler interpretable, complex more accurate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Accountability Framework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Responsibility: Developer? Company? User? Regulator?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Documentation: Model cards, dataset cards for transparency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Auditing: Regular testing for bias and performance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Redress: Process for people harmed by AI decisions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Privacy in AI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Data rights: Control over personal data, right to deletion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Differential privacy: Add noise to protect individual privacy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Federated learning: Train models without centralizing data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Risk: Membership inference attacks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Safety &amp; Alignment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Alignment problem: Ensuring AI pursues intended goals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Reward hacking: Gaming reward function instead of solving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Specification gaming: Exploiting loopholes in specifications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Goal misalignment: What we want vs what we specify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Deepfakes &amp; Misinformation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Deepfakes: AI-generated realistic fake videos/audio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Misinformation: False or misleading AI-generated content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Detection: Watermarking, digital signatures, statistics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Policy: Media literacy, platform responsibility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EU AI Act (Risk-Based Framework)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Prohibited: Social credit scoring, real-time facial recognition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High-risk: Criminal justice, hiring, healthcare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Limited-risk: Transparency (e.g., chatbots disclose AI)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Minimal-risk: General purpose AI with light regulation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NIST AI RMF &amp; US Regulation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NIST AI Risk Management Framework: Map, measure, manage, govern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White House Executive Order: Advancing responsible 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GDPR enforcement: Up to 4% of global revenue in fines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State-level: California AI privacy laws, Colorado AI bias laws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Responsible AI Frameworks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Principles: Fairness, transparency, accountability, privacy, security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Guidelines: Established by tech companies, industry bodies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Auditing: Regular testing for compliance and harm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Tools: Transparency tools, bias detection, fairness metrics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6AB"/>
                </a:solidFill>
              </a:rPr>
              <a:t>PROXIANT ACADEMY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Session 12: AI in Industry &amp; Strategy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F4F8"/>
                </a:solidFill>
              </a:rPr>
              <a:t>Realizing value from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86AB"/>
                </a:solidFill>
              </a:rPr>
              <a:t>Session 12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in Healthcare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Diagnostics: Image analysis (X-rays, MRI) high accuracy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Drug discovery: Accelerate research, predict properties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Personalized medicine: Tailored treatments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Challenges: Regulatory approval, privacy (HIPAA), liability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in Finance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Fraud detection: Pattern recognition in transactions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Algorithmic trading: High-frequency trading strategies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Risk assessment: Credit scoring, portfolio optimization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Challenges: Fairness in lending, market stability, compliance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in Manufacturing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Predictive maintenance: Prevent failures before they occur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Quality control: Detect production defects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Supply chain: Demand forecasting, inventory management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Example: Reduce unplanned downtime by 50%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in Marketing &amp; CX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Personalization: Recommendations, product suggestions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Content generation: Automated copy, social media content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Customer analytics: Churn prediction, lifetime value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Challenges: Privacy, consent, over-personalization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in Human Resources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Recruitment: Resume parsing, candidate matching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Retention analytics: Predict turnover, engagement scoring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Workforce planning: Skills gap analysis, learning paths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Risks: Bias in hiring, privacy in monitoring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in Operations &amp; Logistics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Route optimization: Reduce time and costs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Demand forecasting: Predict customer demand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Warehouse automation: Robotics, picking, packing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Impact: 20-30% cost reduction, faster delivery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Building an AI Strategy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Assessment: Current state, capabilities, competitive landscape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Vision: Where AI creates most value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Roadmap: Prioritized initiatives, timeline, resources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Talent &amp; Infrastructure: Hiring, tools, data platforms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AI Maturity Models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Level 1: Ad-hoc, pilot projects, limited impact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Level 2: Operational AI in specific domains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Level 3: Strategic AI across multiple functions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Level 4: AI-driven organization, competitive advantage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Level 5: AI innovation, market leadership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Change Management for AI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Culture: Upskill workforce, foster experimentation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Organization: New roles (ML engineers, data scientists, ethics)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Processes: Integrate AI into existing workflows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Governance: Policies, compliance, responsible AI oversight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The Future of AI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AGI debate: Could AI reach human-level general intelligence?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Quantum AI: Quantum computing to accelerate 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Neuromorphic: Brain-inspired architectures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AI &amp; climate: Model training carbon, AI for sustainability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Career Paths in AI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ML Engineer: Build and deploy models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Data Scientist: Analyze data, solve business problems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AI Researcher: Advance state-of-the-art research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AI Ethics &amp; Policy: Ensure responsible AI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Product Manager: Lead AI product strategy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Skills for AI Careers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Technical: Python, ML frameworks, statistics, SQL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Business: Problem framing, communication, ROI analysis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Ethics: Bias detection, fairness, responsible AI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Certifications: PCAIP (Python Programmer)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Course Recap: Key Takeaways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AI fundamentals: Supervised/unsupervised, neural networks, transformers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Generative AI: LLMs, prompt engineering, RAG, agents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Ethics: Bias, fairness, accountability, safety, regulation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Strategy: Industry applications, roadmap, careers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Certification Preparation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PCAIP: Python syntax, data structures, OOP, file handling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AI knowledge: Concepts, definitions, real-world applications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Case studies: Understand ethics challenges, solutions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• Next: Specialization, deeper learning in interest areas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2026-02-14T00:54:52Z</dcterms:created>
  <dcterms:modified xsi:type="dcterms:W3CDTF">2026-02-14T00:54:52Z</dcterms:modified>
</cp:coreProperties>
</file>