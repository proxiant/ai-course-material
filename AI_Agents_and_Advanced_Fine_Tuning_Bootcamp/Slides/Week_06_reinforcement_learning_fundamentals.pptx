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457200"/>
          </a:xfrm>
          <a:prstGeom prst="rect">
            <a:avLst/>
          </a:prstGeom>
          <a:noFill/>
        </p:spPr>
        <p:txBody>
          <a:bodyPr wrap="square">
            <a:spAutoFit/>
          </a:bodyPr>
          <a:lstStyle/>
          <a:p>
            <a:pPr algn="l"/>
            <a:r>
              <a:rPr sz="1400" b="0">
                <a:solidFill>
                  <a:srgbClr val="FFFFFF"/>
                </a:solidFill>
                <a:latin typeface="Calibri"/>
              </a:rPr>
              <a:t>Proxiant Academy</a:t>
            </a:r>
          </a:p>
        </p:txBody>
      </p:sp>
      <p:sp>
        <p:nvSpPr>
          <p:cNvPr id="4" name="TextBox 3"/>
          <p:cNvSpPr txBox="1"/>
          <p:nvPr/>
        </p:nvSpPr>
        <p:spPr>
          <a:xfrm>
            <a:off x="548640" y="1828800"/>
            <a:ext cx="7315200" cy="640080"/>
          </a:xfrm>
          <a:prstGeom prst="rect">
            <a:avLst/>
          </a:prstGeom>
          <a:noFill/>
        </p:spPr>
        <p:txBody>
          <a:bodyPr wrap="square">
            <a:spAutoFit/>
          </a:bodyPr>
          <a:lstStyle/>
          <a:p>
            <a:pPr algn="l"/>
            <a:r>
              <a:rPr sz="2800" b="1">
                <a:solidFill>
                  <a:srgbClr val="2C5FF5"/>
                </a:solidFill>
                <a:latin typeface="Calibri"/>
              </a:rPr>
              <a:t>Week 6</a:t>
            </a:r>
          </a:p>
        </p:txBody>
      </p:sp>
      <p:sp>
        <p:nvSpPr>
          <p:cNvPr id="5" name="TextBox 4"/>
          <p:cNvSpPr txBox="1"/>
          <p:nvPr/>
        </p:nvSpPr>
        <p:spPr>
          <a:xfrm>
            <a:off x="548640" y="2560320"/>
            <a:ext cx="10972800" cy="1280160"/>
          </a:xfrm>
          <a:prstGeom prst="rect">
            <a:avLst/>
          </a:prstGeom>
          <a:noFill/>
        </p:spPr>
        <p:txBody>
          <a:bodyPr wrap="square">
            <a:spAutoFit/>
          </a:bodyPr>
          <a:lstStyle/>
          <a:p>
            <a:pPr algn="l"/>
            <a:r>
              <a:rPr sz="4400" b="1">
                <a:solidFill>
                  <a:srgbClr val="FFFFFF"/>
                </a:solidFill>
                <a:latin typeface="Calibri"/>
              </a:rPr>
              <a:t>Reinforcement Learning Fundamentals</a:t>
            </a:r>
          </a:p>
        </p:txBody>
      </p:sp>
      <p:sp>
        <p:nvSpPr>
          <p:cNvPr id="6" name="TextBox 5"/>
          <p:cNvSpPr txBox="1"/>
          <p:nvPr/>
        </p:nvSpPr>
        <p:spPr>
          <a:xfrm>
            <a:off x="548640" y="4206240"/>
            <a:ext cx="10972800" cy="914400"/>
          </a:xfrm>
          <a:prstGeom prst="rect">
            <a:avLst/>
          </a:prstGeom>
          <a:noFill/>
        </p:spPr>
        <p:txBody>
          <a:bodyPr wrap="square">
            <a:spAutoFit/>
          </a:bodyPr>
          <a:lstStyle/>
          <a:p>
            <a:pPr algn="l"/>
            <a:r>
              <a:rPr sz="2000" b="0">
                <a:solidFill>
                  <a:srgbClr val="FFFFFF"/>
                </a:solidFill>
                <a:latin typeface="Calibri"/>
              </a:rPr>
              <a:t>MDPs, value functions, PPO, DPO, GRPO, and alignment</a:t>
            </a:r>
          </a:p>
        </p:txBody>
      </p:sp>
      <p:sp>
        <p:nvSpPr>
          <p:cNvPr id="7" name="TextBox 6"/>
          <p:cNvSpPr txBox="1"/>
          <p:nvPr/>
        </p:nvSpPr>
        <p:spPr>
          <a:xfrm>
            <a:off x="548640" y="6035040"/>
            <a:ext cx="7315200" cy="365760"/>
          </a:xfrm>
          <a:prstGeom prst="rect">
            <a:avLst/>
          </a:prstGeom>
          <a:noFill/>
        </p:spPr>
        <p:txBody>
          <a:bodyPr wrap="square">
            <a:spAutoFit/>
          </a:bodyPr>
          <a:lstStyle/>
          <a:p>
            <a:pPr algn="l"/>
            <a:r>
              <a:rPr sz="1200" b="0">
                <a:solidFill>
                  <a:srgbClr val="FFFFFF"/>
                </a:solidFill>
                <a:latin typeface="Calibri"/>
              </a:rPr>
              <a:t>Sunday, July 12, 2026</a:t>
            </a:r>
          </a:p>
        </p:txBody>
      </p:sp>
      <p:sp>
        <p:nvSpPr>
          <p:cNvPr id="8" name="TextBox 7"/>
          <p:cNvSpPr txBox="1"/>
          <p:nvPr/>
        </p:nvSpPr>
        <p:spPr>
          <a:xfrm>
            <a:off x="548640" y="6400800"/>
            <a:ext cx="9144000" cy="365760"/>
          </a:xfrm>
          <a:prstGeom prst="rect">
            <a:avLst/>
          </a:prstGeom>
          <a:noFill/>
        </p:spPr>
        <p:txBody>
          <a:bodyPr wrap="square">
            <a:spAutoFit/>
          </a:bodyPr>
          <a:lstStyle/>
          <a:p>
            <a:pPr algn="l"/>
            <a:r>
              <a:rPr sz="1200" b="0">
                <a:solidFill>
                  <a:srgbClr val="FFFFFF"/>
                </a:solidFill>
                <a:latin typeface="Calibri"/>
              </a:rPr>
              <a:t>AI Agents and Advanced Fine-Tuning Bootcamp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1</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Today's Map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6 | Reinforcement Learning Fundamentals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Where we are in the bootcamp</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RL week one. Cover MDPs, value and advantage functions, and the policy gradient family (TRPO, PPO). Introduce direct preference methods (DPO) and group relative methods (GRPO). Tie everything back to the Helpful, Honest, Harmless framing for alignment.</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6 | Reinforcement Learning Fundamentals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Learning Objectives</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Formalize an LLM task as an MDP and identify state, action, reward, transitions</a:t>
            </a:r>
          </a:p>
          <a:p>
            <a:pPr algn="l">
              <a:spcAft>
                <a:spcPts val="600"/>
              </a:spcAft>
            </a:pPr>
            <a:r>
              <a:rPr sz="1500">
                <a:solidFill>
                  <a:srgbClr val="333333"/>
                </a:solidFill>
                <a:latin typeface="Calibri"/>
              </a:rPr>
              <a:t>  •  Distinguish value, Q, and advantage functions and when each is used</a:t>
            </a:r>
          </a:p>
          <a:p>
            <a:pPr algn="l">
              <a:spcAft>
                <a:spcPts val="600"/>
              </a:spcAft>
            </a:pPr>
            <a:r>
              <a:rPr sz="1500">
                <a:solidFill>
                  <a:srgbClr val="333333"/>
                </a:solidFill>
                <a:latin typeface="Calibri"/>
              </a:rPr>
              <a:t>  •  Derive the PPO surrogate objective and explain the role of the clip term</a:t>
            </a:r>
          </a:p>
          <a:p>
            <a:pPr algn="l">
              <a:spcAft>
                <a:spcPts val="600"/>
              </a:spcAft>
            </a:pPr>
            <a:r>
              <a:rPr sz="1500">
                <a:solidFill>
                  <a:srgbClr val="333333"/>
                </a:solidFill>
                <a:latin typeface="Calibri"/>
              </a:rPr>
              <a:t>  •  Compare PPO, DPO, and GRPO on data requirements and training stability</a:t>
            </a:r>
          </a:p>
          <a:p>
            <a:pPr algn="l">
              <a:spcAft>
                <a:spcPts val="600"/>
              </a:spcAft>
            </a:pPr>
            <a:r>
              <a:rPr sz="1500">
                <a:solidFill>
                  <a:srgbClr val="333333"/>
                </a:solidFill>
                <a:latin typeface="Calibri"/>
              </a:rPr>
              <a:t>  •  Apply the Helpful, Honest, Harmless rubric when designing a reward signal</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2</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Concepts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6 | Reinforcement Learning Fundamentals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1. MDPs and the LLM analogy</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State is the context window. Action is the next token (or the next tool call). Reward is delayed and sparse. Discount is implicit.</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6 | Reinforcement Learning Fundamentals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2. Value, Q, and advantage</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V is the expected return from a state. Q is the expected return from a state-action pair. Advantage A = Q - V tells you how much better an action is than the policy average. PPO uses A; DPO does not need it.</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6 | Reinforcement Learning Fundamentals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3. Policy gradients and TRPO</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Policy gradient is unbiased but high variance. TRPO constrains step size by KL divergence to keep training stable.</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6 | Reinforcement Learning Fundamentals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4. PPO</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Replace the hard KL constraint with a clipped ratio. Easier to implement, more popular in practice. Defaults: clip 0.2, value loss coefficient 0.5, entropy bonus 0.01.</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6 | Reinforcement Learning Fundamentals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5. DPO</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Skip the explicit reward model. Train directly on preference pairs using a closed-form objective derived from the optimal RLHF policy.</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6 | Reinforcement Learning Fundamentals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6. GRPO</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Group relative policy optimization. Compare a group of samples per prompt and use relative advantage. Cuts the value network and matches PPO on many tasks.</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6 | Reinforcement Learning Fundamentals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7. Helpful, Honest, Harmless</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Three reward axes that often pull in different directions. Document the tradeoff before you train, not after.</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3</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Deeper Look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6 | Reinforcement Learning Fundamentals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1. MDP formalism applied to LLMs</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State: the current context. Action: the next token (for token-level RL) or the next tool call (for high-level RL). Reward: sparse, often only at the end of an episode. Transition: deterministic given the policy's sampling. The formalism feels heavy for LLMs but it is what makes the algorithms transferable.</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6 | Reinforcement Learning Fundamentals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2. Value, Q, and advantage</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V(s) is the expected return from state s under the current policy. Q(s,a) is the expected return from taking action a in state s. Advantage A(s,a) = Q(s,a) - V(s) tells you how much better action a is than the policy average. PPO uses A; DPO derives everything implicitly and needs none of them.</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6 | Reinforcement Learning Fundamentals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3. Policy gradients</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The gradient of expected return with respect to policy parameters is unbiased but high variance. Variance reduction tricks (advantage estimation, baselines, trust regions) are the difference between training and diverging.</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6 | Reinforcement Learning Fundamentals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4. PPO</a:t>
            </a:r>
          </a:p>
        </p:txBody>
      </p:sp>
      <p:sp>
        <p:nvSpPr>
          <p:cNvPr id="5" name="Rectangle 4"/>
          <p:cNvSpPr/>
          <p:nvPr/>
        </p:nvSpPr>
        <p:spPr>
          <a:xfrm>
            <a:off x="457200" y="1554480"/>
            <a:ext cx="11247120" cy="4937760"/>
          </a:xfrm>
          <a:prstGeom prst="rect">
            <a:avLst/>
          </a:prstGeom>
          <a:solidFill>
            <a:srgbClr val="1B1B2C"/>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tIns="182880"/>
          <a:lstStyle/>
          <a:p>
            <a:pPr algn="ctr">
              <a:spcAft>
                <a:spcPts val="0"/>
              </a:spcAft>
            </a:pPr>
            <a:r>
              <a:rPr sz="1300">
                <a:solidFill>
                  <a:srgbClr val="E6ECF5"/>
                </a:solidFill>
                <a:latin typeface="Consolas"/>
              </a:rPr>
              <a:t>ratio = exp(log_prob_new - log_prob_old)</a:t>
            </a:r>
          </a:p>
          <a:p>
            <a:pPr>
              <a:spcAft>
                <a:spcPts val="0"/>
              </a:spcAft>
            </a:pPr>
            <a:r>
              <a:rPr sz="1300">
                <a:solidFill>
                  <a:srgbClr val="E6ECF5"/>
                </a:solidFill>
                <a:latin typeface="Consolas"/>
              </a:rPr>
              <a:t>obj_clipped = min(ratio * adv,</a:t>
            </a:r>
          </a:p>
          <a:p>
            <a:pPr>
              <a:spcAft>
                <a:spcPts val="0"/>
              </a:spcAft>
            </a:pPr>
            <a:r>
              <a:rPr sz="1300">
                <a:solidFill>
                  <a:srgbClr val="E6ECF5"/>
                </a:solidFill>
                <a:latin typeface="Consolas"/>
              </a:rPr>
              <a:t>                  clip(ratio, 1-eps, 1+eps) * adv)</a:t>
            </a:r>
          </a:p>
          <a:p>
            <a:pPr>
              <a:spcAft>
                <a:spcPts val="0"/>
              </a:spcAft>
            </a:pPr>
            <a:r>
              <a:rPr sz="1300">
                <a:solidFill>
                  <a:srgbClr val="E6ECF5"/>
                </a:solidFill>
                <a:latin typeface="Consolas"/>
              </a:rPr>
              <a:t>loss = -mean(obj_clipped) + 0.5 * value_loss</a:t>
            </a:r>
          </a:p>
          <a:p>
            <a:pPr>
              <a:spcAft>
                <a:spcPts val="0"/>
              </a:spcAft>
            </a:pPr>
            <a:r>
              <a:rPr sz="1300">
                <a:solidFill>
                  <a:srgbClr val="E6ECF5"/>
                </a:solidFill>
                <a:latin typeface="Consolas"/>
              </a:rPr>
              <a:t>       - 0.01 * entropy</a:t>
            </a:r>
          </a:p>
          <a:p>
            <a:pPr>
              <a:spcAft>
                <a:spcPts val="0"/>
              </a:spcAft>
            </a:pPr>
            <a:r>
              <a:rPr sz="1300">
                <a:solidFill>
                  <a:srgbClr val="E6ECF5"/>
                </a:solidFill>
                <a:latin typeface="Consolas"/>
              </a:rPr>
              <a:t> </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6 | Reinforcement Learning Fundamentals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5. DPO</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Take the closed-form solution to the RLHF problem and rearrange it. The result is a classification loss over preference pairs. No reward model, no sampling at training time. Cheap and stable. Less expressive than PPO for multi-turn tasks.</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6 | Reinforcement Learning Fundamentals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6. GRPO</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Sample N completions per prompt. Compute their average reward and subtract from each. The result is a group-relative advantage that does not need a value network. Cuts memory roughly in half. Matches PPO on many tasks.</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6 | Reinforcement Learning Fundamentals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7. Helpful, Honest, Harmless</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Three reward axes. They often pull in different directions. Helpful and harmless tension on requests for dangerous information. Helpful and honest tension on questions where the model does not know the answer. Document the tradeoff explicitly in the reward design.</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4</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Papers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6 | Reinforcement Learning Fundamentals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Proximal Policy Optimization Algorithms</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Schulman et al., 2017 (arXiv:1707.06347).</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6 | Reinforcement Learning Fundamentals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Direct Preference Optimization: Your Language Model is Secretly a Reward Model</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Rafailov et al., 2023 (arXiv:2305.18290).</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6 | Reinforcement Learning Fundamentals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DeepSeekMath: Pushing the Limits of Mathematical Reasoning</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Shao et al., 2024 (arXiv:2402.03300). Introduces GRPO.</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5</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Review</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6 | Reinforcement Learning Fundamentals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Review Questions</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Why does PPO use the clipped ratio instead of a hard KL constraint?</a:t>
            </a:r>
          </a:p>
          <a:p>
            <a:pPr algn="l">
              <a:spcAft>
                <a:spcPts val="600"/>
              </a:spcAft>
            </a:pPr>
            <a:r>
              <a:rPr sz="1500">
                <a:solidFill>
                  <a:srgbClr val="333333"/>
                </a:solidFill>
                <a:latin typeface="Calibri"/>
              </a:rPr>
              <a:t>  •  When would you prefer DPO over PPO? When the opposite?</a:t>
            </a:r>
          </a:p>
          <a:p>
            <a:pPr algn="l">
              <a:spcAft>
                <a:spcPts val="600"/>
              </a:spcAft>
            </a:pPr>
            <a:r>
              <a:rPr sz="1500">
                <a:solidFill>
                  <a:srgbClr val="333333"/>
                </a:solidFill>
                <a:latin typeface="Calibri"/>
              </a:rPr>
              <a:t>  •  Sketch a reward that tensions helpful against harmless. Suggest a resolution.</a:t>
            </a:r>
          </a:p>
          <a:p>
            <a:pPr algn="l">
              <a:spcAft>
                <a:spcPts val="600"/>
              </a:spcAft>
            </a:pPr>
            <a:r>
              <a:rPr sz="1500">
                <a:solidFill>
                  <a:srgbClr val="333333"/>
                </a:solidFill>
                <a:latin typeface="Calibri"/>
              </a:rPr>
              <a:t>  •  What is the memory advantage of GRPO over PPO, and where does it come from?</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822960"/>
            <a:ext cx="9144000" cy="548640"/>
          </a:xfrm>
          <a:prstGeom prst="rect">
            <a:avLst/>
          </a:prstGeom>
          <a:noFill/>
        </p:spPr>
        <p:txBody>
          <a:bodyPr wrap="square">
            <a:spAutoFit/>
          </a:bodyPr>
          <a:lstStyle/>
          <a:p>
            <a:pPr algn="l"/>
            <a:r>
              <a:rPr sz="1800" b="1">
                <a:solidFill>
                  <a:srgbClr val="2C5FF5"/>
                </a:solidFill>
                <a:latin typeface="Calibri"/>
              </a:rPr>
              <a:t>This Week's Labs</a:t>
            </a:r>
          </a:p>
        </p:txBody>
      </p:sp>
      <p:sp>
        <p:nvSpPr>
          <p:cNvPr id="4" name="TextBox 3"/>
          <p:cNvSpPr txBox="1"/>
          <p:nvPr/>
        </p:nvSpPr>
        <p:spPr>
          <a:xfrm>
            <a:off x="640080" y="1463040"/>
            <a:ext cx="10972800" cy="457200"/>
          </a:xfrm>
          <a:prstGeom prst="rect">
            <a:avLst/>
          </a:prstGeom>
          <a:noFill/>
        </p:spPr>
        <p:txBody>
          <a:bodyPr wrap="square">
            <a:spAutoFit/>
          </a:bodyPr>
          <a:lstStyle/>
          <a:p>
            <a:pPr algn="l"/>
            <a:r>
              <a:rPr sz="1800" b="1">
                <a:solidFill>
                  <a:srgbClr val="FFFFFF"/>
                </a:solidFill>
                <a:latin typeface="Calibri"/>
              </a:rPr>
              <a:t>Lab A: RL grid problem from scratch</a:t>
            </a:r>
          </a:p>
        </p:txBody>
      </p:sp>
      <p:sp>
        <p:nvSpPr>
          <p:cNvPr id="5" name="TextBox 4"/>
          <p:cNvSpPr txBox="1"/>
          <p:nvPr/>
        </p:nvSpPr>
        <p:spPr>
          <a:xfrm>
            <a:off x="822960" y="1828800"/>
            <a:ext cx="10972800" cy="640080"/>
          </a:xfrm>
          <a:prstGeom prst="rect">
            <a:avLst/>
          </a:prstGeom>
          <a:noFill/>
        </p:spPr>
        <p:txBody>
          <a:bodyPr wrap="square">
            <a:spAutoFit/>
          </a:bodyPr>
          <a:lstStyle/>
          <a:p>
            <a:pPr algn="l"/>
            <a:r>
              <a:rPr sz="1200" b="0">
                <a:solidFill>
                  <a:srgbClr val="FFFFFF"/>
                </a:solidFill>
                <a:latin typeface="Calibri"/>
              </a:rPr>
              <a:t>Implement value iteration and Q-learning on a 5x5 gridworld and visualize convergence.</a:t>
            </a:r>
          </a:p>
        </p:txBody>
      </p:sp>
      <p:sp>
        <p:nvSpPr>
          <p:cNvPr id="6" name="TextBox 5"/>
          <p:cNvSpPr txBox="1"/>
          <p:nvPr/>
        </p:nvSpPr>
        <p:spPr>
          <a:xfrm>
            <a:off x="640080" y="2286000"/>
            <a:ext cx="10972800" cy="457200"/>
          </a:xfrm>
          <a:prstGeom prst="rect">
            <a:avLst/>
          </a:prstGeom>
          <a:noFill/>
        </p:spPr>
        <p:txBody>
          <a:bodyPr wrap="square">
            <a:spAutoFit/>
          </a:bodyPr>
          <a:lstStyle/>
          <a:p>
            <a:pPr algn="l"/>
            <a:r>
              <a:rPr sz="1800" b="1">
                <a:solidFill>
                  <a:srgbClr val="FFFFFF"/>
                </a:solidFill>
                <a:latin typeface="Calibri"/>
              </a:rPr>
              <a:t>Lab B: PPO on the same grid</a:t>
            </a:r>
          </a:p>
        </p:txBody>
      </p:sp>
      <p:sp>
        <p:nvSpPr>
          <p:cNvPr id="7" name="TextBox 6"/>
          <p:cNvSpPr txBox="1"/>
          <p:nvPr/>
        </p:nvSpPr>
        <p:spPr>
          <a:xfrm>
            <a:off x="822960" y="2651760"/>
            <a:ext cx="10972800" cy="640080"/>
          </a:xfrm>
          <a:prstGeom prst="rect">
            <a:avLst/>
          </a:prstGeom>
          <a:noFill/>
        </p:spPr>
        <p:txBody>
          <a:bodyPr wrap="square">
            <a:spAutoFit/>
          </a:bodyPr>
          <a:lstStyle/>
          <a:p>
            <a:pPr algn="l"/>
            <a:r>
              <a:rPr sz="1200" b="0">
                <a:solidFill>
                  <a:srgbClr val="FFFFFF"/>
                </a:solidFill>
                <a:latin typeface="Calibri"/>
              </a:rPr>
              <a:t>Replace Q-learning with PPO on the gridworld and observe the effect of the clip parameter.</a:t>
            </a:r>
          </a:p>
        </p:txBody>
      </p:sp>
      <p:sp>
        <p:nvSpPr>
          <p:cNvPr id="8" name="TextBox 7"/>
          <p:cNvSpPr txBox="1"/>
          <p:nvPr/>
        </p:nvSpPr>
        <p:spPr>
          <a:xfrm>
            <a:off x="640080" y="6400800"/>
            <a:ext cx="10972800" cy="365760"/>
          </a:xfrm>
          <a:prstGeom prst="rect">
            <a:avLst/>
          </a:prstGeom>
          <a:noFill/>
        </p:spPr>
        <p:txBody>
          <a:bodyPr wrap="square">
            <a:spAutoFit/>
          </a:bodyPr>
          <a:lstStyle/>
          <a:p>
            <a:pPr algn="l"/>
            <a:r>
              <a:rPr sz="1200" b="0">
                <a:solidFill>
                  <a:srgbClr val="FFFFFF"/>
                </a:solidFill>
                <a:latin typeface="Calibri"/>
              </a:rPr>
              <a:t>Quiz on Wednesday | Project due next Sunday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