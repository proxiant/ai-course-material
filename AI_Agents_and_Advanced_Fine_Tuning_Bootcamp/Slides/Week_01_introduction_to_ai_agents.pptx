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1</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Introduction to AI Agents</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The agentic loop, autonomy, and your first working agent</a:t>
            </a:r>
          </a:p>
        </p:txBody>
      </p:sp>
      <p:sp>
        <p:nvSpPr>
          <p:cNvPr id="7" name="TextBox 6"/>
          <p:cNvSpPr txBox="1"/>
          <p:nvPr/>
        </p:nvSpPr>
        <p:spPr>
          <a:xfrm>
            <a:off x="548640" y="6035040"/>
            <a:ext cx="7315200" cy="365760"/>
          </a:xfrm>
          <a:prstGeom prst="rect">
            <a:avLst/>
          </a:prstGeom>
          <a:noFill/>
        </p:spPr>
        <p:txBody>
          <a:bodyPr wrap="square">
            <a:spAutoFit/>
          </a:bodyPr>
          <a:lstStyle/>
          <a:p>
            <a:pPr algn="l"/>
            <a:r>
              <a:rPr sz="1200" b="0">
                <a:solidFill>
                  <a:srgbClr val="FFFFFF"/>
                </a:solidFill>
                <a:latin typeface="Calibri"/>
              </a:rPr>
              <a:t>Sunday, October 4, 2026</a:t>
            </a:r>
          </a:p>
        </p:txBody>
      </p:sp>
      <p:sp>
        <p:nvSpPr>
          <p:cNvPr id="8" name="TextBox 7"/>
          <p:cNvSpPr txBox="1"/>
          <p:nvPr/>
        </p:nvSpPr>
        <p:spPr>
          <a:xfrm>
            <a:off x="548640" y="6400800"/>
            <a:ext cx="9144000" cy="365760"/>
          </a:xfrm>
          <a:prstGeom prst="rect">
            <a:avLst/>
          </a:prstGeom>
          <a:noFill/>
        </p:spPr>
        <p:txBody>
          <a:bodyPr wrap="square">
            <a:spAutoFit/>
          </a:bodyPr>
          <a:lstStyle/>
          <a:p>
            <a:pPr algn="l"/>
            <a:r>
              <a:rPr sz="1200" b="0">
                <a:solidFill>
                  <a:srgbClr val="FFFFFF"/>
                </a:solidFill>
                <a:latin typeface="Calibri"/>
              </a:rPr>
              <a:t>AI Agents and Advanced Fine-Tuning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Open day for the bootcamp. Establish what an agent actually is (and is not), introduce the agentic loop, and contrast tool-using LLM patterns with traditional pipelines. The lab gets every student onto the Ray cluster and building a working agent in n8n by the end of the day.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Define agency, autonomy, and contextual reasoning in operational terms</a:t>
            </a:r>
          </a:p>
          <a:p>
            <a:pPr algn="l">
              <a:spcAft>
                <a:spcPts val="600"/>
              </a:spcAft>
            </a:pPr>
            <a:r>
              <a:rPr sz="1500">
                <a:solidFill>
                  <a:srgbClr val="333333"/>
                </a:solidFill>
                <a:latin typeface="Calibri"/>
              </a:rPr>
              <a:t>  •  Trace a single iteration of the agentic loop (perceive, plan, act, observe)</a:t>
            </a:r>
          </a:p>
          <a:p>
            <a:pPr algn="l">
              <a:spcAft>
                <a:spcPts val="600"/>
              </a:spcAft>
            </a:pPr>
            <a:r>
              <a:rPr sz="1500">
                <a:solidFill>
                  <a:srgbClr val="333333"/>
                </a:solidFill>
                <a:latin typeface="Calibri"/>
              </a:rPr>
              <a:t>  •  Identify failure modes: prompt drift, tool misuse, context overflow, and runaway loops</a:t>
            </a:r>
          </a:p>
          <a:p>
            <a:pPr algn="l">
              <a:spcAft>
                <a:spcPts val="600"/>
              </a:spcAft>
            </a:pPr>
            <a:r>
              <a:rPr sz="1500">
                <a:solidFill>
                  <a:srgbClr val="333333"/>
                </a:solidFill>
                <a:latin typeface="Calibri"/>
              </a:rPr>
              <a:t>  •  Apply an escalation ladder when deciding between a static pipeline, a single agent, and a multi-agent system</a:t>
            </a:r>
          </a:p>
          <a:p>
            <a:pPr algn="l">
              <a:spcAft>
                <a:spcPts val="600"/>
              </a:spcAft>
            </a:pPr>
            <a:r>
              <a:rPr sz="1500">
                <a:solidFill>
                  <a:srgbClr val="333333"/>
                </a:solidFill>
                <a:latin typeface="Calibri"/>
              </a:rPr>
              <a:t>  •  Provision a workspace on the Ray cluster and run a first agent on n8n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What is an agent?</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An agent is a program that (a) perceives its environment through inputs, (b) reasons over a goal, (c) selects and calls tools, and (d) observes results to update its plan. The defining feature is the loop, not the LLM.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The agentic loop in detail</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Perceive: collect observations from prior steps and external inputs. Plan: produce the next action (a tool call, a sub-task, a final answer). Act: invoke the tool and capture structured results. Observe: feed results back into context and decide whether to terminate.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Tradeoffs of agency</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Higher autonomy raises capability and lowers determinism. The cost shows up in latency, token spend, and harder evaluation. Pick the smallest amount of agency that solves the problem.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The escalation ladder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Static pipeline first. Then a retrieval-augmented call. Then a single tool-using agent. Then a multi-agent system. Only step up when the lower rung visibly fails on real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Security and failure modes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Prompt injection through tool outputs, accidental shell access, credential leakage in traces, infinite tool loops, and memory poisoning from long-running sessions. Each has a concrete countermeasure.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The course platform</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Tour of the Ray cluster, GPU allocation policy, shared object store, and the n8n workflow runner used for the first lab.</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shape of an agent</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while not done:</a:t>
            </a:r>
          </a:p>
          <a:p>
            <a:pPr>
              <a:spcAft>
                <a:spcPts val="0"/>
              </a:spcAft>
            </a:pPr>
            <a:r>
              <a:rPr sz="1300">
                <a:solidFill>
                  <a:srgbClr val="E6ECF5"/>
                </a:solidFill>
                <a:latin typeface="Consolas"/>
              </a:rPr>
              <a:t>    observation = perceive(state)</a:t>
            </a:r>
          </a:p>
          <a:p>
            <a:pPr>
              <a:spcAft>
                <a:spcPts val="0"/>
              </a:spcAft>
            </a:pPr>
            <a:r>
              <a:rPr sz="1300">
                <a:solidFill>
                  <a:srgbClr val="E6ECF5"/>
                </a:solidFill>
                <a:latin typeface="Consolas"/>
              </a:rPr>
              <a:t>    plan = llm.plan(goal, observation, memory)</a:t>
            </a:r>
          </a:p>
          <a:p>
            <a:pPr>
              <a:spcAft>
                <a:spcPts val="0"/>
              </a:spcAft>
            </a:pPr>
            <a:r>
              <a:rPr sz="1300">
                <a:solidFill>
                  <a:srgbClr val="E6ECF5"/>
                </a:solidFill>
                <a:latin typeface="Consolas"/>
              </a:rPr>
              <a:t>    if plan.is_final():</a:t>
            </a:r>
          </a:p>
          <a:p>
            <a:pPr>
              <a:spcAft>
                <a:spcPts val="0"/>
              </a:spcAft>
            </a:pPr>
            <a:r>
              <a:rPr sz="1300">
                <a:solidFill>
                  <a:srgbClr val="E6ECF5"/>
                </a:solidFill>
                <a:latin typeface="Consolas"/>
              </a:rPr>
              <a:t>        done = True</a:t>
            </a:r>
          </a:p>
          <a:p>
            <a:pPr>
              <a:spcAft>
                <a:spcPts val="0"/>
              </a:spcAft>
            </a:pPr>
            <a:r>
              <a:rPr sz="1300">
                <a:solidFill>
                  <a:srgbClr val="E6ECF5"/>
                </a:solidFill>
                <a:latin typeface="Consolas"/>
              </a:rPr>
              <a:t>        result = plan.answer</a:t>
            </a:r>
          </a:p>
          <a:p>
            <a:pPr>
              <a:spcAft>
                <a:spcPts val="0"/>
              </a:spcAft>
            </a:pPr>
            <a:r>
              <a:rPr sz="1300">
                <a:solidFill>
                  <a:srgbClr val="E6ECF5"/>
                </a:solidFill>
                <a:latin typeface="Consolas"/>
              </a:rPr>
              <a:t>    else:</a:t>
            </a:r>
          </a:p>
          <a:p>
            <a:pPr>
              <a:spcAft>
                <a:spcPts val="0"/>
              </a:spcAft>
            </a:pPr>
            <a:r>
              <a:rPr sz="1300">
                <a:solidFill>
                  <a:srgbClr val="E6ECF5"/>
                </a:solidFill>
                <a:latin typeface="Consolas"/>
              </a:rPr>
              <a:t>        action = plan.next_action</a:t>
            </a:r>
          </a:p>
          <a:p>
            <a:pPr>
              <a:spcAft>
                <a:spcPts val="0"/>
              </a:spcAft>
            </a:pPr>
            <a:r>
              <a:rPr sz="1300">
                <a:solidFill>
                  <a:srgbClr val="E6ECF5"/>
                </a:solidFill>
                <a:latin typeface="Consolas"/>
              </a:rPr>
              <a:t>        outcome = tools[action.name](action.args)</a:t>
            </a:r>
          </a:p>
          <a:p>
            <a:pPr>
              <a:spcAft>
                <a:spcPts val="0"/>
              </a:spcAft>
            </a:pPr>
            <a:r>
              <a:rPr sz="1300">
                <a:solidFill>
                  <a:srgbClr val="E6ECF5"/>
                </a:solidFill>
                <a:latin typeface="Consolas"/>
              </a:rPr>
              <a:t>        memory.append((action, outcome))</a:t>
            </a:r>
          </a:p>
          <a:p>
            <a:pPr>
              <a:spcAft>
                <a:spcPts val="0"/>
              </a:spcAft>
            </a:pPr>
            <a:r>
              <a:rPr sz="1300">
                <a:solidFill>
                  <a:srgbClr val="E6ECF5"/>
                </a:solidFill>
                <a:latin typeface="Consolas"/>
              </a:rPr>
              <a:t>        state = update(state, outcome)</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Autonomy is a dial, not a switch</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Autonomy ranges from suggest-only (the agent proposes, a human approves each step) to fully autonomous with audit (no human in the loop, but every action is logged for review). The right point on this dial is determined by three numbers: the cost of a wrong action, the cost of human review, and the frequency of edge cases. Most production systems sit between approve-batches and approve-on-anomaly.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The escalation ladder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Before reaching for an agent, walk the ladder. Rung one: a static pipeline with deterministic steps. Rung two: a retrieval-augmented single call. Rung three: a tool-using single agent. Rung four: a multi-agent system. Each rung trades determinism for capability. Stop at the lowest rung that solves the problem. The number one mistake in agent engineering is starting at rung four.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Failure modes that bite first</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Prompt injection through tool outputs is the easiest to underestimate. If your agent reads a web page, that web page can issue instructions. Sandboxing is not a flag, it is a discipline. Context overflow is the second. Long-running agents accumulate observations until the context window saturates. Have an explicit eviction strategy from day one. Runaway loops are the third. Cap iterations. Always.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Security boundaries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Three boundaries matter. The credential boundary: tool credentials live in a secret manager, not in the prompt. The data boundary: the agent should not see data it has no business seeing, even temporarily. The action boundary: destructive tools require explicit confirmation, even from an autonomous agent.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Today's lab in context</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By the end of the day every student will (a) have a working session on the Proxiant Ray cluster, with GPU allocation verified, and (b) have built a tool-using agent in n8n that chooses between three tools on real input. Tomorrow's quiz covers both.</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ReAct: Synergizing Reasoning and Acting in Language Models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Yao et al., 2022 (arXiv:2210.03629). Foundational paper for the interleaved thought-action-observation pattern.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Toolformer: Language Models Can Teach Themselves to Use Tools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Schick et al., 2023 (arXiv:2302.04761). Early demonstration of self-supervised tool-use signal.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AI Agents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Name the four properties of an agent and give a one-sentence counter-example for each.</a:t>
            </a:r>
          </a:p>
          <a:p>
            <a:pPr algn="l">
              <a:spcAft>
                <a:spcPts val="600"/>
              </a:spcAft>
            </a:pPr>
            <a:r>
              <a:rPr sz="1500">
                <a:solidFill>
                  <a:srgbClr val="333333"/>
                </a:solidFill>
                <a:latin typeface="Calibri"/>
              </a:rPr>
              <a:t>  •  On the escalation ladder, when does a single tool-using agent beat orchestrator-workers?</a:t>
            </a:r>
          </a:p>
          <a:p>
            <a:pPr algn="l">
              <a:spcAft>
                <a:spcPts val="600"/>
              </a:spcAft>
            </a:pPr>
            <a:r>
              <a:rPr sz="1500">
                <a:solidFill>
                  <a:srgbClr val="333333"/>
                </a:solidFill>
                <a:latin typeface="Calibri"/>
              </a:rPr>
              <a:t>  •  Sketch a defense against prompt injection through a fetched web page.</a:t>
            </a:r>
          </a:p>
          <a:p>
            <a:pPr algn="l">
              <a:spcAft>
                <a:spcPts val="600"/>
              </a:spcAft>
            </a:pPr>
            <a:r>
              <a:rPr sz="1500">
                <a:solidFill>
                  <a:srgbClr val="333333"/>
                </a:solidFill>
                <a:latin typeface="Calibri"/>
              </a:rPr>
              <a:t>  •  Why is iteration capping non-negotiable?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Ray cluster onboarding and your first remote task</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Connect to the Proxiant Ray cluster, allocate a GPU, and run a remote task that returns a Hugging Face tokenizer summary.</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Build a tool-using agent in n8n</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Wire up an n8n workflow where an LLM node decides between three tools: web search, calculator, and a CSV lookup.</a:t>
            </a:r>
          </a:p>
        </p:txBody>
      </p:sp>
      <p:sp>
        <p:nvSpPr>
          <p:cNvPr id="8" name="TextBox 7"/>
          <p:cNvSpPr txBox="1"/>
          <p:nvPr/>
        </p:nvSpPr>
        <p:spPr>
          <a:xfrm>
            <a:off x="640080" y="6400800"/>
            <a:ext cx="10972800" cy="365760"/>
          </a:xfrm>
          <a:prstGeom prst="rect">
            <a:avLst/>
          </a:prstGeom>
          <a:noFill/>
        </p:spPr>
        <p:txBody>
          <a:bodyPr wrap="square">
            <a:spAutoFit/>
          </a:bodyPr>
          <a:lstStyle/>
          <a:p>
            <a:pPr algn="l"/>
            <a:r>
              <a:rPr sz="1200" b="0">
                <a:solidFill>
                  <a:srgbClr val="FFFFFF"/>
                </a:solidFill>
                <a:latin typeface="Calibri"/>
              </a:rPr>
              <a:t>Quiz on Wednesday | Project due next Sunday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