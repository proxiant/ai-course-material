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Lst>
  <p:sldSz cx="12188952"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7315200" cy="457200"/>
          </a:xfrm>
          <a:prstGeom prst="rect">
            <a:avLst/>
          </a:prstGeom>
          <a:noFill/>
        </p:spPr>
        <p:txBody>
          <a:bodyPr wrap="square">
            <a:spAutoFit/>
          </a:bodyPr>
          <a:lstStyle/>
          <a:p>
            <a:pPr algn="l"/>
            <a:r>
              <a:rPr sz="1400" b="0">
                <a:solidFill>
                  <a:srgbClr val="FFFFFF"/>
                </a:solidFill>
                <a:latin typeface="Calibri"/>
              </a:rPr>
              <a:t>Proxiant Academy</a:t>
            </a:r>
          </a:p>
        </p:txBody>
      </p:sp>
      <p:sp>
        <p:nvSpPr>
          <p:cNvPr id="4" name="TextBox 3"/>
          <p:cNvSpPr txBox="1"/>
          <p:nvPr/>
        </p:nvSpPr>
        <p:spPr>
          <a:xfrm>
            <a:off x="548640" y="1828800"/>
            <a:ext cx="7315200" cy="640080"/>
          </a:xfrm>
          <a:prstGeom prst="rect">
            <a:avLst/>
          </a:prstGeom>
          <a:noFill/>
        </p:spPr>
        <p:txBody>
          <a:bodyPr wrap="square">
            <a:spAutoFit/>
          </a:bodyPr>
          <a:lstStyle/>
          <a:p>
            <a:pPr algn="l"/>
            <a:r>
              <a:rPr sz="2800" b="1">
                <a:solidFill>
                  <a:srgbClr val="2C5FF5"/>
                </a:solidFill>
                <a:latin typeface="Calibri"/>
              </a:rPr>
              <a:t>Week 12</a:t>
            </a:r>
          </a:p>
        </p:txBody>
      </p:sp>
      <p:sp>
        <p:nvSpPr>
          <p:cNvPr id="5" name="TextBox 4"/>
          <p:cNvSpPr txBox="1"/>
          <p:nvPr/>
        </p:nvSpPr>
        <p:spPr>
          <a:xfrm>
            <a:off x="548640" y="2560320"/>
            <a:ext cx="10972800" cy="1280160"/>
          </a:xfrm>
          <a:prstGeom prst="rect">
            <a:avLst/>
          </a:prstGeom>
          <a:noFill/>
        </p:spPr>
        <p:txBody>
          <a:bodyPr wrap="square">
            <a:spAutoFit/>
          </a:bodyPr>
          <a:lstStyle/>
          <a:p>
            <a:pPr algn="l"/>
            <a:r>
              <a:rPr sz="4400" b="1">
                <a:solidFill>
                  <a:srgbClr val="FFFFFF"/>
                </a:solidFill>
                <a:latin typeface="Calibri"/>
              </a:rPr>
              <a:t>The Path Ahead (Capstone Week)</a:t>
            </a:r>
          </a:p>
        </p:txBody>
      </p:sp>
      <p:sp>
        <p:nvSpPr>
          <p:cNvPr id="6" name="TextBox 5"/>
          <p:cNvSpPr txBox="1"/>
          <p:nvPr/>
        </p:nvSpPr>
        <p:spPr>
          <a:xfrm>
            <a:off x="548640" y="4206240"/>
            <a:ext cx="10972800" cy="914400"/>
          </a:xfrm>
          <a:prstGeom prst="rect">
            <a:avLst/>
          </a:prstGeom>
          <a:noFill/>
        </p:spPr>
        <p:txBody>
          <a:bodyPr wrap="square">
            <a:spAutoFit/>
          </a:bodyPr>
          <a:lstStyle/>
          <a:p>
            <a:pPr algn="l"/>
            <a:r>
              <a:rPr sz="2000" b="0">
                <a:solidFill>
                  <a:srgbClr val="FFFFFF"/>
                </a:solidFill>
                <a:latin typeface="Calibri"/>
              </a:rPr>
              <a:t>RAG vs fine-tuning, RLVR, MARL, and capstone presentations</a:t>
            </a:r>
          </a:p>
        </p:txBody>
      </p:sp>
      <p:sp>
        <p:nvSpPr>
          <p:cNvPr id="7" name="TextBox 6"/>
          <p:cNvSpPr txBox="1"/>
          <p:nvPr/>
        </p:nvSpPr>
        <p:spPr>
          <a:xfrm>
            <a:off x="548640" y="6035040"/>
            <a:ext cx="7315200" cy="365760"/>
          </a:xfrm>
          <a:prstGeom prst="rect">
            <a:avLst/>
          </a:prstGeom>
          <a:noFill/>
        </p:spPr>
        <p:txBody>
          <a:bodyPr wrap="square">
            <a:spAutoFit/>
          </a:bodyPr>
          <a:lstStyle/>
          <a:p>
            <a:pPr algn="l"/>
            <a:r>
              <a:rPr sz="1200" b="0">
                <a:solidFill>
                  <a:srgbClr val="FFFFFF"/>
                </a:solidFill>
                <a:latin typeface="Calibri"/>
              </a:rPr>
              <a:t>Sunday, December 20, 2026</a:t>
            </a:r>
          </a:p>
        </p:txBody>
      </p:sp>
      <p:sp>
        <p:nvSpPr>
          <p:cNvPr id="8" name="TextBox 7"/>
          <p:cNvSpPr txBox="1"/>
          <p:nvPr/>
        </p:nvSpPr>
        <p:spPr>
          <a:xfrm>
            <a:off x="548640" y="6400800"/>
            <a:ext cx="9144000" cy="365760"/>
          </a:xfrm>
          <a:prstGeom prst="rect">
            <a:avLst/>
          </a:prstGeom>
          <a:noFill/>
        </p:spPr>
        <p:txBody>
          <a:bodyPr wrap="square">
            <a:spAutoFit/>
          </a:bodyPr>
          <a:lstStyle/>
          <a:p>
            <a:pPr algn="l"/>
            <a:r>
              <a:rPr sz="1200" b="0">
                <a:solidFill>
                  <a:srgbClr val="FFFFFF"/>
                </a:solidFill>
                <a:latin typeface="Calibri"/>
              </a:rPr>
              <a:t>AI Agents and Advanced Fine-Tuning Bootcamp</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4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743200"/>
            <a:ext cx="12188952" cy="4572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2194560"/>
            <a:ext cx="7315200" cy="457200"/>
          </a:xfrm>
          <a:prstGeom prst="rect">
            <a:avLst/>
          </a:prstGeom>
          <a:noFill/>
        </p:spPr>
        <p:txBody>
          <a:bodyPr wrap="square">
            <a:spAutoFit/>
          </a:bodyPr>
          <a:lstStyle/>
          <a:p>
            <a:pPr algn="l"/>
            <a:r>
              <a:rPr sz="1600" b="1">
                <a:solidFill>
                  <a:srgbClr val="2C5FF5"/>
                </a:solidFill>
                <a:latin typeface="Calibri"/>
              </a:rPr>
              <a:t>Section 1</a:t>
            </a:r>
          </a:p>
        </p:txBody>
      </p:sp>
      <p:sp>
        <p:nvSpPr>
          <p:cNvPr id="5" name="TextBox 4"/>
          <p:cNvSpPr txBox="1"/>
          <p:nvPr/>
        </p:nvSpPr>
        <p:spPr>
          <a:xfrm>
            <a:off x="640080" y="2651760"/>
            <a:ext cx="10972800" cy="1280160"/>
          </a:xfrm>
          <a:prstGeom prst="rect">
            <a:avLst/>
          </a:prstGeom>
          <a:noFill/>
        </p:spPr>
        <p:txBody>
          <a:bodyPr wrap="square">
            <a:spAutoFit/>
          </a:bodyPr>
          <a:lstStyle/>
          <a:p>
            <a:pPr algn="l"/>
            <a:r>
              <a:rPr sz="3600" b="1">
                <a:solidFill>
                  <a:srgbClr val="1E2761"/>
                </a:solidFill>
                <a:latin typeface="Calibri"/>
              </a:rPr>
              <a:t>Today's Map</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4114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73152"/>
            <a:ext cx="10972800" cy="274320"/>
          </a:xfrm>
          <a:prstGeom prst="rect">
            <a:avLst/>
          </a:prstGeom>
          <a:noFill/>
        </p:spPr>
        <p:txBody>
          <a:bodyPr wrap="square">
            <a:spAutoFit/>
          </a:bodyPr>
          <a:lstStyle/>
          <a:p>
            <a:pPr algn="l"/>
            <a:r>
              <a:rPr sz="1100" b="0">
                <a:solidFill>
                  <a:srgbClr val="FFFFFF"/>
                </a:solidFill>
                <a:latin typeface="Calibri"/>
              </a:rPr>
              <a:t>Week 12 | The Path Ahead (Capstone Week)</a:t>
            </a:r>
          </a:p>
        </p:txBody>
      </p:sp>
      <p:sp>
        <p:nvSpPr>
          <p:cNvPr id="4" name="TextBox 3"/>
          <p:cNvSpPr txBox="1"/>
          <p:nvPr/>
        </p:nvSpPr>
        <p:spPr>
          <a:xfrm>
            <a:off x="457200" y="640080"/>
            <a:ext cx="11430000" cy="731520"/>
          </a:xfrm>
          <a:prstGeom prst="rect">
            <a:avLst/>
          </a:prstGeom>
          <a:noFill/>
        </p:spPr>
        <p:txBody>
          <a:bodyPr wrap="square">
            <a:spAutoFit/>
          </a:bodyPr>
          <a:lstStyle/>
          <a:p>
            <a:pPr algn="l"/>
            <a:r>
              <a:rPr sz="2600" b="1">
                <a:solidFill>
                  <a:srgbClr val="1E2761"/>
                </a:solidFill>
                <a:latin typeface="Calibri"/>
              </a:rPr>
              <a:t>Where we are in the bootcamp</a:t>
            </a:r>
          </a:p>
        </p:txBody>
      </p:sp>
      <p:sp>
        <p:nvSpPr>
          <p:cNvPr id="5" name="TextBox 4"/>
          <p:cNvSpPr txBox="1"/>
          <p:nvPr/>
        </p:nvSpPr>
        <p:spPr>
          <a:xfrm>
            <a:off x="640080" y="1554480"/>
            <a:ext cx="10972800" cy="5120640"/>
          </a:xfrm>
          <a:prstGeom prst="rect">
            <a:avLst/>
          </a:prstGeom>
          <a:noFill/>
        </p:spPr>
        <p:txBody>
          <a:bodyPr wrap="square">
            <a:spAutoFit/>
          </a:bodyPr>
          <a:lstStyle/>
          <a:p>
            <a:pPr algn="l">
              <a:spcAft>
                <a:spcPts val="600"/>
              </a:spcAft>
            </a:pPr>
            <a:r>
              <a:rPr sz="1500">
                <a:solidFill>
                  <a:srgbClr val="333333"/>
                </a:solidFill>
                <a:latin typeface="Calibri"/>
              </a:rPr>
              <a:t>  •  Wrap-up week. Cover the RAG-versus-fine-tuning escalation ladder, Reinforcement Learning with Verifiable Rewards (RLVR), evaluation of fine-tuned models, and an introduction to multi-agent RL (MARL). The bulk of the week is capstone presentations and peer review.</a:t>
            </a:r>
          </a:p>
        </p:txBody>
      </p:sp>
      <p:sp>
        <p:nvSpPr>
          <p:cNvPr id="6" name="Rectangle 5"/>
          <p:cNvSpPr/>
          <p:nvPr/>
        </p:nvSpPr>
        <p:spPr>
          <a:xfrm>
            <a:off x="0" y="6675120"/>
            <a:ext cx="12188952" cy="1828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4114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73152"/>
            <a:ext cx="10972800" cy="274320"/>
          </a:xfrm>
          <a:prstGeom prst="rect">
            <a:avLst/>
          </a:prstGeom>
          <a:noFill/>
        </p:spPr>
        <p:txBody>
          <a:bodyPr wrap="square">
            <a:spAutoFit/>
          </a:bodyPr>
          <a:lstStyle/>
          <a:p>
            <a:pPr algn="l"/>
            <a:r>
              <a:rPr sz="1100" b="0">
                <a:solidFill>
                  <a:srgbClr val="FFFFFF"/>
                </a:solidFill>
                <a:latin typeface="Calibri"/>
              </a:rPr>
              <a:t>Week 12 | The Path Ahead (Capstone Week)</a:t>
            </a:r>
          </a:p>
        </p:txBody>
      </p:sp>
      <p:sp>
        <p:nvSpPr>
          <p:cNvPr id="4" name="TextBox 3"/>
          <p:cNvSpPr txBox="1"/>
          <p:nvPr/>
        </p:nvSpPr>
        <p:spPr>
          <a:xfrm>
            <a:off x="457200" y="640080"/>
            <a:ext cx="11430000" cy="731520"/>
          </a:xfrm>
          <a:prstGeom prst="rect">
            <a:avLst/>
          </a:prstGeom>
          <a:noFill/>
        </p:spPr>
        <p:txBody>
          <a:bodyPr wrap="square">
            <a:spAutoFit/>
          </a:bodyPr>
          <a:lstStyle/>
          <a:p>
            <a:pPr algn="l"/>
            <a:r>
              <a:rPr sz="2600" b="1">
                <a:solidFill>
                  <a:srgbClr val="1E2761"/>
                </a:solidFill>
                <a:latin typeface="Calibri"/>
              </a:rPr>
              <a:t>Learning Objectives</a:t>
            </a:r>
          </a:p>
        </p:txBody>
      </p:sp>
      <p:sp>
        <p:nvSpPr>
          <p:cNvPr id="5" name="TextBox 4"/>
          <p:cNvSpPr txBox="1"/>
          <p:nvPr/>
        </p:nvSpPr>
        <p:spPr>
          <a:xfrm>
            <a:off x="640080" y="1554480"/>
            <a:ext cx="10972800" cy="5120640"/>
          </a:xfrm>
          <a:prstGeom prst="rect">
            <a:avLst/>
          </a:prstGeom>
          <a:noFill/>
        </p:spPr>
        <p:txBody>
          <a:bodyPr wrap="square">
            <a:spAutoFit/>
          </a:bodyPr>
          <a:lstStyle/>
          <a:p>
            <a:pPr algn="l">
              <a:spcAft>
                <a:spcPts val="600"/>
              </a:spcAft>
            </a:pPr>
            <a:r>
              <a:rPr sz="1500">
                <a:solidFill>
                  <a:srgbClr val="333333"/>
                </a:solidFill>
                <a:latin typeface="Calibri"/>
              </a:rPr>
              <a:t>  •  Decide between RAG, fine-tuning, and a hybrid for a given problem</a:t>
            </a:r>
          </a:p>
          <a:p>
            <a:pPr algn="l">
              <a:spcAft>
                <a:spcPts val="600"/>
              </a:spcAft>
            </a:pPr>
            <a:r>
              <a:rPr sz="1500">
                <a:solidFill>
                  <a:srgbClr val="333333"/>
                </a:solidFill>
                <a:latin typeface="Calibri"/>
              </a:rPr>
              <a:t>  •  Apply RLVR when the reward is checkable rather than human-judged</a:t>
            </a:r>
          </a:p>
          <a:p>
            <a:pPr algn="l">
              <a:spcAft>
                <a:spcPts val="600"/>
              </a:spcAft>
            </a:pPr>
            <a:r>
              <a:rPr sz="1500">
                <a:solidFill>
                  <a:srgbClr val="333333"/>
                </a:solidFill>
                <a:latin typeface="Calibri"/>
              </a:rPr>
              <a:t>  •  Build an evaluation suite that catches regression in fine-tuned models</a:t>
            </a:r>
          </a:p>
          <a:p>
            <a:pPr algn="l">
              <a:spcAft>
                <a:spcPts val="600"/>
              </a:spcAft>
            </a:pPr>
            <a:r>
              <a:rPr sz="1500">
                <a:solidFill>
                  <a:srgbClr val="333333"/>
                </a:solidFill>
                <a:latin typeface="Calibri"/>
              </a:rPr>
              <a:t>  •  Identify when MARL is appropriate and when it is overkill</a:t>
            </a:r>
          </a:p>
          <a:p>
            <a:pPr algn="l">
              <a:spcAft>
                <a:spcPts val="600"/>
              </a:spcAft>
            </a:pPr>
            <a:r>
              <a:rPr sz="1500">
                <a:solidFill>
                  <a:srgbClr val="333333"/>
                </a:solidFill>
                <a:latin typeface="Calibri"/>
              </a:rPr>
              <a:t>  •  Present a capstone project that is reproducible and honest about limitations</a:t>
            </a:r>
          </a:p>
        </p:txBody>
      </p:sp>
      <p:sp>
        <p:nvSpPr>
          <p:cNvPr id="6" name="Rectangle 5"/>
          <p:cNvSpPr/>
          <p:nvPr/>
        </p:nvSpPr>
        <p:spPr>
          <a:xfrm>
            <a:off x="0" y="6675120"/>
            <a:ext cx="12188952" cy="1828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4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743200"/>
            <a:ext cx="12188952" cy="4572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2194560"/>
            <a:ext cx="7315200" cy="457200"/>
          </a:xfrm>
          <a:prstGeom prst="rect">
            <a:avLst/>
          </a:prstGeom>
          <a:noFill/>
        </p:spPr>
        <p:txBody>
          <a:bodyPr wrap="square">
            <a:spAutoFit/>
          </a:bodyPr>
          <a:lstStyle/>
          <a:p>
            <a:pPr algn="l"/>
            <a:r>
              <a:rPr sz="1600" b="1">
                <a:solidFill>
                  <a:srgbClr val="2C5FF5"/>
                </a:solidFill>
                <a:latin typeface="Calibri"/>
              </a:rPr>
              <a:t>Section 2</a:t>
            </a:r>
          </a:p>
        </p:txBody>
      </p:sp>
      <p:sp>
        <p:nvSpPr>
          <p:cNvPr id="5" name="TextBox 4"/>
          <p:cNvSpPr txBox="1"/>
          <p:nvPr/>
        </p:nvSpPr>
        <p:spPr>
          <a:xfrm>
            <a:off x="640080" y="2651760"/>
            <a:ext cx="10972800" cy="1280160"/>
          </a:xfrm>
          <a:prstGeom prst="rect">
            <a:avLst/>
          </a:prstGeom>
          <a:noFill/>
        </p:spPr>
        <p:txBody>
          <a:bodyPr wrap="square">
            <a:spAutoFit/>
          </a:bodyPr>
          <a:lstStyle/>
          <a:p>
            <a:pPr algn="l"/>
            <a:r>
              <a:rPr sz="3600" b="1">
                <a:solidFill>
                  <a:srgbClr val="1E2761"/>
                </a:solidFill>
                <a:latin typeface="Calibri"/>
              </a:rPr>
              <a:t>Concepts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4114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73152"/>
            <a:ext cx="10972800" cy="274320"/>
          </a:xfrm>
          <a:prstGeom prst="rect">
            <a:avLst/>
          </a:prstGeom>
          <a:noFill/>
        </p:spPr>
        <p:txBody>
          <a:bodyPr wrap="square">
            <a:spAutoFit/>
          </a:bodyPr>
          <a:lstStyle/>
          <a:p>
            <a:pPr algn="l"/>
            <a:r>
              <a:rPr sz="1100" b="0">
                <a:solidFill>
                  <a:srgbClr val="FFFFFF"/>
                </a:solidFill>
                <a:latin typeface="Calibri"/>
              </a:rPr>
              <a:t>Week 12 | The Path Ahead (Capstone Week)</a:t>
            </a:r>
          </a:p>
        </p:txBody>
      </p:sp>
      <p:sp>
        <p:nvSpPr>
          <p:cNvPr id="4" name="TextBox 3"/>
          <p:cNvSpPr txBox="1"/>
          <p:nvPr/>
        </p:nvSpPr>
        <p:spPr>
          <a:xfrm>
            <a:off x="457200" y="640080"/>
            <a:ext cx="11430000" cy="731520"/>
          </a:xfrm>
          <a:prstGeom prst="rect">
            <a:avLst/>
          </a:prstGeom>
          <a:noFill/>
        </p:spPr>
        <p:txBody>
          <a:bodyPr wrap="square">
            <a:spAutoFit/>
          </a:bodyPr>
          <a:lstStyle/>
          <a:p>
            <a:pPr algn="l"/>
            <a:r>
              <a:rPr sz="2600" b="1">
                <a:solidFill>
                  <a:srgbClr val="1E2761"/>
                </a:solidFill>
                <a:latin typeface="Calibri"/>
              </a:rPr>
              <a:t>1. The RAG vs fine-tuning escalation ladder</a:t>
            </a:r>
          </a:p>
        </p:txBody>
      </p:sp>
      <p:sp>
        <p:nvSpPr>
          <p:cNvPr id="5" name="TextBox 4"/>
          <p:cNvSpPr txBox="1"/>
          <p:nvPr/>
        </p:nvSpPr>
        <p:spPr>
          <a:xfrm>
            <a:off x="640080" y="1554480"/>
            <a:ext cx="10972800" cy="5120640"/>
          </a:xfrm>
          <a:prstGeom prst="rect">
            <a:avLst/>
          </a:prstGeom>
          <a:noFill/>
        </p:spPr>
        <p:txBody>
          <a:bodyPr wrap="square">
            <a:spAutoFit/>
          </a:bodyPr>
          <a:lstStyle/>
          <a:p>
            <a:pPr algn="l">
              <a:spcAft>
                <a:spcPts val="600"/>
              </a:spcAft>
            </a:pPr>
            <a:r>
              <a:rPr sz="1500">
                <a:solidFill>
                  <a:srgbClr val="333333"/>
                </a:solidFill>
                <a:latin typeface="Calibri"/>
              </a:rPr>
              <a:t>  •  Try RAG first. Fine-tune for behavior change, format change, or consistent persona. Combine when neither alone hits the bar.</a:t>
            </a:r>
          </a:p>
        </p:txBody>
      </p:sp>
      <p:sp>
        <p:nvSpPr>
          <p:cNvPr id="6" name="Rectangle 5"/>
          <p:cNvSpPr/>
          <p:nvPr/>
        </p:nvSpPr>
        <p:spPr>
          <a:xfrm>
            <a:off x="0" y="6675120"/>
            <a:ext cx="12188952" cy="1828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4114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73152"/>
            <a:ext cx="10972800" cy="274320"/>
          </a:xfrm>
          <a:prstGeom prst="rect">
            <a:avLst/>
          </a:prstGeom>
          <a:noFill/>
        </p:spPr>
        <p:txBody>
          <a:bodyPr wrap="square">
            <a:spAutoFit/>
          </a:bodyPr>
          <a:lstStyle/>
          <a:p>
            <a:pPr algn="l"/>
            <a:r>
              <a:rPr sz="1100" b="0">
                <a:solidFill>
                  <a:srgbClr val="FFFFFF"/>
                </a:solidFill>
                <a:latin typeface="Calibri"/>
              </a:rPr>
              <a:t>Week 12 | The Path Ahead (Capstone Week)</a:t>
            </a:r>
          </a:p>
        </p:txBody>
      </p:sp>
      <p:sp>
        <p:nvSpPr>
          <p:cNvPr id="4" name="TextBox 3"/>
          <p:cNvSpPr txBox="1"/>
          <p:nvPr/>
        </p:nvSpPr>
        <p:spPr>
          <a:xfrm>
            <a:off x="457200" y="640080"/>
            <a:ext cx="11430000" cy="731520"/>
          </a:xfrm>
          <a:prstGeom prst="rect">
            <a:avLst/>
          </a:prstGeom>
          <a:noFill/>
        </p:spPr>
        <p:txBody>
          <a:bodyPr wrap="square">
            <a:spAutoFit/>
          </a:bodyPr>
          <a:lstStyle/>
          <a:p>
            <a:pPr algn="l"/>
            <a:r>
              <a:rPr sz="2600" b="1">
                <a:solidFill>
                  <a:srgbClr val="1E2761"/>
                </a:solidFill>
                <a:latin typeface="Calibri"/>
              </a:rPr>
              <a:t>2. RLVR</a:t>
            </a:r>
          </a:p>
        </p:txBody>
      </p:sp>
      <p:sp>
        <p:nvSpPr>
          <p:cNvPr id="5" name="TextBox 4"/>
          <p:cNvSpPr txBox="1"/>
          <p:nvPr/>
        </p:nvSpPr>
        <p:spPr>
          <a:xfrm>
            <a:off x="640080" y="1554480"/>
            <a:ext cx="10972800" cy="5120640"/>
          </a:xfrm>
          <a:prstGeom prst="rect">
            <a:avLst/>
          </a:prstGeom>
          <a:noFill/>
        </p:spPr>
        <p:txBody>
          <a:bodyPr wrap="square">
            <a:spAutoFit/>
          </a:bodyPr>
          <a:lstStyle/>
          <a:p>
            <a:pPr algn="l">
              <a:spcAft>
                <a:spcPts val="600"/>
              </a:spcAft>
            </a:pPr>
            <a:r>
              <a:rPr sz="1500">
                <a:solidFill>
                  <a:srgbClr val="333333"/>
                </a:solidFill>
                <a:latin typeface="Calibri"/>
              </a:rPr>
              <a:t>  •  When the reward can be programmatically verified (unit tests pass, code compiles, theorem checker accepts), skip the reward model and use the verifier directly.</a:t>
            </a:r>
          </a:p>
        </p:txBody>
      </p:sp>
      <p:sp>
        <p:nvSpPr>
          <p:cNvPr id="6" name="Rectangle 5"/>
          <p:cNvSpPr/>
          <p:nvPr/>
        </p:nvSpPr>
        <p:spPr>
          <a:xfrm>
            <a:off x="0" y="6675120"/>
            <a:ext cx="12188952" cy="1828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4114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73152"/>
            <a:ext cx="10972800" cy="274320"/>
          </a:xfrm>
          <a:prstGeom prst="rect">
            <a:avLst/>
          </a:prstGeom>
          <a:noFill/>
        </p:spPr>
        <p:txBody>
          <a:bodyPr wrap="square">
            <a:spAutoFit/>
          </a:bodyPr>
          <a:lstStyle/>
          <a:p>
            <a:pPr algn="l"/>
            <a:r>
              <a:rPr sz="1100" b="0">
                <a:solidFill>
                  <a:srgbClr val="FFFFFF"/>
                </a:solidFill>
                <a:latin typeface="Calibri"/>
              </a:rPr>
              <a:t>Week 12 | The Path Ahead (Capstone Week)</a:t>
            </a:r>
          </a:p>
        </p:txBody>
      </p:sp>
      <p:sp>
        <p:nvSpPr>
          <p:cNvPr id="4" name="TextBox 3"/>
          <p:cNvSpPr txBox="1"/>
          <p:nvPr/>
        </p:nvSpPr>
        <p:spPr>
          <a:xfrm>
            <a:off x="457200" y="640080"/>
            <a:ext cx="11430000" cy="731520"/>
          </a:xfrm>
          <a:prstGeom prst="rect">
            <a:avLst/>
          </a:prstGeom>
          <a:noFill/>
        </p:spPr>
        <p:txBody>
          <a:bodyPr wrap="square">
            <a:spAutoFit/>
          </a:bodyPr>
          <a:lstStyle/>
          <a:p>
            <a:pPr algn="l"/>
            <a:r>
              <a:rPr sz="2600" b="1">
                <a:solidFill>
                  <a:srgbClr val="1E2761"/>
                </a:solidFill>
                <a:latin typeface="Calibri"/>
              </a:rPr>
              <a:t>3. Evaluating fine-tuned models</a:t>
            </a:r>
          </a:p>
        </p:txBody>
      </p:sp>
      <p:sp>
        <p:nvSpPr>
          <p:cNvPr id="5" name="TextBox 4"/>
          <p:cNvSpPr txBox="1"/>
          <p:nvPr/>
        </p:nvSpPr>
        <p:spPr>
          <a:xfrm>
            <a:off x="640080" y="1554480"/>
            <a:ext cx="10972800" cy="5120640"/>
          </a:xfrm>
          <a:prstGeom prst="rect">
            <a:avLst/>
          </a:prstGeom>
          <a:noFill/>
        </p:spPr>
        <p:txBody>
          <a:bodyPr wrap="square">
            <a:spAutoFit/>
          </a:bodyPr>
          <a:lstStyle/>
          <a:p>
            <a:pPr algn="l">
              <a:spcAft>
                <a:spcPts val="600"/>
              </a:spcAft>
            </a:pPr>
            <a:r>
              <a:rPr sz="1500">
                <a:solidFill>
                  <a:srgbClr val="333333"/>
                </a:solidFill>
                <a:latin typeface="Calibri"/>
              </a:rPr>
              <a:t>  •  Held-out eval set, regression suite for base capabilities, drift checks over time, and an explicit harm test.</a:t>
            </a:r>
          </a:p>
        </p:txBody>
      </p:sp>
      <p:sp>
        <p:nvSpPr>
          <p:cNvPr id="6" name="Rectangle 5"/>
          <p:cNvSpPr/>
          <p:nvPr/>
        </p:nvSpPr>
        <p:spPr>
          <a:xfrm>
            <a:off x="0" y="6675120"/>
            <a:ext cx="12188952" cy="1828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4114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73152"/>
            <a:ext cx="10972800" cy="274320"/>
          </a:xfrm>
          <a:prstGeom prst="rect">
            <a:avLst/>
          </a:prstGeom>
          <a:noFill/>
        </p:spPr>
        <p:txBody>
          <a:bodyPr wrap="square">
            <a:spAutoFit/>
          </a:bodyPr>
          <a:lstStyle/>
          <a:p>
            <a:pPr algn="l"/>
            <a:r>
              <a:rPr sz="1100" b="0">
                <a:solidFill>
                  <a:srgbClr val="FFFFFF"/>
                </a:solidFill>
                <a:latin typeface="Calibri"/>
              </a:rPr>
              <a:t>Week 12 | The Path Ahead (Capstone Week)</a:t>
            </a:r>
          </a:p>
        </p:txBody>
      </p:sp>
      <p:sp>
        <p:nvSpPr>
          <p:cNvPr id="4" name="TextBox 3"/>
          <p:cNvSpPr txBox="1"/>
          <p:nvPr/>
        </p:nvSpPr>
        <p:spPr>
          <a:xfrm>
            <a:off x="457200" y="640080"/>
            <a:ext cx="11430000" cy="731520"/>
          </a:xfrm>
          <a:prstGeom prst="rect">
            <a:avLst/>
          </a:prstGeom>
          <a:noFill/>
        </p:spPr>
        <p:txBody>
          <a:bodyPr wrap="square">
            <a:spAutoFit/>
          </a:bodyPr>
          <a:lstStyle/>
          <a:p>
            <a:pPr algn="l"/>
            <a:r>
              <a:rPr sz="2600" b="1">
                <a:solidFill>
                  <a:srgbClr val="1E2761"/>
                </a:solidFill>
                <a:latin typeface="Calibri"/>
              </a:rPr>
              <a:t>4. Multi-agent RL</a:t>
            </a:r>
          </a:p>
        </p:txBody>
      </p:sp>
      <p:sp>
        <p:nvSpPr>
          <p:cNvPr id="5" name="TextBox 4"/>
          <p:cNvSpPr txBox="1"/>
          <p:nvPr/>
        </p:nvSpPr>
        <p:spPr>
          <a:xfrm>
            <a:off x="640080" y="1554480"/>
            <a:ext cx="10972800" cy="5120640"/>
          </a:xfrm>
          <a:prstGeom prst="rect">
            <a:avLst/>
          </a:prstGeom>
          <a:noFill/>
        </p:spPr>
        <p:txBody>
          <a:bodyPr wrap="square">
            <a:spAutoFit/>
          </a:bodyPr>
          <a:lstStyle/>
          <a:p>
            <a:pPr algn="l">
              <a:spcAft>
                <a:spcPts val="600"/>
              </a:spcAft>
            </a:pPr>
            <a:r>
              <a:rPr sz="1500">
                <a:solidFill>
                  <a:srgbClr val="333333"/>
                </a:solidFill>
                <a:latin typeface="Calibri"/>
              </a:rPr>
              <a:t>  •  Centralized training, decentralized execution. Reward shaping for credit assignment across agents. Where MARL still beats single-agent approaches.</a:t>
            </a:r>
          </a:p>
        </p:txBody>
      </p:sp>
      <p:sp>
        <p:nvSpPr>
          <p:cNvPr id="6" name="Rectangle 5"/>
          <p:cNvSpPr/>
          <p:nvPr/>
        </p:nvSpPr>
        <p:spPr>
          <a:xfrm>
            <a:off x="0" y="6675120"/>
            <a:ext cx="12188952" cy="1828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4114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73152"/>
            <a:ext cx="10972800" cy="274320"/>
          </a:xfrm>
          <a:prstGeom prst="rect">
            <a:avLst/>
          </a:prstGeom>
          <a:noFill/>
        </p:spPr>
        <p:txBody>
          <a:bodyPr wrap="square">
            <a:spAutoFit/>
          </a:bodyPr>
          <a:lstStyle/>
          <a:p>
            <a:pPr algn="l"/>
            <a:r>
              <a:rPr sz="1100" b="0">
                <a:solidFill>
                  <a:srgbClr val="FFFFFF"/>
                </a:solidFill>
                <a:latin typeface="Calibri"/>
              </a:rPr>
              <a:t>Week 12 | The Path Ahead (Capstone Week)</a:t>
            </a:r>
          </a:p>
        </p:txBody>
      </p:sp>
      <p:sp>
        <p:nvSpPr>
          <p:cNvPr id="4" name="TextBox 3"/>
          <p:cNvSpPr txBox="1"/>
          <p:nvPr/>
        </p:nvSpPr>
        <p:spPr>
          <a:xfrm>
            <a:off x="457200" y="640080"/>
            <a:ext cx="11430000" cy="731520"/>
          </a:xfrm>
          <a:prstGeom prst="rect">
            <a:avLst/>
          </a:prstGeom>
          <a:noFill/>
        </p:spPr>
        <p:txBody>
          <a:bodyPr wrap="square">
            <a:spAutoFit/>
          </a:bodyPr>
          <a:lstStyle/>
          <a:p>
            <a:pPr algn="l"/>
            <a:r>
              <a:rPr sz="2600" b="1">
                <a:solidFill>
                  <a:srgbClr val="1E2761"/>
                </a:solidFill>
                <a:latin typeface="Calibri"/>
              </a:rPr>
              <a:t>5. Capstone presentations</a:t>
            </a:r>
          </a:p>
        </p:txBody>
      </p:sp>
      <p:sp>
        <p:nvSpPr>
          <p:cNvPr id="5" name="TextBox 4"/>
          <p:cNvSpPr txBox="1"/>
          <p:nvPr/>
        </p:nvSpPr>
        <p:spPr>
          <a:xfrm>
            <a:off x="640080" y="1554480"/>
            <a:ext cx="10972800" cy="5120640"/>
          </a:xfrm>
          <a:prstGeom prst="rect">
            <a:avLst/>
          </a:prstGeom>
          <a:noFill/>
        </p:spPr>
        <p:txBody>
          <a:bodyPr wrap="square">
            <a:spAutoFit/>
          </a:bodyPr>
          <a:lstStyle/>
          <a:p>
            <a:pPr algn="l">
              <a:spcAft>
                <a:spcPts val="600"/>
              </a:spcAft>
            </a:pPr>
            <a:r>
              <a:rPr sz="1500">
                <a:solidFill>
                  <a:srgbClr val="333333"/>
                </a:solidFill>
                <a:latin typeface="Calibri"/>
              </a:rPr>
              <a:t>  •  Twenty minutes per team. Architecture, results, failure modes, and the one decision they would make differently.</a:t>
            </a:r>
          </a:p>
        </p:txBody>
      </p:sp>
      <p:sp>
        <p:nvSpPr>
          <p:cNvPr id="6" name="Rectangle 5"/>
          <p:cNvSpPr/>
          <p:nvPr/>
        </p:nvSpPr>
        <p:spPr>
          <a:xfrm>
            <a:off x="0" y="6675120"/>
            <a:ext cx="12188952" cy="1828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4114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73152"/>
            <a:ext cx="10972800" cy="274320"/>
          </a:xfrm>
          <a:prstGeom prst="rect">
            <a:avLst/>
          </a:prstGeom>
          <a:noFill/>
        </p:spPr>
        <p:txBody>
          <a:bodyPr wrap="square">
            <a:spAutoFit/>
          </a:bodyPr>
          <a:lstStyle/>
          <a:p>
            <a:pPr algn="l"/>
            <a:r>
              <a:rPr sz="1100" b="0">
                <a:solidFill>
                  <a:srgbClr val="FFFFFF"/>
                </a:solidFill>
                <a:latin typeface="Calibri"/>
              </a:rPr>
              <a:t>Week 12 | The Path Ahead (Capstone Week)</a:t>
            </a:r>
          </a:p>
        </p:txBody>
      </p:sp>
      <p:sp>
        <p:nvSpPr>
          <p:cNvPr id="4" name="TextBox 3"/>
          <p:cNvSpPr txBox="1"/>
          <p:nvPr/>
        </p:nvSpPr>
        <p:spPr>
          <a:xfrm>
            <a:off x="457200" y="640080"/>
            <a:ext cx="11430000" cy="731520"/>
          </a:xfrm>
          <a:prstGeom prst="rect">
            <a:avLst/>
          </a:prstGeom>
          <a:noFill/>
        </p:spPr>
        <p:txBody>
          <a:bodyPr wrap="square">
            <a:spAutoFit/>
          </a:bodyPr>
          <a:lstStyle/>
          <a:p>
            <a:pPr algn="l"/>
            <a:r>
              <a:rPr sz="2600" b="1">
                <a:solidFill>
                  <a:srgbClr val="1E2761"/>
                </a:solidFill>
                <a:latin typeface="Calibri"/>
              </a:rPr>
              <a:t>6. Peer review and the path ahead</a:t>
            </a:r>
          </a:p>
        </p:txBody>
      </p:sp>
      <p:sp>
        <p:nvSpPr>
          <p:cNvPr id="5" name="TextBox 4"/>
          <p:cNvSpPr txBox="1"/>
          <p:nvPr/>
        </p:nvSpPr>
        <p:spPr>
          <a:xfrm>
            <a:off x="640080" y="1554480"/>
            <a:ext cx="10972800" cy="5120640"/>
          </a:xfrm>
          <a:prstGeom prst="rect">
            <a:avLst/>
          </a:prstGeom>
          <a:noFill/>
        </p:spPr>
        <p:txBody>
          <a:bodyPr wrap="square">
            <a:spAutoFit/>
          </a:bodyPr>
          <a:lstStyle/>
          <a:p>
            <a:pPr algn="l">
              <a:spcAft>
                <a:spcPts val="600"/>
              </a:spcAft>
            </a:pPr>
            <a:r>
              <a:rPr sz="1500">
                <a:solidFill>
                  <a:srgbClr val="333333"/>
                </a:solidFill>
                <a:latin typeface="Calibri"/>
              </a:rPr>
              <a:t>  •  Structured peer review using a written rubric. A reading list of twenty papers for the six months after the bootcamp.</a:t>
            </a:r>
          </a:p>
        </p:txBody>
      </p:sp>
      <p:sp>
        <p:nvSpPr>
          <p:cNvPr id="6" name="Rectangle 5"/>
          <p:cNvSpPr/>
          <p:nvPr/>
        </p:nvSpPr>
        <p:spPr>
          <a:xfrm>
            <a:off x="0" y="6675120"/>
            <a:ext cx="12188952" cy="1828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4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743200"/>
            <a:ext cx="12188952" cy="4572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2194560"/>
            <a:ext cx="7315200" cy="457200"/>
          </a:xfrm>
          <a:prstGeom prst="rect">
            <a:avLst/>
          </a:prstGeom>
          <a:noFill/>
        </p:spPr>
        <p:txBody>
          <a:bodyPr wrap="square">
            <a:spAutoFit/>
          </a:bodyPr>
          <a:lstStyle/>
          <a:p>
            <a:pPr algn="l"/>
            <a:r>
              <a:rPr sz="1600" b="1">
                <a:solidFill>
                  <a:srgbClr val="2C5FF5"/>
                </a:solidFill>
                <a:latin typeface="Calibri"/>
              </a:rPr>
              <a:t>Section 3</a:t>
            </a:r>
          </a:p>
        </p:txBody>
      </p:sp>
      <p:sp>
        <p:nvSpPr>
          <p:cNvPr id="5" name="TextBox 4"/>
          <p:cNvSpPr txBox="1"/>
          <p:nvPr/>
        </p:nvSpPr>
        <p:spPr>
          <a:xfrm>
            <a:off x="640080" y="2651760"/>
            <a:ext cx="10972800" cy="1280160"/>
          </a:xfrm>
          <a:prstGeom prst="rect">
            <a:avLst/>
          </a:prstGeom>
          <a:noFill/>
        </p:spPr>
        <p:txBody>
          <a:bodyPr wrap="square">
            <a:spAutoFit/>
          </a:bodyPr>
          <a:lstStyle/>
          <a:p>
            <a:pPr algn="l"/>
            <a:r>
              <a:rPr sz="3600" b="1">
                <a:solidFill>
                  <a:srgbClr val="1E2761"/>
                </a:solidFill>
                <a:latin typeface="Calibri"/>
              </a:rPr>
              <a:t>Deeper Look</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4114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73152"/>
            <a:ext cx="10972800" cy="274320"/>
          </a:xfrm>
          <a:prstGeom prst="rect">
            <a:avLst/>
          </a:prstGeom>
          <a:noFill/>
        </p:spPr>
        <p:txBody>
          <a:bodyPr wrap="square">
            <a:spAutoFit/>
          </a:bodyPr>
          <a:lstStyle/>
          <a:p>
            <a:pPr algn="l"/>
            <a:r>
              <a:rPr sz="1100" b="0">
                <a:solidFill>
                  <a:srgbClr val="FFFFFF"/>
                </a:solidFill>
                <a:latin typeface="Calibri"/>
              </a:rPr>
              <a:t>Week 12 | The Path Ahead (Capstone Week)</a:t>
            </a:r>
          </a:p>
        </p:txBody>
      </p:sp>
      <p:sp>
        <p:nvSpPr>
          <p:cNvPr id="4" name="TextBox 3"/>
          <p:cNvSpPr txBox="1"/>
          <p:nvPr/>
        </p:nvSpPr>
        <p:spPr>
          <a:xfrm>
            <a:off x="457200" y="640080"/>
            <a:ext cx="11430000" cy="731520"/>
          </a:xfrm>
          <a:prstGeom prst="rect">
            <a:avLst/>
          </a:prstGeom>
          <a:noFill/>
        </p:spPr>
        <p:txBody>
          <a:bodyPr wrap="square">
            <a:spAutoFit/>
          </a:bodyPr>
          <a:lstStyle/>
          <a:p>
            <a:pPr algn="l"/>
            <a:r>
              <a:rPr sz="2600" b="1">
                <a:solidFill>
                  <a:srgbClr val="1E2761"/>
                </a:solidFill>
                <a:latin typeface="Calibri"/>
              </a:rPr>
              <a:t>1. The RAG vs fine-tuning escalation ladder</a:t>
            </a:r>
          </a:p>
        </p:txBody>
      </p:sp>
      <p:sp>
        <p:nvSpPr>
          <p:cNvPr id="5" name="TextBox 4"/>
          <p:cNvSpPr txBox="1"/>
          <p:nvPr/>
        </p:nvSpPr>
        <p:spPr>
          <a:xfrm>
            <a:off x="640080" y="1554480"/>
            <a:ext cx="10972800" cy="5120640"/>
          </a:xfrm>
          <a:prstGeom prst="rect">
            <a:avLst/>
          </a:prstGeom>
          <a:noFill/>
        </p:spPr>
        <p:txBody>
          <a:bodyPr wrap="square">
            <a:spAutoFit/>
          </a:bodyPr>
          <a:lstStyle/>
          <a:p>
            <a:pPr algn="l">
              <a:spcAft>
                <a:spcPts val="600"/>
              </a:spcAft>
            </a:pPr>
            <a:r>
              <a:rPr sz="1500">
                <a:solidFill>
                  <a:srgbClr val="333333"/>
                </a:solidFill>
                <a:latin typeface="Calibri"/>
              </a:rPr>
              <a:t>  •  Try RAG first. It is cheap and updates with the data. Fine-tune for behavior change (persona, format, refusal patterns). Combine when neither alone hits the bar. The wrong default is to fine-tune first; the cost is real and the gain is often illusory.</a:t>
            </a:r>
          </a:p>
        </p:txBody>
      </p:sp>
      <p:sp>
        <p:nvSpPr>
          <p:cNvPr id="6" name="Rectangle 5"/>
          <p:cNvSpPr/>
          <p:nvPr/>
        </p:nvSpPr>
        <p:spPr>
          <a:xfrm>
            <a:off x="0" y="6675120"/>
            <a:ext cx="12188952" cy="1828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4114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73152"/>
            <a:ext cx="10972800" cy="274320"/>
          </a:xfrm>
          <a:prstGeom prst="rect">
            <a:avLst/>
          </a:prstGeom>
          <a:noFill/>
        </p:spPr>
        <p:txBody>
          <a:bodyPr wrap="square">
            <a:spAutoFit/>
          </a:bodyPr>
          <a:lstStyle/>
          <a:p>
            <a:pPr algn="l"/>
            <a:r>
              <a:rPr sz="1100" b="0">
                <a:solidFill>
                  <a:srgbClr val="FFFFFF"/>
                </a:solidFill>
                <a:latin typeface="Calibri"/>
              </a:rPr>
              <a:t>Week 12 | The Path Ahead (Capstone Week)</a:t>
            </a:r>
          </a:p>
        </p:txBody>
      </p:sp>
      <p:sp>
        <p:nvSpPr>
          <p:cNvPr id="4" name="TextBox 3"/>
          <p:cNvSpPr txBox="1"/>
          <p:nvPr/>
        </p:nvSpPr>
        <p:spPr>
          <a:xfrm>
            <a:off x="457200" y="640080"/>
            <a:ext cx="11430000" cy="731520"/>
          </a:xfrm>
          <a:prstGeom prst="rect">
            <a:avLst/>
          </a:prstGeom>
          <a:noFill/>
        </p:spPr>
        <p:txBody>
          <a:bodyPr wrap="square">
            <a:spAutoFit/>
          </a:bodyPr>
          <a:lstStyle/>
          <a:p>
            <a:pPr algn="l"/>
            <a:r>
              <a:rPr sz="2600" b="1">
                <a:solidFill>
                  <a:srgbClr val="1E2761"/>
                </a:solidFill>
                <a:latin typeface="Calibri"/>
              </a:rPr>
              <a:t>2. RLVR</a:t>
            </a:r>
          </a:p>
        </p:txBody>
      </p:sp>
      <p:sp>
        <p:nvSpPr>
          <p:cNvPr id="5" name="TextBox 4"/>
          <p:cNvSpPr txBox="1"/>
          <p:nvPr/>
        </p:nvSpPr>
        <p:spPr>
          <a:xfrm>
            <a:off x="640080" y="1554480"/>
            <a:ext cx="10972800" cy="5120640"/>
          </a:xfrm>
          <a:prstGeom prst="rect">
            <a:avLst/>
          </a:prstGeom>
          <a:noFill/>
        </p:spPr>
        <p:txBody>
          <a:bodyPr wrap="square">
            <a:spAutoFit/>
          </a:bodyPr>
          <a:lstStyle/>
          <a:p>
            <a:pPr algn="l">
              <a:spcAft>
                <a:spcPts val="600"/>
              </a:spcAft>
            </a:pPr>
            <a:r>
              <a:rPr sz="1500">
                <a:solidFill>
                  <a:srgbClr val="333333"/>
                </a:solidFill>
                <a:latin typeface="Calibri"/>
              </a:rPr>
              <a:t>  •  When the reward can be programmatically verified (unit tests pass, code compiles, theorem checker accepts, answer matches the gold), skip the reward model. The verifier becomes the reward function. Faster training, less reward hacking.</a:t>
            </a:r>
          </a:p>
        </p:txBody>
      </p:sp>
      <p:sp>
        <p:nvSpPr>
          <p:cNvPr id="6" name="Rectangle 5"/>
          <p:cNvSpPr/>
          <p:nvPr/>
        </p:nvSpPr>
        <p:spPr>
          <a:xfrm>
            <a:off x="0" y="6675120"/>
            <a:ext cx="12188952" cy="1828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4114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73152"/>
            <a:ext cx="10972800" cy="274320"/>
          </a:xfrm>
          <a:prstGeom prst="rect">
            <a:avLst/>
          </a:prstGeom>
          <a:noFill/>
        </p:spPr>
        <p:txBody>
          <a:bodyPr wrap="square">
            <a:spAutoFit/>
          </a:bodyPr>
          <a:lstStyle/>
          <a:p>
            <a:pPr algn="l"/>
            <a:r>
              <a:rPr sz="1100" b="0">
                <a:solidFill>
                  <a:srgbClr val="FFFFFF"/>
                </a:solidFill>
                <a:latin typeface="Calibri"/>
              </a:rPr>
              <a:t>Week 12 | The Path Ahead (Capstone Week)</a:t>
            </a:r>
          </a:p>
        </p:txBody>
      </p:sp>
      <p:sp>
        <p:nvSpPr>
          <p:cNvPr id="4" name="TextBox 3"/>
          <p:cNvSpPr txBox="1"/>
          <p:nvPr/>
        </p:nvSpPr>
        <p:spPr>
          <a:xfrm>
            <a:off x="457200" y="640080"/>
            <a:ext cx="11430000" cy="731520"/>
          </a:xfrm>
          <a:prstGeom prst="rect">
            <a:avLst/>
          </a:prstGeom>
          <a:noFill/>
        </p:spPr>
        <p:txBody>
          <a:bodyPr wrap="square">
            <a:spAutoFit/>
          </a:bodyPr>
          <a:lstStyle/>
          <a:p>
            <a:pPr algn="l"/>
            <a:r>
              <a:rPr sz="2600" b="1">
                <a:solidFill>
                  <a:srgbClr val="1E2761"/>
                </a:solidFill>
                <a:latin typeface="Calibri"/>
              </a:rPr>
              <a:t>3. Evaluation of fine-tuned models</a:t>
            </a:r>
          </a:p>
        </p:txBody>
      </p:sp>
      <p:sp>
        <p:nvSpPr>
          <p:cNvPr id="5" name="TextBox 4"/>
          <p:cNvSpPr txBox="1"/>
          <p:nvPr/>
        </p:nvSpPr>
        <p:spPr>
          <a:xfrm>
            <a:off x="640080" y="1554480"/>
            <a:ext cx="10972800" cy="5120640"/>
          </a:xfrm>
          <a:prstGeom prst="rect">
            <a:avLst/>
          </a:prstGeom>
          <a:noFill/>
        </p:spPr>
        <p:txBody>
          <a:bodyPr wrap="square">
            <a:spAutoFit/>
          </a:bodyPr>
          <a:lstStyle/>
          <a:p>
            <a:pPr algn="l">
              <a:spcAft>
                <a:spcPts val="600"/>
              </a:spcAft>
            </a:pPr>
            <a:r>
              <a:rPr sz="1500">
                <a:solidFill>
                  <a:srgbClr val="333333"/>
                </a:solidFill>
                <a:latin typeface="Calibri"/>
              </a:rPr>
              <a:t>  •  Held-out eval set for the target task. Regression suite for base capabilities (so fine-tuning has not broken math, code, or reasoning). Drift checks over time as your data distribution evolves. Harm test: explicit probes for the bad behaviors your fine-tuning was supposed to suppress.</a:t>
            </a:r>
          </a:p>
        </p:txBody>
      </p:sp>
      <p:sp>
        <p:nvSpPr>
          <p:cNvPr id="6" name="Rectangle 5"/>
          <p:cNvSpPr/>
          <p:nvPr/>
        </p:nvSpPr>
        <p:spPr>
          <a:xfrm>
            <a:off x="0" y="6675120"/>
            <a:ext cx="12188952" cy="1828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4114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73152"/>
            <a:ext cx="10972800" cy="274320"/>
          </a:xfrm>
          <a:prstGeom prst="rect">
            <a:avLst/>
          </a:prstGeom>
          <a:noFill/>
        </p:spPr>
        <p:txBody>
          <a:bodyPr wrap="square">
            <a:spAutoFit/>
          </a:bodyPr>
          <a:lstStyle/>
          <a:p>
            <a:pPr algn="l"/>
            <a:r>
              <a:rPr sz="1100" b="0">
                <a:solidFill>
                  <a:srgbClr val="FFFFFF"/>
                </a:solidFill>
                <a:latin typeface="Calibri"/>
              </a:rPr>
              <a:t>Week 12 | The Path Ahead (Capstone Week)</a:t>
            </a:r>
          </a:p>
        </p:txBody>
      </p:sp>
      <p:sp>
        <p:nvSpPr>
          <p:cNvPr id="4" name="TextBox 3"/>
          <p:cNvSpPr txBox="1"/>
          <p:nvPr/>
        </p:nvSpPr>
        <p:spPr>
          <a:xfrm>
            <a:off x="457200" y="640080"/>
            <a:ext cx="11430000" cy="731520"/>
          </a:xfrm>
          <a:prstGeom prst="rect">
            <a:avLst/>
          </a:prstGeom>
          <a:noFill/>
        </p:spPr>
        <p:txBody>
          <a:bodyPr wrap="square">
            <a:spAutoFit/>
          </a:bodyPr>
          <a:lstStyle/>
          <a:p>
            <a:pPr algn="l"/>
            <a:r>
              <a:rPr sz="2600" b="1">
                <a:solidFill>
                  <a:srgbClr val="1E2761"/>
                </a:solidFill>
                <a:latin typeface="Calibri"/>
              </a:rPr>
              <a:t>4. Multi-agent RL</a:t>
            </a:r>
          </a:p>
        </p:txBody>
      </p:sp>
      <p:sp>
        <p:nvSpPr>
          <p:cNvPr id="5" name="TextBox 4"/>
          <p:cNvSpPr txBox="1"/>
          <p:nvPr/>
        </p:nvSpPr>
        <p:spPr>
          <a:xfrm>
            <a:off x="640080" y="1554480"/>
            <a:ext cx="10972800" cy="5120640"/>
          </a:xfrm>
          <a:prstGeom prst="rect">
            <a:avLst/>
          </a:prstGeom>
          <a:noFill/>
        </p:spPr>
        <p:txBody>
          <a:bodyPr wrap="square">
            <a:spAutoFit/>
          </a:bodyPr>
          <a:lstStyle/>
          <a:p>
            <a:pPr algn="l">
              <a:spcAft>
                <a:spcPts val="600"/>
              </a:spcAft>
            </a:pPr>
            <a:r>
              <a:rPr sz="1500">
                <a:solidFill>
                  <a:srgbClr val="333333"/>
                </a:solidFill>
                <a:latin typeface="Calibri"/>
              </a:rPr>
              <a:t>  •  Centralized training with decentralized execution is the default. Reward shaping for credit assignment across agents (who deserves credit when the team succeeds). MARL beats single-agent approaches when the agents have genuinely different observation spaces and the policy would be a smaller program if specialized.</a:t>
            </a:r>
          </a:p>
        </p:txBody>
      </p:sp>
      <p:sp>
        <p:nvSpPr>
          <p:cNvPr id="6" name="Rectangle 5"/>
          <p:cNvSpPr/>
          <p:nvPr/>
        </p:nvSpPr>
        <p:spPr>
          <a:xfrm>
            <a:off x="0" y="6675120"/>
            <a:ext cx="12188952" cy="1828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4114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73152"/>
            <a:ext cx="10972800" cy="274320"/>
          </a:xfrm>
          <a:prstGeom prst="rect">
            <a:avLst/>
          </a:prstGeom>
          <a:noFill/>
        </p:spPr>
        <p:txBody>
          <a:bodyPr wrap="square">
            <a:spAutoFit/>
          </a:bodyPr>
          <a:lstStyle/>
          <a:p>
            <a:pPr algn="l"/>
            <a:r>
              <a:rPr sz="1100" b="0">
                <a:solidFill>
                  <a:srgbClr val="FFFFFF"/>
                </a:solidFill>
                <a:latin typeface="Calibri"/>
              </a:rPr>
              <a:t>Week 12 | The Path Ahead (Capstone Week)</a:t>
            </a:r>
          </a:p>
        </p:txBody>
      </p:sp>
      <p:sp>
        <p:nvSpPr>
          <p:cNvPr id="4" name="TextBox 3"/>
          <p:cNvSpPr txBox="1"/>
          <p:nvPr/>
        </p:nvSpPr>
        <p:spPr>
          <a:xfrm>
            <a:off x="457200" y="640080"/>
            <a:ext cx="11430000" cy="731520"/>
          </a:xfrm>
          <a:prstGeom prst="rect">
            <a:avLst/>
          </a:prstGeom>
          <a:noFill/>
        </p:spPr>
        <p:txBody>
          <a:bodyPr wrap="square">
            <a:spAutoFit/>
          </a:bodyPr>
          <a:lstStyle/>
          <a:p>
            <a:pPr algn="l"/>
            <a:r>
              <a:rPr sz="2600" b="1">
                <a:solidFill>
                  <a:srgbClr val="1E2761"/>
                </a:solidFill>
                <a:latin typeface="Calibri"/>
              </a:rPr>
              <a:t>5. Capstone presentations</a:t>
            </a:r>
          </a:p>
        </p:txBody>
      </p:sp>
      <p:sp>
        <p:nvSpPr>
          <p:cNvPr id="5" name="TextBox 4"/>
          <p:cNvSpPr txBox="1"/>
          <p:nvPr/>
        </p:nvSpPr>
        <p:spPr>
          <a:xfrm>
            <a:off x="640080" y="1554480"/>
            <a:ext cx="10972800" cy="5120640"/>
          </a:xfrm>
          <a:prstGeom prst="rect">
            <a:avLst/>
          </a:prstGeom>
          <a:noFill/>
        </p:spPr>
        <p:txBody>
          <a:bodyPr wrap="square">
            <a:spAutoFit/>
          </a:bodyPr>
          <a:lstStyle/>
          <a:p>
            <a:pPr algn="l">
              <a:spcAft>
                <a:spcPts val="600"/>
              </a:spcAft>
            </a:pPr>
            <a:r>
              <a:rPr sz="1500">
                <a:solidFill>
                  <a:srgbClr val="333333"/>
                </a:solidFill>
                <a:latin typeface="Calibri"/>
              </a:rPr>
              <a:t>  •  Twenty minutes per team. Cover architecture, results, failure modes, and the one decision you would make differently. Peer review uses a written rubric. Bring the rubric. Use it on yourself before the presentation.</a:t>
            </a:r>
          </a:p>
        </p:txBody>
      </p:sp>
      <p:sp>
        <p:nvSpPr>
          <p:cNvPr id="6" name="Rectangle 5"/>
          <p:cNvSpPr/>
          <p:nvPr/>
        </p:nvSpPr>
        <p:spPr>
          <a:xfrm>
            <a:off x="0" y="6675120"/>
            <a:ext cx="12188952" cy="1828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4114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73152"/>
            <a:ext cx="10972800" cy="274320"/>
          </a:xfrm>
          <a:prstGeom prst="rect">
            <a:avLst/>
          </a:prstGeom>
          <a:noFill/>
        </p:spPr>
        <p:txBody>
          <a:bodyPr wrap="square">
            <a:spAutoFit/>
          </a:bodyPr>
          <a:lstStyle/>
          <a:p>
            <a:pPr algn="l"/>
            <a:r>
              <a:rPr sz="1100" b="0">
                <a:solidFill>
                  <a:srgbClr val="FFFFFF"/>
                </a:solidFill>
                <a:latin typeface="Calibri"/>
              </a:rPr>
              <a:t>Week 12 | The Path Ahead (Capstone Week)</a:t>
            </a:r>
          </a:p>
        </p:txBody>
      </p:sp>
      <p:sp>
        <p:nvSpPr>
          <p:cNvPr id="4" name="TextBox 3"/>
          <p:cNvSpPr txBox="1"/>
          <p:nvPr/>
        </p:nvSpPr>
        <p:spPr>
          <a:xfrm>
            <a:off x="457200" y="640080"/>
            <a:ext cx="11430000" cy="731520"/>
          </a:xfrm>
          <a:prstGeom prst="rect">
            <a:avLst/>
          </a:prstGeom>
          <a:noFill/>
        </p:spPr>
        <p:txBody>
          <a:bodyPr wrap="square">
            <a:spAutoFit/>
          </a:bodyPr>
          <a:lstStyle/>
          <a:p>
            <a:pPr algn="l"/>
            <a:r>
              <a:rPr sz="2600" b="1">
                <a:solidFill>
                  <a:srgbClr val="1E2761"/>
                </a:solidFill>
                <a:latin typeface="Calibri"/>
              </a:rPr>
              <a:t>6. The path ahead</a:t>
            </a:r>
          </a:p>
        </p:txBody>
      </p:sp>
      <p:sp>
        <p:nvSpPr>
          <p:cNvPr id="5" name="TextBox 4"/>
          <p:cNvSpPr txBox="1"/>
          <p:nvPr/>
        </p:nvSpPr>
        <p:spPr>
          <a:xfrm>
            <a:off x="640080" y="1554480"/>
            <a:ext cx="10972800" cy="5120640"/>
          </a:xfrm>
          <a:prstGeom prst="rect">
            <a:avLst/>
          </a:prstGeom>
          <a:noFill/>
        </p:spPr>
        <p:txBody>
          <a:bodyPr wrap="square">
            <a:spAutoFit/>
          </a:bodyPr>
          <a:lstStyle/>
          <a:p>
            <a:pPr algn="l">
              <a:spcAft>
                <a:spcPts val="600"/>
              </a:spcAft>
            </a:pPr>
            <a:r>
              <a:rPr sz="1500">
                <a:solidFill>
                  <a:srgbClr val="333333"/>
                </a:solidFill>
                <a:latin typeface="Calibri"/>
              </a:rPr>
              <a:t>  •  A reading list of twenty papers for the six months after the bootcamp. Membership in the Proxiant alumni Discord. A standing invitation to office hours for production blockers. The work you do over the next twelve months is the real result of this bootcamp.</a:t>
            </a:r>
          </a:p>
        </p:txBody>
      </p:sp>
      <p:sp>
        <p:nvSpPr>
          <p:cNvPr id="6" name="Rectangle 5"/>
          <p:cNvSpPr/>
          <p:nvPr/>
        </p:nvSpPr>
        <p:spPr>
          <a:xfrm>
            <a:off x="0" y="6675120"/>
            <a:ext cx="12188952" cy="1828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4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743200"/>
            <a:ext cx="12188952" cy="4572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2194560"/>
            <a:ext cx="7315200" cy="457200"/>
          </a:xfrm>
          <a:prstGeom prst="rect">
            <a:avLst/>
          </a:prstGeom>
          <a:noFill/>
        </p:spPr>
        <p:txBody>
          <a:bodyPr wrap="square">
            <a:spAutoFit/>
          </a:bodyPr>
          <a:lstStyle/>
          <a:p>
            <a:pPr algn="l"/>
            <a:r>
              <a:rPr sz="1600" b="1">
                <a:solidFill>
                  <a:srgbClr val="2C5FF5"/>
                </a:solidFill>
                <a:latin typeface="Calibri"/>
              </a:rPr>
              <a:t>Section 4</a:t>
            </a:r>
          </a:p>
        </p:txBody>
      </p:sp>
      <p:sp>
        <p:nvSpPr>
          <p:cNvPr id="5" name="TextBox 4"/>
          <p:cNvSpPr txBox="1"/>
          <p:nvPr/>
        </p:nvSpPr>
        <p:spPr>
          <a:xfrm>
            <a:off x="640080" y="2651760"/>
            <a:ext cx="10972800" cy="1280160"/>
          </a:xfrm>
          <a:prstGeom prst="rect">
            <a:avLst/>
          </a:prstGeom>
          <a:noFill/>
        </p:spPr>
        <p:txBody>
          <a:bodyPr wrap="square">
            <a:spAutoFit/>
          </a:bodyPr>
          <a:lstStyle/>
          <a:p>
            <a:pPr algn="l"/>
            <a:r>
              <a:rPr sz="3600" b="1">
                <a:solidFill>
                  <a:srgbClr val="1E2761"/>
                </a:solidFill>
                <a:latin typeface="Calibri"/>
              </a:rPr>
              <a:t>Papers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4114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73152"/>
            <a:ext cx="10972800" cy="274320"/>
          </a:xfrm>
          <a:prstGeom prst="rect">
            <a:avLst/>
          </a:prstGeom>
          <a:noFill/>
        </p:spPr>
        <p:txBody>
          <a:bodyPr wrap="square">
            <a:spAutoFit/>
          </a:bodyPr>
          <a:lstStyle/>
          <a:p>
            <a:pPr algn="l"/>
            <a:r>
              <a:rPr sz="1100" b="0">
                <a:solidFill>
                  <a:srgbClr val="FFFFFF"/>
                </a:solidFill>
                <a:latin typeface="Calibri"/>
              </a:rPr>
              <a:t>Week 12 | The Path Ahead (Capstone Week)</a:t>
            </a:r>
          </a:p>
        </p:txBody>
      </p:sp>
      <p:sp>
        <p:nvSpPr>
          <p:cNvPr id="4" name="TextBox 3"/>
          <p:cNvSpPr txBox="1"/>
          <p:nvPr/>
        </p:nvSpPr>
        <p:spPr>
          <a:xfrm>
            <a:off x="457200" y="640080"/>
            <a:ext cx="11430000" cy="731520"/>
          </a:xfrm>
          <a:prstGeom prst="rect">
            <a:avLst/>
          </a:prstGeom>
          <a:noFill/>
        </p:spPr>
        <p:txBody>
          <a:bodyPr wrap="square">
            <a:spAutoFit/>
          </a:bodyPr>
          <a:lstStyle/>
          <a:p>
            <a:pPr algn="l"/>
            <a:r>
              <a:rPr sz="2600" b="1">
                <a:solidFill>
                  <a:srgbClr val="1E2761"/>
                </a:solidFill>
                <a:latin typeface="Calibri"/>
              </a:rPr>
              <a:t>Reinforcement Learning with Verifiable Rewards</a:t>
            </a:r>
          </a:p>
        </p:txBody>
      </p:sp>
      <p:sp>
        <p:nvSpPr>
          <p:cNvPr id="5" name="TextBox 4"/>
          <p:cNvSpPr txBox="1"/>
          <p:nvPr/>
        </p:nvSpPr>
        <p:spPr>
          <a:xfrm>
            <a:off x="640080" y="1554480"/>
            <a:ext cx="10972800" cy="5120640"/>
          </a:xfrm>
          <a:prstGeom prst="rect">
            <a:avLst/>
          </a:prstGeom>
          <a:noFill/>
        </p:spPr>
        <p:txBody>
          <a:bodyPr wrap="square">
            <a:spAutoFit/>
          </a:bodyPr>
          <a:lstStyle/>
          <a:p>
            <a:pPr algn="l">
              <a:spcAft>
                <a:spcPts val="600"/>
              </a:spcAft>
            </a:pPr>
            <a:r>
              <a:rPr sz="1500">
                <a:solidFill>
                  <a:srgbClr val="333333"/>
                </a:solidFill>
                <a:latin typeface="Calibri"/>
              </a:rPr>
              <a:t>  •  Lambert et al., 2024 (reading guide ships with the lab).</a:t>
            </a:r>
          </a:p>
        </p:txBody>
      </p:sp>
      <p:sp>
        <p:nvSpPr>
          <p:cNvPr id="6" name="Rectangle 5"/>
          <p:cNvSpPr/>
          <p:nvPr/>
        </p:nvSpPr>
        <p:spPr>
          <a:xfrm>
            <a:off x="0" y="6675120"/>
            <a:ext cx="12188952" cy="1828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4114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73152"/>
            <a:ext cx="10972800" cy="274320"/>
          </a:xfrm>
          <a:prstGeom prst="rect">
            <a:avLst/>
          </a:prstGeom>
          <a:noFill/>
        </p:spPr>
        <p:txBody>
          <a:bodyPr wrap="square">
            <a:spAutoFit/>
          </a:bodyPr>
          <a:lstStyle/>
          <a:p>
            <a:pPr algn="l"/>
            <a:r>
              <a:rPr sz="1100" b="0">
                <a:solidFill>
                  <a:srgbClr val="FFFFFF"/>
                </a:solidFill>
                <a:latin typeface="Calibri"/>
              </a:rPr>
              <a:t>Week 12 | The Path Ahead (Capstone Week)</a:t>
            </a:r>
          </a:p>
        </p:txBody>
      </p:sp>
      <p:sp>
        <p:nvSpPr>
          <p:cNvPr id="4" name="TextBox 3"/>
          <p:cNvSpPr txBox="1"/>
          <p:nvPr/>
        </p:nvSpPr>
        <p:spPr>
          <a:xfrm>
            <a:off x="457200" y="640080"/>
            <a:ext cx="11430000" cy="731520"/>
          </a:xfrm>
          <a:prstGeom prst="rect">
            <a:avLst/>
          </a:prstGeom>
          <a:noFill/>
        </p:spPr>
        <p:txBody>
          <a:bodyPr wrap="square">
            <a:spAutoFit/>
          </a:bodyPr>
          <a:lstStyle/>
          <a:p>
            <a:pPr algn="l"/>
            <a:r>
              <a:rPr sz="2600" b="1">
                <a:solidFill>
                  <a:srgbClr val="1E2761"/>
                </a:solidFill>
                <a:latin typeface="Calibri"/>
              </a:rPr>
              <a:t>Cooperative Multi-Agent Reinforcement Learning</a:t>
            </a:r>
          </a:p>
        </p:txBody>
      </p:sp>
      <p:sp>
        <p:nvSpPr>
          <p:cNvPr id="5" name="TextBox 4"/>
          <p:cNvSpPr txBox="1"/>
          <p:nvPr/>
        </p:nvSpPr>
        <p:spPr>
          <a:xfrm>
            <a:off x="640080" y="1554480"/>
            <a:ext cx="10972800" cy="5120640"/>
          </a:xfrm>
          <a:prstGeom prst="rect">
            <a:avLst/>
          </a:prstGeom>
          <a:noFill/>
        </p:spPr>
        <p:txBody>
          <a:bodyPr wrap="square">
            <a:spAutoFit/>
          </a:bodyPr>
          <a:lstStyle/>
          <a:p>
            <a:pPr algn="l">
              <a:spcAft>
                <a:spcPts val="600"/>
              </a:spcAft>
            </a:pPr>
            <a:r>
              <a:rPr sz="1500">
                <a:solidFill>
                  <a:srgbClr val="333333"/>
                </a:solidFill>
                <a:latin typeface="Calibri"/>
              </a:rPr>
              <a:t>  •  Foerster et al., 2017. A starting point for MARL.</a:t>
            </a:r>
          </a:p>
        </p:txBody>
      </p:sp>
      <p:sp>
        <p:nvSpPr>
          <p:cNvPr id="6" name="Rectangle 5"/>
          <p:cNvSpPr/>
          <p:nvPr/>
        </p:nvSpPr>
        <p:spPr>
          <a:xfrm>
            <a:off x="0" y="6675120"/>
            <a:ext cx="12188952" cy="1828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4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743200"/>
            <a:ext cx="12188952" cy="4572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2194560"/>
            <a:ext cx="7315200" cy="457200"/>
          </a:xfrm>
          <a:prstGeom prst="rect">
            <a:avLst/>
          </a:prstGeom>
          <a:noFill/>
        </p:spPr>
        <p:txBody>
          <a:bodyPr wrap="square">
            <a:spAutoFit/>
          </a:bodyPr>
          <a:lstStyle/>
          <a:p>
            <a:pPr algn="l"/>
            <a:r>
              <a:rPr sz="1600" b="1">
                <a:solidFill>
                  <a:srgbClr val="2C5FF5"/>
                </a:solidFill>
                <a:latin typeface="Calibri"/>
              </a:rPr>
              <a:t>Section 5</a:t>
            </a:r>
          </a:p>
        </p:txBody>
      </p:sp>
      <p:sp>
        <p:nvSpPr>
          <p:cNvPr id="5" name="TextBox 4"/>
          <p:cNvSpPr txBox="1"/>
          <p:nvPr/>
        </p:nvSpPr>
        <p:spPr>
          <a:xfrm>
            <a:off x="640080" y="2651760"/>
            <a:ext cx="10972800" cy="1280160"/>
          </a:xfrm>
          <a:prstGeom prst="rect">
            <a:avLst/>
          </a:prstGeom>
          <a:noFill/>
        </p:spPr>
        <p:txBody>
          <a:bodyPr wrap="square">
            <a:spAutoFit/>
          </a:bodyPr>
          <a:lstStyle/>
          <a:p>
            <a:pPr algn="l"/>
            <a:r>
              <a:rPr sz="3600" b="1">
                <a:solidFill>
                  <a:srgbClr val="1E2761"/>
                </a:solidFill>
                <a:latin typeface="Calibri"/>
              </a:rPr>
              <a:t>Review</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4114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73152"/>
            <a:ext cx="10972800" cy="274320"/>
          </a:xfrm>
          <a:prstGeom prst="rect">
            <a:avLst/>
          </a:prstGeom>
          <a:noFill/>
        </p:spPr>
        <p:txBody>
          <a:bodyPr wrap="square">
            <a:spAutoFit/>
          </a:bodyPr>
          <a:lstStyle/>
          <a:p>
            <a:pPr algn="l"/>
            <a:r>
              <a:rPr sz="1100" b="0">
                <a:solidFill>
                  <a:srgbClr val="FFFFFF"/>
                </a:solidFill>
                <a:latin typeface="Calibri"/>
              </a:rPr>
              <a:t>Week 12 | The Path Ahead (Capstone Week)</a:t>
            </a:r>
          </a:p>
        </p:txBody>
      </p:sp>
      <p:sp>
        <p:nvSpPr>
          <p:cNvPr id="4" name="TextBox 3"/>
          <p:cNvSpPr txBox="1"/>
          <p:nvPr/>
        </p:nvSpPr>
        <p:spPr>
          <a:xfrm>
            <a:off x="457200" y="640080"/>
            <a:ext cx="11430000" cy="731520"/>
          </a:xfrm>
          <a:prstGeom prst="rect">
            <a:avLst/>
          </a:prstGeom>
          <a:noFill/>
        </p:spPr>
        <p:txBody>
          <a:bodyPr wrap="square">
            <a:spAutoFit/>
          </a:bodyPr>
          <a:lstStyle/>
          <a:p>
            <a:pPr algn="l"/>
            <a:r>
              <a:rPr sz="2600" b="1">
                <a:solidFill>
                  <a:srgbClr val="1E2761"/>
                </a:solidFill>
                <a:latin typeface="Calibri"/>
              </a:rPr>
              <a:t>Review Questions</a:t>
            </a:r>
          </a:p>
        </p:txBody>
      </p:sp>
      <p:sp>
        <p:nvSpPr>
          <p:cNvPr id="5" name="TextBox 4"/>
          <p:cNvSpPr txBox="1"/>
          <p:nvPr/>
        </p:nvSpPr>
        <p:spPr>
          <a:xfrm>
            <a:off x="640080" y="1554480"/>
            <a:ext cx="10972800" cy="5120640"/>
          </a:xfrm>
          <a:prstGeom prst="rect">
            <a:avLst/>
          </a:prstGeom>
          <a:noFill/>
        </p:spPr>
        <p:txBody>
          <a:bodyPr wrap="square">
            <a:spAutoFit/>
          </a:bodyPr>
          <a:lstStyle/>
          <a:p>
            <a:pPr algn="l">
              <a:spcAft>
                <a:spcPts val="600"/>
              </a:spcAft>
            </a:pPr>
            <a:r>
              <a:rPr sz="1500">
                <a:solidFill>
                  <a:srgbClr val="333333"/>
                </a:solidFill>
                <a:latin typeface="Calibri"/>
              </a:rPr>
              <a:t>  •  Give a task where RAG is sufficient and fine-tuning would be wrong.</a:t>
            </a:r>
          </a:p>
          <a:p>
            <a:pPr algn="l">
              <a:spcAft>
                <a:spcPts val="600"/>
              </a:spcAft>
            </a:pPr>
            <a:r>
              <a:rPr sz="1500">
                <a:solidFill>
                  <a:srgbClr val="333333"/>
                </a:solidFill>
                <a:latin typeface="Calibri"/>
              </a:rPr>
              <a:t>  •  Sketch an RLVR setup for a math-tutoring agent.</a:t>
            </a:r>
          </a:p>
          <a:p>
            <a:pPr algn="l">
              <a:spcAft>
                <a:spcPts val="600"/>
              </a:spcAft>
            </a:pPr>
            <a:r>
              <a:rPr sz="1500">
                <a:solidFill>
                  <a:srgbClr val="333333"/>
                </a:solidFill>
                <a:latin typeface="Calibri"/>
              </a:rPr>
              <a:t>  •  What is the smallest harm test you would ship with any aligned model?</a:t>
            </a:r>
          </a:p>
          <a:p>
            <a:pPr algn="l">
              <a:spcAft>
                <a:spcPts val="600"/>
              </a:spcAft>
            </a:pPr>
            <a:r>
              <a:rPr sz="1500">
                <a:solidFill>
                  <a:srgbClr val="333333"/>
                </a:solidFill>
                <a:latin typeface="Calibri"/>
              </a:rPr>
              <a:t>  •  When does MARL definitely beat tool-maximalist single agents?</a:t>
            </a:r>
          </a:p>
        </p:txBody>
      </p:sp>
      <p:sp>
        <p:nvSpPr>
          <p:cNvPr id="6" name="Rectangle 5"/>
          <p:cNvSpPr/>
          <p:nvPr/>
        </p:nvSpPr>
        <p:spPr>
          <a:xfrm>
            <a:off x="0" y="6675120"/>
            <a:ext cx="12188952" cy="1828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822960"/>
            <a:ext cx="9144000" cy="548640"/>
          </a:xfrm>
          <a:prstGeom prst="rect">
            <a:avLst/>
          </a:prstGeom>
          <a:noFill/>
        </p:spPr>
        <p:txBody>
          <a:bodyPr wrap="square">
            <a:spAutoFit/>
          </a:bodyPr>
          <a:lstStyle/>
          <a:p>
            <a:pPr algn="l"/>
            <a:r>
              <a:rPr sz="1800" b="1">
                <a:solidFill>
                  <a:srgbClr val="2C5FF5"/>
                </a:solidFill>
                <a:latin typeface="Calibri"/>
              </a:rPr>
              <a:t>This Week's Labs</a:t>
            </a:r>
          </a:p>
        </p:txBody>
      </p:sp>
      <p:sp>
        <p:nvSpPr>
          <p:cNvPr id="4" name="TextBox 3"/>
          <p:cNvSpPr txBox="1"/>
          <p:nvPr/>
        </p:nvSpPr>
        <p:spPr>
          <a:xfrm>
            <a:off x="640080" y="1463040"/>
            <a:ext cx="10972800" cy="457200"/>
          </a:xfrm>
          <a:prstGeom prst="rect">
            <a:avLst/>
          </a:prstGeom>
          <a:noFill/>
        </p:spPr>
        <p:txBody>
          <a:bodyPr wrap="square">
            <a:spAutoFit/>
          </a:bodyPr>
          <a:lstStyle/>
          <a:p>
            <a:pPr algn="l"/>
            <a:r>
              <a:rPr sz="1800" b="1">
                <a:solidFill>
                  <a:srgbClr val="FFFFFF"/>
                </a:solidFill>
                <a:latin typeface="Calibri"/>
              </a:rPr>
              <a:t>Lab A: Capstone work block 1</a:t>
            </a:r>
          </a:p>
        </p:txBody>
      </p:sp>
      <p:sp>
        <p:nvSpPr>
          <p:cNvPr id="5" name="TextBox 4"/>
          <p:cNvSpPr txBox="1"/>
          <p:nvPr/>
        </p:nvSpPr>
        <p:spPr>
          <a:xfrm>
            <a:off x="822960" y="1828800"/>
            <a:ext cx="10972800" cy="640080"/>
          </a:xfrm>
          <a:prstGeom prst="rect">
            <a:avLst/>
          </a:prstGeom>
          <a:noFill/>
        </p:spPr>
        <p:txBody>
          <a:bodyPr wrap="square">
            <a:spAutoFit/>
          </a:bodyPr>
          <a:lstStyle/>
          <a:p>
            <a:pPr algn="l"/>
            <a:r>
              <a:rPr sz="1200" b="0">
                <a:solidFill>
                  <a:srgbClr val="FFFFFF"/>
                </a:solidFill>
                <a:latin typeface="Calibri"/>
              </a:rPr>
              <a:t>Polish the capstone implementation: code quality, evals, and reproducibility.</a:t>
            </a:r>
          </a:p>
        </p:txBody>
      </p:sp>
      <p:sp>
        <p:nvSpPr>
          <p:cNvPr id="6" name="TextBox 5"/>
          <p:cNvSpPr txBox="1"/>
          <p:nvPr/>
        </p:nvSpPr>
        <p:spPr>
          <a:xfrm>
            <a:off x="640080" y="2286000"/>
            <a:ext cx="10972800" cy="457200"/>
          </a:xfrm>
          <a:prstGeom prst="rect">
            <a:avLst/>
          </a:prstGeom>
          <a:noFill/>
        </p:spPr>
        <p:txBody>
          <a:bodyPr wrap="square">
            <a:spAutoFit/>
          </a:bodyPr>
          <a:lstStyle/>
          <a:p>
            <a:pPr algn="l"/>
            <a:r>
              <a:rPr sz="1800" b="1">
                <a:solidFill>
                  <a:srgbClr val="FFFFFF"/>
                </a:solidFill>
                <a:latin typeface="Calibri"/>
              </a:rPr>
              <a:t>Lab B: Capstone presentations and peer review</a:t>
            </a:r>
          </a:p>
        </p:txBody>
      </p:sp>
      <p:sp>
        <p:nvSpPr>
          <p:cNvPr id="7" name="TextBox 6"/>
          <p:cNvSpPr txBox="1"/>
          <p:nvPr/>
        </p:nvSpPr>
        <p:spPr>
          <a:xfrm>
            <a:off x="822960" y="2651760"/>
            <a:ext cx="10972800" cy="640080"/>
          </a:xfrm>
          <a:prstGeom prst="rect">
            <a:avLst/>
          </a:prstGeom>
          <a:noFill/>
        </p:spPr>
        <p:txBody>
          <a:bodyPr wrap="square">
            <a:spAutoFit/>
          </a:bodyPr>
          <a:lstStyle/>
          <a:p>
            <a:pPr algn="l"/>
            <a:r>
              <a:rPr sz="1200" b="0">
                <a:solidFill>
                  <a:srgbClr val="FFFFFF"/>
                </a:solidFill>
                <a:latin typeface="Calibri"/>
              </a:rPr>
              <a:t>Present the capstone and conduct peer review on two other capstones using the structured rubric.</a:t>
            </a:r>
          </a:p>
        </p:txBody>
      </p:sp>
      <p:sp>
        <p:nvSpPr>
          <p:cNvPr id="8" name="TextBox 7"/>
          <p:cNvSpPr txBox="1"/>
          <p:nvPr/>
        </p:nvSpPr>
        <p:spPr>
          <a:xfrm>
            <a:off x="640080" y="6400800"/>
            <a:ext cx="10972800" cy="365760"/>
          </a:xfrm>
          <a:prstGeom prst="rect">
            <a:avLst/>
          </a:prstGeom>
          <a:noFill/>
        </p:spPr>
        <p:txBody>
          <a:bodyPr wrap="square">
            <a:spAutoFit/>
          </a:bodyPr>
          <a:lstStyle/>
          <a:p>
            <a:pPr algn="l"/>
            <a:r>
              <a:rPr sz="1200" b="0">
                <a:solidFill>
                  <a:srgbClr val="FFFFFF"/>
                </a:solidFill>
                <a:latin typeface="Calibri"/>
              </a:rPr>
              <a:t>Quiz on Wednesday | Project due next Sunday</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