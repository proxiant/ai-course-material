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457200"/>
          </a:xfrm>
          <a:prstGeom prst="rect">
            <a:avLst/>
          </a:prstGeom>
          <a:noFill/>
        </p:spPr>
        <p:txBody>
          <a:bodyPr wrap="square">
            <a:spAutoFit/>
          </a:bodyPr>
          <a:lstStyle/>
          <a:p>
            <a:pPr algn="l"/>
            <a:r>
              <a:rPr sz="1400" b="0">
                <a:solidFill>
                  <a:srgbClr val="FFFFFF"/>
                </a:solidFill>
                <a:latin typeface="Calibri"/>
              </a:rPr>
              <a:t>Proxiant Academy</a:t>
            </a:r>
          </a:p>
        </p:txBody>
      </p:sp>
      <p:sp>
        <p:nvSpPr>
          <p:cNvPr id="4" name="TextBox 3"/>
          <p:cNvSpPr txBox="1"/>
          <p:nvPr/>
        </p:nvSpPr>
        <p:spPr>
          <a:xfrm>
            <a:off x="548640" y="1828800"/>
            <a:ext cx="7315200" cy="640080"/>
          </a:xfrm>
          <a:prstGeom prst="rect">
            <a:avLst/>
          </a:prstGeom>
          <a:noFill/>
        </p:spPr>
        <p:txBody>
          <a:bodyPr wrap="square">
            <a:spAutoFit/>
          </a:bodyPr>
          <a:lstStyle/>
          <a:p>
            <a:pPr algn="l"/>
            <a:r>
              <a:rPr sz="2800" b="1">
                <a:solidFill>
                  <a:srgbClr val="2C5FF5"/>
                </a:solidFill>
                <a:latin typeface="Calibri"/>
              </a:rPr>
              <a:t>Week 4</a:t>
            </a:r>
          </a:p>
        </p:txBody>
      </p:sp>
      <p:sp>
        <p:nvSpPr>
          <p:cNvPr id="5" name="TextBox 4"/>
          <p:cNvSpPr txBox="1"/>
          <p:nvPr/>
        </p:nvSpPr>
        <p:spPr>
          <a:xfrm>
            <a:off x="548640" y="2560320"/>
            <a:ext cx="10972800" cy="1280160"/>
          </a:xfrm>
          <a:prstGeom prst="rect">
            <a:avLst/>
          </a:prstGeom>
          <a:noFill/>
        </p:spPr>
        <p:txBody>
          <a:bodyPr wrap="square">
            <a:spAutoFit/>
          </a:bodyPr>
          <a:lstStyle/>
          <a:p>
            <a:pPr algn="l"/>
            <a:r>
              <a:rPr sz="4400" b="1">
                <a:solidFill>
                  <a:srgbClr val="FFFFFF"/>
                </a:solidFill>
                <a:latin typeface="Calibri"/>
              </a:rPr>
              <a:t>Prompt Engineering and Optimization</a:t>
            </a:r>
          </a:p>
        </p:txBody>
      </p:sp>
      <p:sp>
        <p:nvSpPr>
          <p:cNvPr id="6" name="TextBox 5"/>
          <p:cNvSpPr txBox="1"/>
          <p:nvPr/>
        </p:nvSpPr>
        <p:spPr>
          <a:xfrm>
            <a:off x="548640" y="4206240"/>
            <a:ext cx="10972800" cy="914400"/>
          </a:xfrm>
          <a:prstGeom prst="rect">
            <a:avLst/>
          </a:prstGeom>
          <a:noFill/>
        </p:spPr>
        <p:txBody>
          <a:bodyPr wrap="square">
            <a:spAutoFit/>
          </a:bodyPr>
          <a:lstStyle/>
          <a:p>
            <a:pPr algn="l"/>
            <a:r>
              <a:rPr sz="2000" b="0">
                <a:solidFill>
                  <a:srgbClr val="FFFFFF"/>
                </a:solidFill>
                <a:latin typeface="Calibri"/>
              </a:rPr>
              <a:t>From CO-STAR to DSPy, GEPA, TextGrad, and ORPO</a:t>
            </a:r>
          </a:p>
        </p:txBody>
      </p:sp>
      <p:sp>
        <p:nvSpPr>
          <p:cNvPr id="7" name="TextBox 6"/>
          <p:cNvSpPr txBox="1"/>
          <p:nvPr/>
        </p:nvSpPr>
        <p:spPr>
          <a:xfrm>
            <a:off x="548640" y="6035040"/>
            <a:ext cx="7315200" cy="365760"/>
          </a:xfrm>
          <a:prstGeom prst="rect">
            <a:avLst/>
          </a:prstGeom>
          <a:noFill/>
        </p:spPr>
        <p:txBody>
          <a:bodyPr wrap="square">
            <a:spAutoFit/>
          </a:bodyPr>
          <a:lstStyle/>
          <a:p>
            <a:pPr algn="l"/>
            <a:r>
              <a:rPr sz="1200" b="0">
                <a:solidFill>
                  <a:srgbClr val="FFFFFF"/>
                </a:solidFill>
                <a:latin typeface="Calibri"/>
              </a:rPr>
              <a:t>Sunday, June 28, 2026</a:t>
            </a:r>
          </a:p>
        </p:txBody>
      </p:sp>
      <p:sp>
        <p:nvSpPr>
          <p:cNvPr id="8" name="TextBox 7"/>
          <p:cNvSpPr txBox="1"/>
          <p:nvPr/>
        </p:nvSpPr>
        <p:spPr>
          <a:xfrm>
            <a:off x="548640" y="6400800"/>
            <a:ext cx="9144000" cy="365760"/>
          </a:xfrm>
          <a:prstGeom prst="rect">
            <a:avLst/>
          </a:prstGeom>
          <a:noFill/>
        </p:spPr>
        <p:txBody>
          <a:bodyPr wrap="square">
            <a:spAutoFit/>
          </a:bodyPr>
          <a:lstStyle/>
          <a:p>
            <a:pPr algn="l"/>
            <a:r>
              <a:rPr sz="1200" b="0">
                <a:solidFill>
                  <a:srgbClr val="FFFFFF"/>
                </a:solidFill>
                <a:latin typeface="Calibri"/>
              </a:rPr>
              <a:t>AI Agents and Advanced Fine-Tuning Bootcamp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1</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Today's 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4 | Prompt Engineering and Optimization</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Where we are in the bootcamp</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Prompts are programs. Move from hand-crafted prompting (CO-STAR, few-shot, hallucination mitigation) to optimization frameworks that search prompt space programmatically. Cover DSPy with COPRO and MIPRO, then evolutionary approaches (GEPA, TextGrad, ORPO).</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4 | Prompt Engineering and Optimization</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Learning Objectives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Apply the CO-STAR framework to structure complex prompts</a:t>
            </a:r>
          </a:p>
          <a:p>
            <a:pPr algn="l">
              <a:spcAft>
                <a:spcPts val="600"/>
              </a:spcAft>
            </a:pPr>
            <a:r>
              <a:rPr sz="1500">
                <a:solidFill>
                  <a:srgbClr val="333333"/>
                </a:solidFill>
                <a:latin typeface="Calibri"/>
              </a:rPr>
              <a:t>  •  Build a few-shot prompt with negative examples and a refusal example</a:t>
            </a:r>
          </a:p>
          <a:p>
            <a:pPr algn="l">
              <a:spcAft>
                <a:spcPts val="600"/>
              </a:spcAft>
            </a:pPr>
            <a:r>
              <a:rPr sz="1500">
                <a:solidFill>
                  <a:srgbClr val="333333"/>
                </a:solidFill>
                <a:latin typeface="Calibri"/>
              </a:rPr>
              <a:t>  •  Use DSPy to express a task as a signature and optimize with COPRO and MIPRO</a:t>
            </a:r>
          </a:p>
          <a:p>
            <a:pPr algn="l">
              <a:spcAft>
                <a:spcPts val="600"/>
              </a:spcAft>
            </a:pPr>
            <a:r>
              <a:rPr sz="1500">
                <a:solidFill>
                  <a:srgbClr val="333333"/>
                </a:solidFill>
                <a:latin typeface="Calibri"/>
              </a:rPr>
              <a:t>  •  Run GEPA or TextGrad to optimize a prompt with gradient-style feedback</a:t>
            </a:r>
          </a:p>
          <a:p>
            <a:pPr algn="l">
              <a:spcAft>
                <a:spcPts val="600"/>
              </a:spcAft>
            </a:pPr>
            <a:r>
              <a:rPr sz="1500">
                <a:solidFill>
                  <a:srgbClr val="333333"/>
                </a:solidFill>
                <a:latin typeface="Calibri"/>
              </a:rPr>
              <a:t>  •  Compare hand-crafted prompts against optimized prompts on a fixed eval set</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2</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Concepts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4 | Prompt Engineering and Optimization</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CO-STAR framework</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Context, Objective, Style, Tone, Audience, Response format. Each field has a single purpose. Skipping fields produces predictable failure modes.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4 | Prompt Engineering and Optimization</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Few-shot prompting done right</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Diversity matters more than count. Include the boundary case and the explicit refusal. Order matters: recency bias is real.</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4 | Prompt Engineering and Optimization</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Hallucination mitigation</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Three families: grounding (retrieve before answer), structured output (refuse to emit invalid JSON), and self-consistency (sample N, vote).</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4 | Prompt Engineering and Optimization</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DSPy basics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A Signature defines inputs and outputs. A Module composes signatures. An Optimizer searches over instructions and demonstrations. The Compiler freezes the result.</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4 | Prompt Engineering and Optimization</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COPRO and MIPRO</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COPRO optimizes instructions through coordinate ascent. MIPRO jointly optimizes instructions and demonstrations with Bayesian search.</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4 | Prompt Engineering and Optimization</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GEPA, TextGrad, and ORPO</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GEPA is genetic with reflection. TextGrad treats text as a tensor and uses a critic LLM as the gradient. ORPO unifies preference optimization with reference-free training. Each fits a different stage.</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3</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Deeper Look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4 | Prompt Engineering and Optimization</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CO-STAR as a checklist</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Context (what the model needs to know about the world). Objective (what success looks like for this call). Style (formal, casual, technical). Tone (calm, urgent, neutral). Audience (who reads the output). Response format (plain text, JSON, table). Six fields. Skipping any one produces predictable failures.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4 | Prompt Engineering and Optimization</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Few-shot prompting</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Three to seven examples is the practical sweet spot. Diversity beats count. Always include one boundary case and one explicit refusal. Recency bias is real: the model weights later examples more heavily, so put the most representative example last.</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4 | Prompt Engineering and Optimization</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Hallucination mitigation</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Three families. Grounding: retrieve evidence before the answer. Structured output: refuse to emit invalid JSON. Self-consistency: sample N answers and vote. Combine all three for high-stakes tasks. None of them is a complete fix on its own.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4 | Prompt Engineering and Optimization</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DSPy: signatures, modules, optimizers</a:t>
            </a:r>
          </a:p>
        </p:txBody>
      </p:sp>
      <p:sp>
        <p:nvSpPr>
          <p:cNvPr id="5" name="Rectangle 4"/>
          <p:cNvSpPr/>
          <p:nvPr/>
        </p:nvSpPr>
        <p:spPr>
          <a:xfrm>
            <a:off x="457200" y="1554480"/>
            <a:ext cx="11247120" cy="4937760"/>
          </a:xfrm>
          <a:prstGeom prst="rect">
            <a:avLst/>
          </a:prstGeom>
          <a:solidFill>
            <a:srgbClr val="1B1B2C"/>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a:lstStyle/>
          <a:p>
            <a:pPr algn="ctr">
              <a:spcAft>
                <a:spcPts val="0"/>
              </a:spcAft>
            </a:pPr>
            <a:r>
              <a:rPr sz="1300">
                <a:solidFill>
                  <a:srgbClr val="E6ECF5"/>
                </a:solidFill>
                <a:latin typeface="Consolas"/>
              </a:rPr>
              <a:t>import dspy</a:t>
            </a:r>
          </a:p>
          <a:p>
            <a:pPr>
              <a:spcAft>
                <a:spcPts val="0"/>
              </a:spcAft>
            </a:pPr>
            <a:r>
              <a:rPr sz="1300">
                <a:solidFill>
                  <a:srgbClr val="E6ECF5"/>
                </a:solidFill>
                <a:latin typeface="Consolas"/>
              </a:rPr>
              <a:t> </a:t>
            </a:r>
          </a:p>
          <a:p>
            <a:pPr>
              <a:spcAft>
                <a:spcPts val="0"/>
              </a:spcAft>
            </a:pPr>
            <a:r>
              <a:rPr sz="1300">
                <a:solidFill>
                  <a:srgbClr val="E6ECF5"/>
                </a:solidFill>
                <a:latin typeface="Consolas"/>
              </a:rPr>
              <a:t>class Classify(dspy.Signature):</a:t>
            </a:r>
          </a:p>
          <a:p>
            <a:pPr>
              <a:spcAft>
                <a:spcPts val="0"/>
              </a:spcAft>
            </a:pPr>
            <a:r>
              <a:rPr sz="1300">
                <a:solidFill>
                  <a:srgbClr val="E6ECF5"/>
                </a:solidFill>
                <a:latin typeface="Consolas"/>
              </a:rPr>
              <a:t>    '''Classify the input into one of seven categories</a:t>
            </a:r>
          </a:p>
          <a:p>
            <a:pPr>
              <a:spcAft>
                <a:spcPts val="0"/>
              </a:spcAft>
            </a:pPr>
            <a:r>
              <a:rPr sz="1300">
                <a:solidFill>
                  <a:srgbClr val="E6ECF5"/>
                </a:solidFill>
                <a:latin typeface="Consolas"/>
              </a:rPr>
              <a:t>    or refuse with 'none_of_the_above'.'''</a:t>
            </a:r>
          </a:p>
          <a:p>
            <a:pPr>
              <a:spcAft>
                <a:spcPts val="0"/>
              </a:spcAft>
            </a:pPr>
            <a:r>
              <a:rPr sz="1300">
                <a:solidFill>
                  <a:srgbClr val="E6ECF5"/>
                </a:solidFill>
                <a:latin typeface="Consolas"/>
              </a:rPr>
              <a:t>    text: str = dspy.InputField()</a:t>
            </a:r>
          </a:p>
          <a:p>
            <a:pPr>
              <a:spcAft>
                <a:spcPts val="0"/>
              </a:spcAft>
            </a:pPr>
            <a:r>
              <a:rPr sz="1300">
                <a:solidFill>
                  <a:srgbClr val="E6ECF5"/>
                </a:solidFill>
                <a:latin typeface="Consolas"/>
              </a:rPr>
              <a:t>    label: str = dspy.OutputField()</a:t>
            </a:r>
          </a:p>
          <a:p>
            <a:pPr>
              <a:spcAft>
                <a:spcPts val="0"/>
              </a:spcAft>
            </a:pPr>
            <a:r>
              <a:rPr sz="1300">
                <a:solidFill>
                  <a:srgbClr val="E6ECF5"/>
                </a:solidFill>
                <a:latin typeface="Consolas"/>
              </a:rPr>
              <a:t> </a:t>
            </a:r>
          </a:p>
          <a:p>
            <a:pPr>
              <a:spcAft>
                <a:spcPts val="0"/>
              </a:spcAft>
            </a:pPr>
            <a:r>
              <a:rPr sz="1300">
                <a:solidFill>
                  <a:srgbClr val="E6ECF5"/>
                </a:solidFill>
                <a:latin typeface="Consolas"/>
              </a:rPr>
              <a:t>classifier = dspy.ChainOfThought(Classify)</a:t>
            </a:r>
          </a:p>
          <a:p>
            <a:pPr>
              <a:spcAft>
                <a:spcPts val="0"/>
              </a:spcAft>
            </a:pPr>
            <a:r>
              <a:rPr sz="1300">
                <a:solidFill>
                  <a:srgbClr val="E6ECF5"/>
                </a:solidFill>
                <a:latin typeface="Consolas"/>
              </a:rPr>
              <a:t>optimizer = dspy.MIPRO(metric=accuracy)</a:t>
            </a:r>
          </a:p>
          <a:p>
            <a:pPr>
              <a:spcAft>
                <a:spcPts val="0"/>
              </a:spcAft>
            </a:pPr>
            <a:r>
              <a:rPr sz="1300">
                <a:solidFill>
                  <a:srgbClr val="E6ECF5"/>
                </a:solidFill>
                <a:latin typeface="Consolas"/>
              </a:rPr>
              <a:t>compiled = optimizer.compile(classifier, trainset=train)</a:t>
            </a:r>
          </a:p>
          <a:p>
            <a:pPr>
              <a:spcAft>
                <a:spcPts val="0"/>
              </a:spcAft>
            </a:pPr>
            <a:r>
              <a:rPr sz="1300">
                <a:solidFill>
                  <a:srgbClr val="E6ECF5"/>
                </a:solidFill>
                <a:latin typeface="Consolas"/>
              </a:rPr>
              <a:t> </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4 | Prompt Engineering and Optimization</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COPRO vs MIPRO</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COPRO does coordinate ascent on instructions. Fast, shallow. MIPRO jointly optimizes instructions and demonstrations using Bayesian search. Slower, deeper. Start with COPRO; promote to MIPRO when the gain plateaus.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4 | Prompt Engineering and Optimization</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Evolutionary methods: GEPA, TextGrad, ORPO</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GEPA is genetic with reflection: an LLM critiques each candidate before mutation. TextGrad treats text as a tensor and uses a critic LLM as the gradient. ORPO unifies preference optimization with reference-free training. Each fits a different stage of the lifecycle: GEPA for exploration, TextGrad for refinement, ORPO for direct preference data.</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4</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Papers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4 | Prompt Engineering and Optimization</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DSPy: Compiling Declarative Language Model Calls into Self-Improving Pipelines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Khattab et al., 2023 (arXiv:2310.03714).</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4 | Prompt Engineering and Optimization</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GEPA: Reflective Prompt Evolution</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Reading guide ships with the lab. Foundational for treating prompts as an evolutionary search problem.</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4 | Prompt Engineering and Optimization</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TextGrad: Automatic Differentiation via Text</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Yuksekgonul et al., 2024 (arXiv:2406.07496).</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5</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Review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4 | Prompt Engineering and Optimization</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Review Questions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Write a CO-STAR specification for a tax-question answering agent.</a:t>
            </a:r>
          </a:p>
          <a:p>
            <a:pPr algn="l">
              <a:spcAft>
                <a:spcPts val="600"/>
              </a:spcAft>
            </a:pPr>
            <a:r>
              <a:rPr sz="1500">
                <a:solidFill>
                  <a:srgbClr val="333333"/>
                </a:solidFill>
                <a:latin typeface="Calibri"/>
              </a:rPr>
              <a:t>  •  Why does recency bias argue for putting the canonical example last?</a:t>
            </a:r>
          </a:p>
          <a:p>
            <a:pPr algn="l">
              <a:spcAft>
                <a:spcPts val="600"/>
              </a:spcAft>
            </a:pPr>
            <a:r>
              <a:rPr sz="1500">
                <a:solidFill>
                  <a:srgbClr val="333333"/>
                </a:solidFill>
                <a:latin typeface="Calibri"/>
              </a:rPr>
              <a:t>  •  When does COPRO suffice and when do you reach for MIPRO?</a:t>
            </a:r>
          </a:p>
          <a:p>
            <a:pPr algn="l">
              <a:spcAft>
                <a:spcPts val="600"/>
              </a:spcAft>
            </a:pPr>
            <a:r>
              <a:rPr sz="1500">
                <a:solidFill>
                  <a:srgbClr val="333333"/>
                </a:solidFill>
                <a:latin typeface="Calibri"/>
              </a:rPr>
              <a:t>  •  Give a task where GEPA beats DSPy MIPRO. Why?</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22960"/>
            <a:ext cx="9144000" cy="548640"/>
          </a:xfrm>
          <a:prstGeom prst="rect">
            <a:avLst/>
          </a:prstGeom>
          <a:noFill/>
        </p:spPr>
        <p:txBody>
          <a:bodyPr wrap="square">
            <a:spAutoFit/>
          </a:bodyPr>
          <a:lstStyle/>
          <a:p>
            <a:pPr algn="l"/>
            <a:r>
              <a:rPr sz="1800" b="1">
                <a:solidFill>
                  <a:srgbClr val="2C5FF5"/>
                </a:solidFill>
                <a:latin typeface="Calibri"/>
              </a:rPr>
              <a:t>This Week's Labs</a:t>
            </a:r>
          </a:p>
        </p:txBody>
      </p:sp>
      <p:sp>
        <p:nvSpPr>
          <p:cNvPr id="4" name="TextBox 3"/>
          <p:cNvSpPr txBox="1"/>
          <p:nvPr/>
        </p:nvSpPr>
        <p:spPr>
          <a:xfrm>
            <a:off x="640080" y="1463040"/>
            <a:ext cx="10972800" cy="457200"/>
          </a:xfrm>
          <a:prstGeom prst="rect">
            <a:avLst/>
          </a:prstGeom>
          <a:noFill/>
        </p:spPr>
        <p:txBody>
          <a:bodyPr wrap="square">
            <a:spAutoFit/>
          </a:bodyPr>
          <a:lstStyle/>
          <a:p>
            <a:pPr algn="l"/>
            <a:r>
              <a:rPr sz="1800" b="1">
                <a:solidFill>
                  <a:srgbClr val="FFFFFF"/>
                </a:solidFill>
                <a:latin typeface="Calibri"/>
              </a:rPr>
              <a:t>Lab A: Advanced prompting: structured outputs and refusal</a:t>
            </a:r>
          </a:p>
        </p:txBody>
      </p:sp>
      <p:sp>
        <p:nvSpPr>
          <p:cNvPr id="5" name="TextBox 4"/>
          <p:cNvSpPr txBox="1"/>
          <p:nvPr/>
        </p:nvSpPr>
        <p:spPr>
          <a:xfrm>
            <a:off x="822960" y="1828800"/>
            <a:ext cx="10972800" cy="640080"/>
          </a:xfrm>
          <a:prstGeom prst="rect">
            <a:avLst/>
          </a:prstGeom>
          <a:noFill/>
        </p:spPr>
        <p:txBody>
          <a:bodyPr wrap="square">
            <a:spAutoFit/>
          </a:bodyPr>
          <a:lstStyle/>
          <a:p>
            <a:pPr algn="l"/>
            <a:r>
              <a:rPr sz="1200" b="0">
                <a:solidFill>
                  <a:srgbClr val="FFFFFF"/>
                </a:solidFill>
                <a:latin typeface="Calibri"/>
              </a:rPr>
              <a:t>Build a classification prompt that handles seven categories plus a 'none of the above' refusal, with structured JSON output.</a:t>
            </a:r>
          </a:p>
        </p:txBody>
      </p:sp>
      <p:sp>
        <p:nvSpPr>
          <p:cNvPr id="6" name="TextBox 5"/>
          <p:cNvSpPr txBox="1"/>
          <p:nvPr/>
        </p:nvSpPr>
        <p:spPr>
          <a:xfrm>
            <a:off x="640080" y="2286000"/>
            <a:ext cx="10972800" cy="457200"/>
          </a:xfrm>
          <a:prstGeom prst="rect">
            <a:avLst/>
          </a:prstGeom>
          <a:noFill/>
        </p:spPr>
        <p:txBody>
          <a:bodyPr wrap="square">
            <a:spAutoFit/>
          </a:bodyPr>
          <a:lstStyle/>
          <a:p>
            <a:pPr algn="l"/>
            <a:r>
              <a:rPr sz="1800" b="1">
                <a:solidFill>
                  <a:srgbClr val="FFFFFF"/>
                </a:solidFill>
                <a:latin typeface="Calibri"/>
              </a:rPr>
              <a:t>Lab B: DSPy basics: signature, module, optimize</a:t>
            </a:r>
          </a:p>
        </p:txBody>
      </p:sp>
      <p:sp>
        <p:nvSpPr>
          <p:cNvPr id="7" name="TextBox 6"/>
          <p:cNvSpPr txBox="1"/>
          <p:nvPr/>
        </p:nvSpPr>
        <p:spPr>
          <a:xfrm>
            <a:off x="822960" y="2651760"/>
            <a:ext cx="10972800" cy="640080"/>
          </a:xfrm>
          <a:prstGeom prst="rect">
            <a:avLst/>
          </a:prstGeom>
          <a:noFill/>
        </p:spPr>
        <p:txBody>
          <a:bodyPr wrap="square">
            <a:spAutoFit/>
          </a:bodyPr>
          <a:lstStyle/>
          <a:p>
            <a:pPr algn="l"/>
            <a:r>
              <a:rPr sz="1200" b="0">
                <a:solidFill>
                  <a:srgbClr val="FFFFFF"/>
                </a:solidFill>
                <a:latin typeface="Calibri"/>
              </a:rPr>
              <a:t>Express the lab 1 task in DSPy and optimize with both COPRO and MIPRO.</a:t>
            </a:r>
          </a:p>
        </p:txBody>
      </p:sp>
      <p:sp>
        <p:nvSpPr>
          <p:cNvPr id="8" name="TextBox 7"/>
          <p:cNvSpPr txBox="1"/>
          <p:nvPr/>
        </p:nvSpPr>
        <p:spPr>
          <a:xfrm>
            <a:off x="640080" y="3108960"/>
            <a:ext cx="10972800" cy="457200"/>
          </a:xfrm>
          <a:prstGeom prst="rect">
            <a:avLst/>
          </a:prstGeom>
          <a:noFill/>
        </p:spPr>
        <p:txBody>
          <a:bodyPr wrap="square">
            <a:spAutoFit/>
          </a:bodyPr>
          <a:lstStyle/>
          <a:p>
            <a:pPr algn="l"/>
            <a:r>
              <a:rPr sz="1800" b="1">
                <a:solidFill>
                  <a:srgbClr val="FFFFFF"/>
                </a:solidFill>
                <a:latin typeface="Calibri"/>
              </a:rPr>
              <a:t>Lab C: Evolutionary prompt optimization with GEPA</a:t>
            </a:r>
          </a:p>
        </p:txBody>
      </p:sp>
      <p:sp>
        <p:nvSpPr>
          <p:cNvPr id="9" name="TextBox 8"/>
          <p:cNvSpPr txBox="1"/>
          <p:nvPr/>
        </p:nvSpPr>
        <p:spPr>
          <a:xfrm>
            <a:off x="822960" y="3474720"/>
            <a:ext cx="10972800" cy="640080"/>
          </a:xfrm>
          <a:prstGeom prst="rect">
            <a:avLst/>
          </a:prstGeom>
          <a:noFill/>
        </p:spPr>
        <p:txBody>
          <a:bodyPr wrap="square">
            <a:spAutoFit/>
          </a:bodyPr>
          <a:lstStyle/>
          <a:p>
            <a:pPr algn="l"/>
            <a:r>
              <a:rPr sz="1200" b="0">
                <a:solidFill>
                  <a:srgbClr val="FFFFFF"/>
                </a:solidFill>
                <a:latin typeface="Calibri"/>
              </a:rPr>
              <a:t>Run GEPA on the same task and beat the DSPy baseline.</a:t>
            </a:r>
          </a:p>
        </p:txBody>
      </p:sp>
      <p:sp>
        <p:nvSpPr>
          <p:cNvPr id="10" name="TextBox 9"/>
          <p:cNvSpPr txBox="1"/>
          <p:nvPr/>
        </p:nvSpPr>
        <p:spPr>
          <a:xfrm>
            <a:off x="640080" y="6400800"/>
            <a:ext cx="10972800" cy="365760"/>
          </a:xfrm>
          <a:prstGeom prst="rect">
            <a:avLst/>
          </a:prstGeom>
          <a:noFill/>
        </p:spPr>
        <p:txBody>
          <a:bodyPr wrap="square">
            <a:spAutoFit/>
          </a:bodyPr>
          <a:lstStyle/>
          <a:p>
            <a:pPr algn="l"/>
            <a:r>
              <a:rPr sz="1200" b="0">
                <a:solidFill>
                  <a:srgbClr val="FFFFFF"/>
                </a:solidFill>
                <a:latin typeface="Calibri"/>
              </a:rPr>
              <a:t>Quiz on Wednesday | Project due next Sunday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