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4</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Prompt Engineering and Optimization</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From CO-STAR to DSPy, GEPA, TextGrad, and OPRO</a:t>
            </a:r>
          </a:p>
        </p:txBody>
      </p:sp>
      <p:sp>
        <p:nvSpPr>
          <p:cNvPr id="7" name="TextBox 6"/>
          <p:cNvSpPr txBox="1"/>
          <p:nvPr/>
        </p:nvSpPr>
        <p:spPr>
          <a:xfrm>
            <a:off x="548640" y="6035040"/>
            <a:ext cx="7315200" cy="365760"/>
          </a:xfrm>
          <a:prstGeom prst="rect">
            <a:avLst/>
          </a:prstGeom>
          <a:noFill/>
        </p:spPr>
        <p:txBody>
          <a:bodyPr wrap="square">
            <a:spAutoFit/>
          </a:bodyPr>
          <a:lstStyle/>
          <a:p>
            <a:pPr algn="l"/>
            <a:r>
              <a:rPr sz="1200" b="0">
                <a:solidFill>
                  <a:srgbClr val="FFFFFF"/>
                </a:solidFill>
                <a:latin typeface="Calibri"/>
              </a:rPr>
              <a:t>Sunday, October 25, 2026</a:t>
            </a:r>
          </a:p>
        </p:txBody>
      </p:sp>
      <p:sp>
        <p:nvSpPr>
          <p:cNvPr id="8" name="TextBox 7"/>
          <p:cNvSpPr txBox="1"/>
          <p:nvPr/>
        </p:nvSpPr>
        <p:spPr>
          <a:xfrm>
            <a:off x="548640" y="6400800"/>
            <a:ext cx="9144000" cy="365760"/>
          </a:xfrm>
          <a:prstGeom prst="rect">
            <a:avLst/>
          </a:prstGeom>
          <a:noFill/>
        </p:spPr>
        <p:txBody>
          <a:bodyPr wrap="square">
            <a:spAutoFit/>
          </a:bodyPr>
          <a:lstStyle/>
          <a:p>
            <a:pPr algn="l"/>
            <a:r>
              <a:rPr sz="1200" b="0">
                <a:solidFill>
                  <a:srgbClr val="FFFFFF"/>
                </a:solidFill>
                <a:latin typeface="Calibri"/>
              </a:rPr>
              <a:t>AI Agents and Advanced Fine-Tuning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Prompts are programs. Move from hand-crafted prompting (CO-STAR, few-shot, hallucination mitigation) to optimization frameworks that search prompt space programmatically. Cover DSPy with COPRO and MIPRO, then prompt optimizers that search a larger space (GEPA, TextGrad, OPRO).</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Apply the CO-STAR framework to structure complex prompts</a:t>
            </a:r>
          </a:p>
          <a:p>
            <a:pPr algn="l">
              <a:spcAft>
                <a:spcPts val="600"/>
              </a:spcAft>
            </a:pPr>
            <a:r>
              <a:rPr sz="1500">
                <a:solidFill>
                  <a:srgbClr val="333333"/>
                </a:solidFill>
                <a:latin typeface="Calibri"/>
              </a:rPr>
              <a:t>  •  Build a few-shot prompt with negative examples and a refusal example</a:t>
            </a:r>
          </a:p>
          <a:p>
            <a:pPr algn="l">
              <a:spcAft>
                <a:spcPts val="600"/>
              </a:spcAft>
            </a:pPr>
            <a:r>
              <a:rPr sz="1500">
                <a:solidFill>
                  <a:srgbClr val="333333"/>
                </a:solidFill>
                <a:latin typeface="Calibri"/>
              </a:rPr>
              <a:t>  •  Use DSPy to express a task as a signature and optimize with COPRO and MIPRO</a:t>
            </a:r>
          </a:p>
          <a:p>
            <a:pPr algn="l">
              <a:spcAft>
                <a:spcPts val="600"/>
              </a:spcAft>
            </a:pPr>
            <a:r>
              <a:rPr sz="1500">
                <a:solidFill>
                  <a:srgbClr val="333333"/>
                </a:solidFill>
                <a:latin typeface="Calibri"/>
              </a:rPr>
              <a:t>  •  Run GEPA or TextGrad to optimize a prompt with gradient-style feedback</a:t>
            </a:r>
          </a:p>
          <a:p>
            <a:pPr algn="l">
              <a:spcAft>
                <a:spcPts val="600"/>
              </a:spcAft>
            </a:pPr>
            <a:r>
              <a:rPr sz="1500">
                <a:solidFill>
                  <a:srgbClr val="333333"/>
                </a:solidFill>
                <a:latin typeface="Calibri"/>
              </a:rPr>
              <a:t>  •  Compare hand-crafted prompts against optimized prompts on a fixed eval set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CO-STAR framework</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Context, Objective, Style, Tone, Audience, Response format. Each field has a single purpose. Skipping fields produces predictable failure modes.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Few-shot prompting done right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Diversity matters more than count. Include the boundary case and the explicit refusal. Order matters: recency bias is real.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Hallucination mitigation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Three families: grounding (retrieve before answer), structured output (refuse to emit invalid JSON), and self-consistency (sample N, vote).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DSPy basics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 Signature defines inputs and outputs. A Module composes signatures. An Optimizer searches over instructions and demonstrations. The Compiler freezes the result.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COPRO and MIPRO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COPRO optimizes instructions through coordinate ascent. MIPRO jointly optimizes instructions and demonstrations with Bayesian search.</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Prompt optimizers: GEPA, TextGrad, OPRO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GEPA is genetic with reflection. TextGrad treats text as a tensor and uses a critic LLM as the gradient. OPRO uses an LLM as the optimizer: it reads the trajectory of prior prompts and their scores, then proposes better prompts. Each fits a different stage. Do not confuse OPRO with ORPO, which unifies preference optimization with reference-free training; ORPO is a preference fine-tuning method (weights, not prompts) and pairs with DPO in Week 6.</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CO-STAR as a checklist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Context (what the model needs to know about the world). Objective (what success looks like for this call). Style (formal, casual, technical). Tone (calm, urgent, neutral). Audience (who reads the output). Response format (plain text, JSON, table). Six fields. Skipping any one produces predictable failures.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Few-shot prompting</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Three to seven examples is the practical sweet spot. Diversity beats count. Always include one boundary case and one explicit refusal. Recency bias is real: the model weights later examples more heavily, so put the most representative example last.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Hallucination mitigation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Three families. Grounding: retrieve evidence before the answer. Structured output: refuse to emit invalid JSON. Self-consistency: sample N answers and vote. Combine all three for high-stakes tasks. None of them is a complete fix on its own.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DSPy: signatures, modules, optimizers</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import dspy</a:t>
            </a:r>
          </a:p>
          <a:p>
            <a:pPr>
              <a:spcAft>
                <a:spcPts val="0"/>
              </a:spcAft>
            </a:pPr>
            <a:r>
              <a:rPr sz="1300">
                <a:solidFill>
                  <a:srgbClr val="E6ECF5"/>
                </a:solidFill>
                <a:latin typeface="Consolas"/>
              </a:rPr>
              <a:t> </a:t>
            </a:r>
          </a:p>
          <a:p>
            <a:pPr>
              <a:spcAft>
                <a:spcPts val="0"/>
              </a:spcAft>
            </a:pPr>
            <a:r>
              <a:rPr sz="1300">
                <a:solidFill>
                  <a:srgbClr val="E6ECF5"/>
                </a:solidFill>
                <a:latin typeface="Consolas"/>
              </a:rPr>
              <a:t>class Classify(dspy.Signature):</a:t>
            </a:r>
          </a:p>
          <a:p>
            <a:pPr>
              <a:spcAft>
                <a:spcPts val="0"/>
              </a:spcAft>
            </a:pPr>
            <a:r>
              <a:rPr sz="1300">
                <a:solidFill>
                  <a:srgbClr val="E6ECF5"/>
                </a:solidFill>
                <a:latin typeface="Consolas"/>
              </a:rPr>
              <a:t>    '''Classify the input into one of seven categories</a:t>
            </a:r>
          </a:p>
          <a:p>
            <a:pPr>
              <a:spcAft>
                <a:spcPts val="0"/>
              </a:spcAft>
            </a:pPr>
            <a:r>
              <a:rPr sz="1300">
                <a:solidFill>
                  <a:srgbClr val="E6ECF5"/>
                </a:solidFill>
                <a:latin typeface="Consolas"/>
              </a:rPr>
              <a:t>    or refuse with 'none_of_the_above'.'''</a:t>
            </a:r>
          </a:p>
          <a:p>
            <a:pPr>
              <a:spcAft>
                <a:spcPts val="0"/>
              </a:spcAft>
            </a:pPr>
            <a:r>
              <a:rPr sz="1300">
                <a:solidFill>
                  <a:srgbClr val="E6ECF5"/>
                </a:solidFill>
                <a:latin typeface="Consolas"/>
              </a:rPr>
              <a:t>    text: str = dspy.InputField()</a:t>
            </a:r>
          </a:p>
          <a:p>
            <a:pPr>
              <a:spcAft>
                <a:spcPts val="0"/>
              </a:spcAft>
            </a:pPr>
            <a:r>
              <a:rPr sz="1300">
                <a:solidFill>
                  <a:srgbClr val="E6ECF5"/>
                </a:solidFill>
                <a:latin typeface="Consolas"/>
              </a:rPr>
              <a:t>    label: str = dspy.OutputField()</a:t>
            </a:r>
          </a:p>
          <a:p>
            <a:pPr>
              <a:spcAft>
                <a:spcPts val="0"/>
              </a:spcAft>
            </a:pPr>
            <a:r>
              <a:rPr sz="1300">
                <a:solidFill>
                  <a:srgbClr val="E6ECF5"/>
                </a:solidFill>
                <a:latin typeface="Consolas"/>
              </a:rPr>
              <a:t> </a:t>
            </a:r>
          </a:p>
          <a:p>
            <a:pPr>
              <a:spcAft>
                <a:spcPts val="0"/>
              </a:spcAft>
            </a:pPr>
            <a:r>
              <a:rPr sz="1300">
                <a:solidFill>
                  <a:srgbClr val="E6ECF5"/>
                </a:solidFill>
                <a:latin typeface="Consolas"/>
              </a:rPr>
              <a:t>classifier = dspy.ChainOfThought(Classify)</a:t>
            </a:r>
          </a:p>
          <a:p>
            <a:pPr>
              <a:spcAft>
                <a:spcPts val="0"/>
              </a:spcAft>
            </a:pPr>
            <a:r>
              <a:rPr sz="1300">
                <a:solidFill>
                  <a:srgbClr val="E6ECF5"/>
                </a:solidFill>
                <a:latin typeface="Consolas"/>
              </a:rPr>
              <a:t>optimizer = dspy.MIPRO(metric=accuracy)</a:t>
            </a:r>
          </a:p>
          <a:p>
            <a:pPr>
              <a:spcAft>
                <a:spcPts val="0"/>
              </a:spcAft>
            </a:pPr>
            <a:r>
              <a:rPr sz="1300">
                <a:solidFill>
                  <a:srgbClr val="E6ECF5"/>
                </a:solidFill>
                <a:latin typeface="Consolas"/>
              </a:rPr>
              <a:t>compiled = optimizer.compile(classifier, trainset=train)</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COPRO vs MIPRO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COPRO does coordinate ascent on instructions. Fast, shallow. MIPRO jointly optimizes instructions and demonstrations using Bayesian search. Slower, deeper. Start with COPRO; promote to MIPRO when the gain plateaus.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Prompt optimizers: GEPA, TextGrad, OPRO</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GEPA is genetic with reflection: an LLM critiques each candidate before mutation. TextGrad treats text as a tensor and uses a critic LLM as the gradient. OPRO uses an LLM as the optimizer: it reads the trajectory of prior prompts and their scores, then proposes better prompts. Each fits a different stage of the lifecycle: GEPA for exploration, TextGrad for refinement, OPRO for iterative scored search. A note on naming: ORPO unifies preference optimization with reference-free training, but ORPO itself is a preference fine-tuning method (weights, not prompts); it pairs with DPO in Week 6.</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DSPy: Compiling Declarative Language Model Calls into Self-Improving Pipelines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Khattab et al., 2023 (arXiv:2310.03714).</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GEPA: Reflective Prompt Evolution</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Reading guide ships with the lab. Foundational for treating prompts as an evolutionary search problem.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TextGrad: Automatic Differentiation via Text</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Yuksekgonul et al., 2024 (arXiv:2406.07496).</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4 | Prompt Engineering and Optimization</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Write a CO-STAR specification for a tax-question answering agent.</a:t>
            </a:r>
          </a:p>
          <a:p>
            <a:pPr algn="l">
              <a:spcAft>
                <a:spcPts val="600"/>
              </a:spcAft>
            </a:pPr>
            <a:r>
              <a:rPr sz="1500">
                <a:solidFill>
                  <a:srgbClr val="333333"/>
                </a:solidFill>
                <a:latin typeface="Calibri"/>
              </a:rPr>
              <a:t>  •  Why does recency bias argue for putting the canonical example last?</a:t>
            </a:r>
          </a:p>
          <a:p>
            <a:pPr algn="l">
              <a:spcAft>
                <a:spcPts val="600"/>
              </a:spcAft>
            </a:pPr>
            <a:r>
              <a:rPr sz="1500">
                <a:solidFill>
                  <a:srgbClr val="333333"/>
                </a:solidFill>
                <a:latin typeface="Calibri"/>
              </a:rPr>
              <a:t>  •  When does COPRO suffice and when do you reach for MIPRO?</a:t>
            </a:r>
          </a:p>
          <a:p>
            <a:pPr algn="l">
              <a:spcAft>
                <a:spcPts val="600"/>
              </a:spcAft>
            </a:pPr>
            <a:r>
              <a:rPr sz="1500">
                <a:solidFill>
                  <a:srgbClr val="333333"/>
                </a:solidFill>
                <a:latin typeface="Calibri"/>
              </a:rPr>
              <a:t>  •  Give a task where GEPA beats DSPy MIPRO. Why?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Advanced prompting: structured outputs and refusal</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Build a classification prompt that handles seven categories plus a 'none of the above' refusal, with structured JSON output.</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DSPy basics: signature, module, optimize</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Express the lab 1 task in DSPy and optimize with both COPRO and MIPRO.</a:t>
            </a:r>
          </a:p>
        </p:txBody>
      </p:sp>
      <p:sp>
        <p:nvSpPr>
          <p:cNvPr id="8" name="TextBox 7"/>
          <p:cNvSpPr txBox="1"/>
          <p:nvPr/>
        </p:nvSpPr>
        <p:spPr>
          <a:xfrm>
            <a:off x="640080" y="3108960"/>
            <a:ext cx="10972800" cy="457200"/>
          </a:xfrm>
          <a:prstGeom prst="rect">
            <a:avLst/>
          </a:prstGeom>
          <a:noFill/>
        </p:spPr>
        <p:txBody>
          <a:bodyPr wrap="square">
            <a:spAutoFit/>
          </a:bodyPr>
          <a:lstStyle/>
          <a:p>
            <a:pPr algn="l"/>
            <a:r>
              <a:rPr sz="1800" b="1">
                <a:solidFill>
                  <a:srgbClr val="FFFFFF"/>
                </a:solidFill>
                <a:latin typeface="Calibri"/>
              </a:rPr>
              <a:t>Lab C: Evolutionary prompt optimization with GEPA</a:t>
            </a:r>
          </a:p>
        </p:txBody>
      </p:sp>
      <p:sp>
        <p:nvSpPr>
          <p:cNvPr id="9" name="TextBox 8"/>
          <p:cNvSpPr txBox="1"/>
          <p:nvPr/>
        </p:nvSpPr>
        <p:spPr>
          <a:xfrm>
            <a:off x="822960" y="3474720"/>
            <a:ext cx="10972800" cy="640080"/>
          </a:xfrm>
          <a:prstGeom prst="rect">
            <a:avLst/>
          </a:prstGeom>
          <a:noFill/>
        </p:spPr>
        <p:txBody>
          <a:bodyPr wrap="square">
            <a:spAutoFit/>
          </a:bodyPr>
          <a:lstStyle/>
          <a:p>
            <a:pPr algn="l"/>
            <a:r>
              <a:rPr sz="1200" b="0">
                <a:solidFill>
                  <a:srgbClr val="FFFFFF"/>
                </a:solidFill>
                <a:latin typeface="Calibri"/>
              </a:rPr>
              <a:t>Run GEPA on the same task and beat the DSPy baseline.</a:t>
            </a:r>
          </a:p>
        </p:txBody>
      </p:sp>
      <p:sp>
        <p:nvSpPr>
          <p:cNvPr id="10" name="TextBox 9"/>
          <p:cNvSpPr txBox="1"/>
          <p:nvPr/>
        </p:nvSpPr>
        <p:spPr>
          <a:xfrm>
            <a:off x="640080" y="6400800"/>
            <a:ext cx="10972800" cy="365760"/>
          </a:xfrm>
          <a:prstGeom prst="rect">
            <a:avLst/>
          </a:prstGeom>
          <a:noFill/>
        </p:spPr>
        <p:txBody>
          <a:bodyPr wrap="square">
            <a:spAutoFit/>
          </a:bodyPr>
          <a:lstStyle/>
          <a:p>
            <a:pPr algn="l"/>
            <a:r>
              <a:rPr sz="1200" b="0">
                <a:solidFill>
                  <a:srgbClr val="FFFFFF"/>
                </a:solidFill>
                <a:latin typeface="Calibri"/>
              </a:rPr>
              <a:t>Quiz on Wednesday | Project due next Sunday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