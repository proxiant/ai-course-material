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1</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Introduction to Language Models</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From keyword search to semantic understanding</a:t>
            </a:r>
          </a:p>
        </p:txBody>
      </p:sp>
      <p:sp>
        <p:nvSpPr>
          <p:cNvPr id="7" name="TextBox 6"/>
          <p:cNvSpPr txBox="1"/>
          <p:nvPr/>
        </p:nvSpPr>
        <p:spPr>
          <a:xfrm>
            <a:off x="548640" y="5760720"/>
            <a:ext cx="7315200" cy="365760"/>
          </a:xfrm>
          <a:prstGeom prst="rect">
            <a:avLst/>
          </a:prstGeom>
          <a:noFill/>
        </p:spPr>
        <p:txBody>
          <a:bodyPr wrap="square">
            <a:spAutoFit/>
          </a:bodyPr>
          <a:lstStyle/>
          <a:p>
            <a:pPr algn="l"/>
            <a:r>
              <a:rPr sz="1200" b="0">
                <a:solidFill>
                  <a:srgbClr val="FFFFFF"/>
                </a:solidFill>
                <a:latin typeface="Calibri"/>
              </a:rPr>
              <a:t>Saturday, October 3, 2026</a:t>
            </a:r>
          </a:p>
        </p:txBody>
      </p:sp>
      <p:sp>
        <p:nvSpPr>
          <p:cNvPr id="8" name="TextBox 7"/>
          <p:cNvSpPr txBox="1"/>
          <p:nvPr/>
        </p:nvSpPr>
        <p:spPr>
          <a:xfrm>
            <a:off x="548640" y="612648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Open day for the bootcamp. Trace the path from keyword search (TF-IDF, BM25) to semantic understanding via Transformers. Cover self-attention with Q, K, V. Introduce high-dimensional embeddings, approximate nearest neighbor (ANN) search, and the operational realities of running a vector database. The lab gets every student onto the Ray cluster and through a simple end-to-end RA</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Trace the limits of keyword-based search and why semantic retrieval is needed</a:t>
            </a:r>
          </a:p>
          <a:p>
            <a:pPr>
              <a:spcAft>
                <a:spcPts val="600"/>
              </a:spcAft>
            </a:pPr>
            <a:r>
              <a:rPr sz="1500">
                <a:solidFill>
                  <a:srgbClr val="333333"/>
                </a:solidFill>
                <a:latin typeface="Calibri"/>
              </a:rPr>
              <a:t>  •  Explain self-attention using Q, K, V projections and the scaled-dot-product</a:t>
            </a:r>
          </a:p>
          <a:p>
            <a:pPr>
              <a:spcAft>
                <a:spcPts val="600"/>
              </a:spcAft>
            </a:pPr>
            <a:r>
              <a:rPr sz="1500">
                <a:solidFill>
                  <a:srgbClr val="333333"/>
                </a:solidFill>
                <a:latin typeface="Calibri"/>
              </a:rPr>
              <a:t>  •  Distinguish encoder, decoder, and encoder-decoder transformer families</a:t>
            </a:r>
          </a:p>
          <a:p>
            <a:pPr>
              <a:spcAft>
                <a:spcPts val="600"/>
              </a:spcAft>
            </a:pPr>
            <a:r>
              <a:rPr sz="1500">
                <a:solidFill>
                  <a:srgbClr val="333333"/>
                </a:solidFill>
                <a:latin typeface="Calibri"/>
              </a:rPr>
              <a:t>  •  Describe ANN search tradeoffs (HNSW, IVF, PQ) at a working-engineer level</a:t>
            </a:r>
          </a:p>
          <a:p>
            <a:pPr>
              <a:spcAft>
                <a:spcPts val="600"/>
              </a:spcAft>
            </a:pPr>
            <a:r>
              <a:rPr sz="1500">
                <a:solidFill>
                  <a:srgbClr val="333333"/>
                </a:solidFill>
                <a:latin typeface="Calibri"/>
              </a:rPr>
              <a:t>  •  Stand up a simple RAG pipeline (loader, chunker, embedder, store, retriever, generator)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limits of keyword search</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TF-IDF and BM25 are still strong baselines on keyword-heavy queries. They fail when the query and the document share meaning but no words. Semantic search exists to close that gap.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The transformer attention mechanism</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Self-attention computes a weighted combination of value vectors where the weights come from softmax(Q K^T / sqrt(d)). The scaling by sqrt(d) keeps softmax in a usable range as dimension grows.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Encoder vs decoder</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Encoder models (BERT family) produce strong embeddings. Decoder models (GPT family) generate text. Encoder-decoder models (T5) do both. Pick based on the downstream task, not the popularity.</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Embeddings as the universal currency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Every retrieval, classification, and clustering system runs on embeddings. The objective the embedder was trained with shapes the geometry you get downstream.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ANN search in practice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Exact search is O(n) per query. ANN trades recall for speed. HNSW is the default; IVF is memory-friendly at scale; product quantization compresses the vectors themselves.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Vector database realities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Index build time, RAM footprint, recall at k, query throughput, and update cost are the five numbers that matter. Benchmark against your data before committing.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From keyword search to semantic understanding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BM25 has been the IR baseline since the 1980s. It is still strong. The case for semantic search is not that BM25 is bad; it is that BM25 cannot match meaning when the surface form differs. A user asking about 'cardiac arrest' is not helped by an article that uses 'heart attack' throughout. Dense retrieval closes that gap.</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Self-attention in one screen</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import torch.nn.functional as F</a:t>
            </a:r>
          </a:p>
          <a:p>
            <a:pPr>
              <a:spcAft>
                <a:spcPts val="0"/>
              </a:spcAft>
            </a:pPr>
            <a:r>
              <a:rPr sz="1300">
                <a:solidFill>
                  <a:srgbClr val="E6ECF5"/>
                </a:solidFill>
                <a:latin typeface="Consolas"/>
              </a:rPr>
              <a:t>import math</a:t>
            </a:r>
          </a:p>
          <a:p>
            <a:pPr>
              <a:spcAft>
                <a:spcPts val="0"/>
              </a:spcAft>
            </a:pPr>
            <a:r>
              <a:rPr sz="1300">
                <a:solidFill>
                  <a:srgbClr val="E6ECF5"/>
                </a:solidFill>
                <a:latin typeface="Consolas"/>
              </a:rPr>
              <a:t> </a:t>
            </a:r>
          </a:p>
          <a:p>
            <a:pPr>
              <a:spcAft>
                <a:spcPts val="0"/>
              </a:spcAft>
            </a:pPr>
            <a:r>
              <a:rPr sz="1300">
                <a:solidFill>
                  <a:srgbClr val="E6ECF5"/>
                </a:solidFill>
                <a:latin typeface="Consolas"/>
              </a:rPr>
              <a:t>def attention(Q, K, V, mask=None):</a:t>
            </a:r>
          </a:p>
          <a:p>
            <a:pPr>
              <a:spcAft>
                <a:spcPts val="0"/>
              </a:spcAft>
            </a:pPr>
            <a:r>
              <a:rPr sz="1300">
                <a:solidFill>
                  <a:srgbClr val="E6ECF5"/>
                </a:solidFill>
                <a:latin typeface="Consolas"/>
              </a:rPr>
              <a:t>    d = Q.size(-1)</a:t>
            </a:r>
          </a:p>
          <a:p>
            <a:pPr>
              <a:spcAft>
                <a:spcPts val="0"/>
              </a:spcAft>
            </a:pPr>
            <a:r>
              <a:rPr sz="1300">
                <a:solidFill>
                  <a:srgbClr val="E6ECF5"/>
                </a:solidFill>
                <a:latin typeface="Consolas"/>
              </a:rPr>
              <a:t>    scores = Q @ K.transpose(-2, -1) / math.sqrt(d)</a:t>
            </a:r>
          </a:p>
          <a:p>
            <a:pPr>
              <a:spcAft>
                <a:spcPts val="0"/>
              </a:spcAft>
            </a:pPr>
            <a:r>
              <a:rPr sz="1300">
                <a:solidFill>
                  <a:srgbClr val="E6ECF5"/>
                </a:solidFill>
                <a:latin typeface="Consolas"/>
              </a:rPr>
              <a:t>    if mask is not None:</a:t>
            </a:r>
          </a:p>
          <a:p>
            <a:pPr>
              <a:spcAft>
                <a:spcPts val="0"/>
              </a:spcAft>
            </a:pPr>
            <a:r>
              <a:rPr sz="1300">
                <a:solidFill>
                  <a:srgbClr val="E6ECF5"/>
                </a:solidFill>
                <a:latin typeface="Consolas"/>
              </a:rPr>
              <a:t>        scores = scores.masked_fill(mask == 0, -1e9)</a:t>
            </a:r>
          </a:p>
          <a:p>
            <a:pPr>
              <a:spcAft>
                <a:spcPts val="0"/>
              </a:spcAft>
            </a:pPr>
            <a:r>
              <a:rPr sz="1300">
                <a:solidFill>
                  <a:srgbClr val="E6ECF5"/>
                </a:solidFill>
                <a:latin typeface="Consolas"/>
              </a:rPr>
              <a:t>    weights = F.softmax(scores, dim=-1)</a:t>
            </a:r>
          </a:p>
          <a:p>
            <a:pPr>
              <a:spcAft>
                <a:spcPts val="0"/>
              </a:spcAft>
            </a:pPr>
            <a:r>
              <a:rPr sz="1300">
                <a:solidFill>
                  <a:srgbClr val="E6ECF5"/>
                </a:solidFill>
                <a:latin typeface="Consolas"/>
              </a:rPr>
              <a:t>    return weights @ V</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Encoder, decoder, encoder-decoder</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Encoders (BERT) read in both directions and produce rich token representations. They are good for classification and embeddings. Decoders (GPT) read left to right and predict the next token. They are good for generation. Encoder-decoder models (T5) do both. The right choice depends on the task, not the popularity of the model.</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Embeddings as universal currency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An embedding is a point in a high-dimensional space where geometric relationships approximate semantic ones. Cosine similarity becomes meaning similarity. Clustering becomes topic grouping. Classifiers become shallow heads on top. The training objective shapes the geometry; that fact will matter throughout the course.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ANN search at a working level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Brute-force similarity search is O(n) per query. For a million vectors at 768 dimensions, that is roughly 3 GB at float32 (768 dims × 4 bytes × 1M) to scan per query. ANN trades a small amount of recall for orders of magnitude speedup. HNSW is the default for moderate scale; IVF for memory pressure; product quantization for both at billion scale.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The five numbers for a vector database</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Index build time. RAM footprint. Recall at k. Query throughput. Update cost. Benchmark all five on your data before committing. Marketing pages list peak throughput; real workloads sit at percentiles.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Attention Is All You Need</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Vaswani et al., 2017 (arXiv:1706.03762). The transformer paper.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Efficient and Robust Approximate Nearest Neighbor Search Using HNSW</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Malkov and Yashunin, 2016 (arXiv:1603.09320). The HNSW paper.</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
        <p:nvSpPr>
          <p:cNvPr id="6" name="TextBox 5"/>
          <p:cNvSpPr txBox="1"/>
          <p:nvPr/>
        </p:nvSpPr>
        <p:spPr>
          <a:xfrm>
            <a:off x="457200" y="6620256"/>
            <a:ext cx="11247120" cy="201168"/>
          </a:xfrm>
          <a:prstGeom prst="rect">
            <a:avLst/>
          </a:prstGeom>
          <a:noFill/>
        </p:spPr>
        <p:txBody>
          <a:bodyPr wrap="square">
            <a:spAutoFit/>
          </a:bodyPr>
          <a:lstStyle/>
          <a:p>
            <a:pPr algn="ctr"/>
            <a:r>
              <a:rPr sz="800" b="0">
                <a:solidFill>
                  <a:srgbClr val="1E2761"/>
                </a:solidFill>
                <a:latin typeface="Calibri"/>
              </a:rPr>
              <a:t>© 2026 Proxiant Academy | info@proxiant.com | proxiant.ai/training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1 | Introduction to Language Models</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Name a query type where BM25 still beats dense retrieval.</a:t>
            </a:r>
          </a:p>
          <a:p>
            <a:pPr>
              <a:spcAft>
                <a:spcPts val="600"/>
              </a:spcAft>
            </a:pPr>
            <a:r>
              <a:rPr sz="1500">
                <a:solidFill>
                  <a:srgbClr val="333333"/>
                </a:solidFill>
                <a:latin typeface="Calibri"/>
              </a:rPr>
              <a:t>  •  Why does the sqrt(d) scaling in attention matter?</a:t>
            </a:r>
          </a:p>
          <a:p>
            <a:pPr>
              <a:spcAft>
                <a:spcPts val="600"/>
              </a:spcAft>
            </a:pPr>
            <a:r>
              <a:rPr sz="1500">
                <a:solidFill>
                  <a:srgbClr val="333333"/>
                </a:solidFill>
                <a:latin typeface="Calibri"/>
              </a:rPr>
              <a:t>  •  Pick a task and choose between encoder, decoder, and encoder-decoder.</a:t>
            </a:r>
          </a:p>
          <a:p>
            <a:pPr>
              <a:spcAft>
                <a:spcPts val="600"/>
              </a:spcAft>
            </a:pPr>
            <a:r>
              <a:rPr sz="1500">
                <a:solidFill>
                  <a:srgbClr val="333333"/>
                </a:solidFill>
                <a:latin typeface="Calibri"/>
              </a:rPr>
              <a:t>  •  When is ANN unacceptable and exact search required?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Environment setup and Ray cluster onboarding</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Provision the Conda environment, register your SSH key, and verify GPU visibility on the Proxiant Ray cluster.</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End-to-end simple RAG walkthrough</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Build a 50-line RAG over a 200-document corpus with FAISS and a small embedder. Generate answers and measure baseline recall.</a:t>
            </a:r>
          </a:p>
        </p:txBody>
      </p:sp>
      <p:sp>
        <p:nvSpPr>
          <p:cNvPr id="8" name="TextBox 7"/>
          <p:cNvSpPr txBox="1"/>
          <p:nvPr/>
        </p:nvSpPr>
        <p:spPr>
          <a:xfrm>
            <a:off x="640080" y="621792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
        <p:nvSpPr>
          <p:cNvPr id="9" name="TextBox 8"/>
          <p:cNvSpPr txBox="1"/>
          <p:nvPr/>
        </p:nvSpPr>
        <p:spPr>
          <a:xfrm>
            <a:off x="457200" y="6620256"/>
            <a:ext cx="11247120" cy="201168"/>
          </a:xfrm>
          <a:prstGeom prst="rect">
            <a:avLst/>
          </a:prstGeom>
          <a:noFill/>
        </p:spPr>
        <p:txBody>
          <a:bodyPr wrap="square">
            <a:spAutoFit/>
          </a:bodyPr>
          <a:lstStyle/>
          <a:p>
            <a:pPr algn="ctr"/>
            <a:r>
              <a:rPr sz="800" b="0">
                <a:solidFill>
                  <a:srgbClr val="FFFFFF"/>
                </a:solidFill>
                <a:latin typeface="Calibri"/>
              </a:rPr>
              <a:t>© 2026 Proxiant Academy | info@proxiant.com | proxiant.ai/training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