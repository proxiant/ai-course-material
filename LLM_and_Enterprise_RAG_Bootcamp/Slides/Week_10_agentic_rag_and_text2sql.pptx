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457200"/>
          </a:xfrm>
          <a:prstGeom prst="rect">
            <a:avLst/>
          </a:prstGeom>
          <a:noFill/>
        </p:spPr>
        <p:txBody>
          <a:bodyPr wrap="square">
            <a:spAutoFit/>
          </a:bodyPr>
          <a:lstStyle/>
          <a:p>
            <a:pPr algn="l"/>
            <a:r>
              <a:rPr sz="1400" b="0">
                <a:solidFill>
                  <a:srgbClr val="FFFFFF"/>
                </a:solidFill>
                <a:latin typeface="Calibri"/>
              </a:rPr>
              <a:t>Proxiant Academy</a:t>
            </a:r>
          </a:p>
        </p:txBody>
      </p:sp>
      <p:sp>
        <p:nvSpPr>
          <p:cNvPr id="4" name="TextBox 3"/>
          <p:cNvSpPr txBox="1"/>
          <p:nvPr/>
        </p:nvSpPr>
        <p:spPr>
          <a:xfrm>
            <a:off x="548640" y="1828800"/>
            <a:ext cx="7315200" cy="640080"/>
          </a:xfrm>
          <a:prstGeom prst="rect">
            <a:avLst/>
          </a:prstGeom>
          <a:noFill/>
        </p:spPr>
        <p:txBody>
          <a:bodyPr wrap="square">
            <a:spAutoFit/>
          </a:bodyPr>
          <a:lstStyle/>
          <a:p>
            <a:pPr algn="l"/>
            <a:r>
              <a:rPr sz="2800" b="1">
                <a:solidFill>
                  <a:srgbClr val="2C5FF5"/>
                </a:solidFill>
                <a:latin typeface="Calibri"/>
              </a:rPr>
              <a:t>Week 10</a:t>
            </a:r>
          </a:p>
        </p:txBody>
      </p:sp>
      <p:sp>
        <p:nvSpPr>
          <p:cNvPr id="5" name="TextBox 4"/>
          <p:cNvSpPr txBox="1"/>
          <p:nvPr/>
        </p:nvSpPr>
        <p:spPr>
          <a:xfrm>
            <a:off x="548640" y="2560320"/>
            <a:ext cx="10972800" cy="1280160"/>
          </a:xfrm>
          <a:prstGeom prst="rect">
            <a:avLst/>
          </a:prstGeom>
          <a:noFill/>
        </p:spPr>
        <p:txBody>
          <a:bodyPr wrap="square">
            <a:spAutoFit/>
          </a:bodyPr>
          <a:lstStyle/>
          <a:p>
            <a:pPr algn="l"/>
            <a:r>
              <a:rPr sz="4400" b="1">
                <a:solidFill>
                  <a:srgbClr val="FFFFFF"/>
                </a:solidFill>
                <a:latin typeface="Calibri"/>
              </a:rPr>
              <a:t>Agentic RAG and Text2SQL</a:t>
            </a:r>
          </a:p>
        </p:txBody>
      </p:sp>
      <p:sp>
        <p:nvSpPr>
          <p:cNvPr id="6" name="TextBox 5"/>
          <p:cNvSpPr txBox="1"/>
          <p:nvPr/>
        </p:nvSpPr>
        <p:spPr>
          <a:xfrm>
            <a:off x="548640" y="4206240"/>
            <a:ext cx="10972800" cy="914400"/>
          </a:xfrm>
          <a:prstGeom prst="rect">
            <a:avLst/>
          </a:prstGeom>
          <a:noFill/>
        </p:spPr>
        <p:txBody>
          <a:bodyPr wrap="square">
            <a:spAutoFit/>
          </a:bodyPr>
          <a:lstStyle/>
          <a:p>
            <a:pPr algn="l"/>
            <a:r>
              <a:rPr sz="2000" b="0">
                <a:solidFill>
                  <a:srgbClr val="FFFFFF"/>
                </a:solidFill>
                <a:latin typeface="Calibri"/>
              </a:rPr>
              <a:t>Agent lifecycles, MCP, and SQL generation in production</a:t>
            </a:r>
          </a:p>
        </p:txBody>
      </p:sp>
      <p:sp>
        <p:nvSpPr>
          <p:cNvPr id="7" name="TextBox 6"/>
          <p:cNvSpPr txBox="1"/>
          <p:nvPr/>
        </p:nvSpPr>
        <p:spPr>
          <a:xfrm>
            <a:off x="548640" y="5760720"/>
            <a:ext cx="7315200" cy="365760"/>
          </a:xfrm>
          <a:prstGeom prst="rect">
            <a:avLst/>
          </a:prstGeom>
          <a:noFill/>
        </p:spPr>
        <p:txBody>
          <a:bodyPr wrap="square">
            <a:spAutoFit/>
          </a:bodyPr>
          <a:lstStyle/>
          <a:p>
            <a:pPr algn="l"/>
            <a:r>
              <a:rPr sz="1200" b="0">
                <a:solidFill>
                  <a:srgbClr val="FFFFFF"/>
                </a:solidFill>
                <a:latin typeface="Calibri"/>
              </a:rPr>
              <a:t>Saturday, December 5, 2026</a:t>
            </a:r>
          </a:p>
        </p:txBody>
      </p:sp>
      <p:sp>
        <p:nvSpPr>
          <p:cNvPr id="8" name="TextBox 7"/>
          <p:cNvSpPr txBox="1"/>
          <p:nvPr/>
        </p:nvSpPr>
        <p:spPr>
          <a:xfrm>
            <a:off x="548640" y="6126480"/>
            <a:ext cx="9144000" cy="365760"/>
          </a:xfrm>
          <a:prstGeom prst="rect">
            <a:avLst/>
          </a:prstGeom>
          <a:noFill/>
        </p:spPr>
        <p:txBody>
          <a:bodyPr wrap="square">
            <a:spAutoFit/>
          </a:bodyPr>
          <a:lstStyle/>
          <a:p>
            <a:pPr algn="l"/>
            <a:r>
              <a:rPr sz="1200" b="0">
                <a:solidFill>
                  <a:srgbClr val="FFFFFF"/>
                </a:solidFill>
                <a:latin typeface="Calibri"/>
              </a:rPr>
              <a:t>LLM and Enterprise RAG Bootcamp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1</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Today's Map</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Where we are in the bootcamp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Two related topics. First: agentic RAG. The agent decides what to retrieve, when to retrieve, and when to stop. Cover the agent lifecycle, MCP for tool integration, and specialization patterns. Second: Text-to-SQL. Cover schema uncertainty, CTE libraries, and reinforcement learning in SQL generation.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Learning Objectives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Implement an agentic RAG that beats static RAG on multi-hop questions</a:t>
            </a:r>
          </a:p>
          <a:p>
            <a:pPr>
              <a:spcAft>
                <a:spcPts val="600"/>
              </a:spcAft>
            </a:pPr>
            <a:r>
              <a:rPr sz="1500">
                <a:solidFill>
                  <a:srgbClr val="333333"/>
                </a:solidFill>
                <a:latin typeface="Calibri"/>
              </a:rPr>
              <a:t>  •  Use MCP to expose tools cleanly to the agent</a:t>
            </a:r>
          </a:p>
          <a:p>
            <a:pPr>
              <a:spcAft>
                <a:spcPts val="600"/>
              </a:spcAft>
            </a:pPr>
            <a:r>
              <a:rPr sz="1500">
                <a:solidFill>
                  <a:srgbClr val="333333"/>
                </a:solidFill>
                <a:latin typeface="Calibri"/>
              </a:rPr>
              <a:t>  •  Build a Text-to-SQL system with schema uncertainty handling</a:t>
            </a:r>
          </a:p>
          <a:p>
            <a:pPr>
              <a:spcAft>
                <a:spcPts val="600"/>
              </a:spcAft>
            </a:pPr>
            <a:r>
              <a:rPr sz="1500">
                <a:solidFill>
                  <a:srgbClr val="333333"/>
                </a:solidFill>
                <a:latin typeface="Calibri"/>
              </a:rPr>
              <a:t>  •  Apply a CTE library to reduce SQL complexity</a:t>
            </a:r>
          </a:p>
          <a:p>
            <a:pPr>
              <a:spcAft>
                <a:spcPts val="600"/>
              </a:spcAft>
            </a:pPr>
            <a:r>
              <a:rPr sz="1500">
                <a:solidFill>
                  <a:srgbClr val="333333"/>
                </a:solidFill>
                <a:latin typeface="Calibri"/>
              </a:rPr>
              <a:t>  •  Reason about when RL helps SQL generation and when it does not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2</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Concepts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agentic lifecycle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Perceive the user's question. Plan the retrieval. Act (call tools). Observe. Decide whether to continue or answer. The loop has a defined termination condition.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Model Context Protocol (MCP)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 clean abstraction for exposing tools to agents. Tool servers, JSON schemas, capability negotiation. The right default for new tool integrations.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Agent specialization patterns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Generalist with many tools. Specialist per domain. Router that picks among specialists. Each pattern has a sweet spot in cost and quality.</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Text-to-SQL architecture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Schema understanding, query planning, SQL generation, verification, execution. Each stage can fail differently; design checkpoints to isolate failures.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Schema uncertainty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Production schemas have hundreds of tables. The model cannot see all of them. Retrieve relevant tables first; pass only those to the SQL generator.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CTE libraries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Pre-built Common Table Expressions for recurring patterns (date ranges, customer segments, revenue calculations). Reduces SQL complexity; the model composes from a known set.</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RL for SQL generation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Reward = SQL executes + matches expected rows. RLVR fits naturally. Most gains come from base SFT; RL adds the last 5 to 15 percentage points.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3</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Deeper Look</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1. The agentic lifecycle</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Perceive the user's question. Plan the retrieval. Act (call tools). Observe results. Decide whether to continue or to answer. The loop has a defined termination condition: an answer, a refusal, or a max-iteration cap.</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2. Model Context Protocol (MCP)</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A clean abstraction for exposing tools to agents. Tool servers, JSON schemas, capability negotiation. FastMCP wraps it with decorator-style Python. The right default for new tool integrations.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3. Agent specialization patterns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Generalist agent with many tools. Specialist per domain. Router that picks among specialists. Each pattern has a sweet spot. Generalist wins until tool selection saturates the model's bandwidth.</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4. Text-to-SQL architecture</a:t>
            </a:r>
          </a:p>
        </p:txBody>
      </p:sp>
      <p:sp>
        <p:nvSpPr>
          <p:cNvPr id="5" name="Rectangle 4"/>
          <p:cNvSpPr/>
          <p:nvPr/>
        </p:nvSpPr>
        <p:spPr>
          <a:xfrm>
            <a:off x="457200" y="1554480"/>
            <a:ext cx="11247120" cy="4937760"/>
          </a:xfrm>
          <a:prstGeom prst="rect">
            <a:avLst/>
          </a:prstGeom>
          <a:solidFill>
            <a:srgbClr val="1B1B2C"/>
          </a:solidFill>
          <a:ln>
            <a:noFill/>
          </a:ln>
        </p:spPr>
        <p:style>
          <a:lnRef idx="1">
            <a:schemeClr val="accent1"/>
          </a:lnRef>
          <a:fillRef idx="3">
            <a:schemeClr val="accent1"/>
          </a:fillRef>
          <a:effectRef idx="2">
            <a:schemeClr val="accent1"/>
          </a:effectRef>
          <a:fontRef idx="minor">
            <a:schemeClr val="lt1"/>
          </a:fontRef>
        </p:style>
        <p:txBody>
          <a:bodyPr rtlCol="0" anchor="ctr" wrap="square" lIns="182880" tIns="182880"/>
          <a:lstStyle/>
          <a:p>
            <a:pPr algn="ctr">
              <a:spcAft>
                <a:spcPts val="0"/>
              </a:spcAft>
            </a:pPr>
            <a:r>
              <a:rPr sz="1300">
                <a:solidFill>
                  <a:srgbClr val="E6ECF5"/>
                </a:solidFill>
                <a:latin typeface="Consolas"/>
              </a:rPr>
              <a:t>def text_to_sql(question, db):</a:t>
            </a:r>
          </a:p>
          <a:p>
            <a:pPr>
              <a:spcAft>
                <a:spcPts val="0"/>
              </a:spcAft>
            </a:pPr>
            <a:r>
              <a:rPr sz="1300">
                <a:solidFill>
                  <a:srgbClr val="E6ECF5"/>
                </a:solidFill>
                <a:latin typeface="Consolas"/>
              </a:rPr>
              <a:t>    relevant_tables = schema_retriever(question, db)</a:t>
            </a:r>
          </a:p>
          <a:p>
            <a:pPr>
              <a:spcAft>
                <a:spcPts val="0"/>
              </a:spcAft>
            </a:pPr>
            <a:r>
              <a:rPr sz="1300">
                <a:solidFill>
                  <a:srgbClr val="E6ECF5"/>
                </a:solidFill>
                <a:latin typeface="Consolas"/>
              </a:rPr>
              <a:t>    plan = planner(question, relevant_tables)</a:t>
            </a:r>
          </a:p>
          <a:p>
            <a:pPr>
              <a:spcAft>
                <a:spcPts val="0"/>
              </a:spcAft>
            </a:pPr>
            <a:r>
              <a:rPr sz="1300">
                <a:solidFill>
                  <a:srgbClr val="E6ECF5"/>
                </a:solidFill>
                <a:latin typeface="Consolas"/>
              </a:rPr>
              <a:t>    sql = sql_generator(plan, relevant_tables)</a:t>
            </a:r>
          </a:p>
          <a:p>
            <a:pPr>
              <a:spcAft>
                <a:spcPts val="0"/>
              </a:spcAft>
            </a:pPr>
            <a:r>
              <a:rPr sz="1300">
                <a:solidFill>
                  <a:srgbClr val="E6ECF5"/>
                </a:solidFill>
                <a:latin typeface="Consolas"/>
              </a:rPr>
              <a:t>    if not is_valid_sql(sql, db):</a:t>
            </a:r>
          </a:p>
          <a:p>
            <a:pPr>
              <a:spcAft>
                <a:spcPts val="0"/>
              </a:spcAft>
            </a:pPr>
            <a:r>
              <a:rPr sz="1300">
                <a:solidFill>
                  <a:srgbClr val="E6ECF5"/>
                </a:solidFill>
                <a:latin typeface="Consolas"/>
              </a:rPr>
              <a:t>        sql = repair(sql, error, plan)</a:t>
            </a:r>
          </a:p>
          <a:p>
            <a:pPr>
              <a:spcAft>
                <a:spcPts val="0"/>
              </a:spcAft>
            </a:pPr>
            <a:r>
              <a:rPr sz="1300">
                <a:solidFill>
                  <a:srgbClr val="E6ECF5"/>
                </a:solidFill>
                <a:latin typeface="Consolas"/>
              </a:rPr>
              <a:t>    return db.execute(sql)</a:t>
            </a:r>
          </a:p>
          <a:p>
            <a:pPr>
              <a:spcAft>
                <a:spcPts val="0"/>
              </a:spcAft>
            </a:pPr>
            <a:r>
              <a:rPr sz="1300">
                <a:solidFill>
                  <a:srgbClr val="E6ECF5"/>
                </a:solidFill>
                <a:latin typeface="Consolas"/>
              </a:rPr>
              <a:t> </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5. Schema uncertainty</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Production schemas have hundreds of tables. The model cannot see them all. Embed table descriptions and column names. Retrieve relevant tables for the question. Pass only those to the SQL generator.</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6. CTE libraries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Pre-built Common Table Expressions for recurring patterns: date ranges, customer segments, revenue calculations. The model composes from a known vocabulary. Reduces complexity and improves correctness.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7. RL for SQL generation</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Reward = SQL executes + result rows match expected. RLVR fits naturally. Most gains come from base SFT (fine-tune on Spider, Bird, or in-house data); RL adds the last 5 to 15 percentage points on hard queries.</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4</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Papers</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Spider: A Large-Scale Human-Labeled Dataset for Complex SQL</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Yu et al., 2018 (arXiv:1809.08887).</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DIN-SQL: Decomposed In-Context Learning of Text-to-SQL</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Pourreza and Rafiei, 2023 (arXiv:2304.11015).</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F4F6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743200"/>
            <a:ext cx="12188952" cy="4572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2194560"/>
            <a:ext cx="7315200" cy="457200"/>
          </a:xfrm>
          <a:prstGeom prst="rect">
            <a:avLst/>
          </a:prstGeom>
          <a:noFill/>
        </p:spPr>
        <p:txBody>
          <a:bodyPr wrap="square">
            <a:spAutoFit/>
          </a:bodyPr>
          <a:lstStyle/>
          <a:p>
            <a:pPr algn="l"/>
            <a:r>
              <a:rPr sz="1600" b="1">
                <a:solidFill>
                  <a:srgbClr val="2C5FF5"/>
                </a:solidFill>
                <a:latin typeface="Calibri"/>
              </a:rPr>
              <a:t>Section 5</a:t>
            </a:r>
          </a:p>
        </p:txBody>
      </p:sp>
      <p:sp>
        <p:nvSpPr>
          <p:cNvPr id="5" name="TextBox 4"/>
          <p:cNvSpPr txBox="1"/>
          <p:nvPr/>
        </p:nvSpPr>
        <p:spPr>
          <a:xfrm>
            <a:off x="640080" y="2651760"/>
            <a:ext cx="10972800" cy="1280160"/>
          </a:xfrm>
          <a:prstGeom prst="rect">
            <a:avLst/>
          </a:prstGeom>
          <a:noFill/>
        </p:spPr>
        <p:txBody>
          <a:bodyPr wrap="square">
            <a:spAutoFit/>
          </a:bodyPr>
          <a:lstStyle/>
          <a:p>
            <a:pPr algn="l"/>
            <a:r>
              <a:rPr sz="3600" b="1">
                <a:solidFill>
                  <a:srgbClr val="1E2761"/>
                </a:solidFill>
                <a:latin typeface="Calibri"/>
              </a:rPr>
              <a:t>Review</a:t>
            </a:r>
          </a:p>
        </p:txBody>
      </p:sp>
      <p:sp>
        <p:nvSpPr>
          <p:cNvPr id="6" name="TextBox 5"/>
          <p:cNvSpPr txBox="1"/>
          <p:nvPr/>
        </p:nvSpPr>
        <p:spPr>
          <a:xfrm>
            <a:off x="457200" y="6620256"/>
            <a:ext cx="11247120" cy="201168"/>
          </a:xfrm>
          <a:prstGeom prst="rect">
            <a:avLst/>
          </a:prstGeom>
          <a:noFill/>
        </p:spPr>
        <p:txBody>
          <a:bodyPr wrap="square">
            <a:spAutoFit/>
          </a:bodyPr>
          <a:lstStyle/>
          <a:p>
            <a:pPr algn="ctr"/>
            <a:r>
              <a:rPr sz="800" b="0">
                <a:solidFill>
                  <a:srgbClr val="1E2761"/>
                </a:solidFill>
                <a:latin typeface="Calibri"/>
              </a:rPr>
              <a:t>© 2026 Proxiant Academy | info@proxiant.com | proxiant.ai/training</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4114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73152"/>
            <a:ext cx="10972800" cy="274320"/>
          </a:xfrm>
          <a:prstGeom prst="rect">
            <a:avLst/>
          </a:prstGeom>
          <a:noFill/>
        </p:spPr>
        <p:txBody>
          <a:bodyPr wrap="square">
            <a:spAutoFit/>
          </a:bodyPr>
          <a:lstStyle/>
          <a:p>
            <a:pPr algn="l"/>
            <a:r>
              <a:rPr sz="1100" b="0">
                <a:solidFill>
                  <a:srgbClr val="FFFFFF"/>
                </a:solidFill>
                <a:latin typeface="Calibri"/>
              </a:rPr>
              <a:t>Week 10 | Agentic RAG and Text2SQL</a:t>
            </a:r>
          </a:p>
        </p:txBody>
      </p:sp>
      <p:sp>
        <p:nvSpPr>
          <p:cNvPr id="4" name="TextBox 3"/>
          <p:cNvSpPr txBox="1"/>
          <p:nvPr/>
        </p:nvSpPr>
        <p:spPr>
          <a:xfrm>
            <a:off x="457200" y="640080"/>
            <a:ext cx="11430000" cy="731520"/>
          </a:xfrm>
          <a:prstGeom prst="rect">
            <a:avLst/>
          </a:prstGeom>
          <a:noFill/>
        </p:spPr>
        <p:txBody>
          <a:bodyPr wrap="square">
            <a:spAutoFit/>
          </a:bodyPr>
          <a:lstStyle/>
          <a:p>
            <a:pPr algn="l"/>
            <a:r>
              <a:rPr sz="2600" b="1">
                <a:solidFill>
                  <a:srgbClr val="1E2761"/>
                </a:solidFill>
                <a:latin typeface="Calibri"/>
              </a:rPr>
              <a:t>Review Questions</a:t>
            </a:r>
          </a:p>
        </p:txBody>
      </p:sp>
      <p:sp>
        <p:nvSpPr>
          <p:cNvPr id="5" name="TextBox 4"/>
          <p:cNvSpPr txBox="1"/>
          <p:nvPr/>
        </p:nvSpPr>
        <p:spPr>
          <a:xfrm>
            <a:off x="640080" y="1554480"/>
            <a:ext cx="10972800" cy="5120640"/>
          </a:xfrm>
          <a:prstGeom prst="rect">
            <a:avLst/>
          </a:prstGeom>
          <a:noFill/>
        </p:spPr>
        <p:txBody>
          <a:bodyPr wrap="square">
            <a:spAutoFit/>
          </a:bodyPr>
          <a:lstStyle/>
          <a:p>
            <a:pPr>
              <a:spcAft>
                <a:spcPts val="600"/>
              </a:spcAft>
            </a:pPr>
            <a:r>
              <a:rPr sz="1500">
                <a:solidFill>
                  <a:srgbClr val="333333"/>
                </a:solidFill>
                <a:latin typeface="Calibri"/>
              </a:rPr>
              <a:t>  •  When does agentic RAG beat static RAG, and by how much typically?</a:t>
            </a:r>
          </a:p>
          <a:p>
            <a:pPr>
              <a:spcAft>
                <a:spcPts val="600"/>
              </a:spcAft>
            </a:pPr>
            <a:r>
              <a:rPr sz="1500">
                <a:solidFill>
                  <a:srgbClr val="333333"/>
                </a:solidFill>
                <a:latin typeface="Calibri"/>
              </a:rPr>
              <a:t>  •  Why is MCP a better tool abstraction than ad-hoc function calling?</a:t>
            </a:r>
          </a:p>
          <a:p>
            <a:pPr>
              <a:spcAft>
                <a:spcPts val="600"/>
              </a:spcAft>
            </a:pPr>
            <a:r>
              <a:rPr sz="1500">
                <a:solidFill>
                  <a:srgbClr val="333333"/>
                </a:solidFill>
                <a:latin typeface="Calibri"/>
              </a:rPr>
              <a:t>  •  Pick a schema scale where schema retrieval becomes mandatory.</a:t>
            </a:r>
          </a:p>
          <a:p>
            <a:pPr>
              <a:spcAft>
                <a:spcPts val="600"/>
              </a:spcAft>
            </a:pPr>
            <a:r>
              <a:rPr sz="1500">
                <a:solidFill>
                  <a:srgbClr val="333333"/>
                </a:solidFill>
                <a:latin typeface="Calibri"/>
              </a:rPr>
              <a:t>  •  Design a verifier for SQL generation in a finance domain.</a:t>
            </a:r>
          </a:p>
        </p:txBody>
      </p:sp>
      <p:sp>
        <p:nvSpPr>
          <p:cNvPr id="6" name="Rectangle 5"/>
          <p:cNvSpPr/>
          <p:nvPr/>
        </p:nvSpPr>
        <p:spPr>
          <a:xfrm>
            <a:off x="0" y="6675120"/>
            <a:ext cx="12188952" cy="18288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E276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822960"/>
            <a:ext cx="9144000" cy="548640"/>
          </a:xfrm>
          <a:prstGeom prst="rect">
            <a:avLst/>
          </a:prstGeom>
          <a:noFill/>
        </p:spPr>
        <p:txBody>
          <a:bodyPr wrap="square">
            <a:spAutoFit/>
          </a:bodyPr>
          <a:lstStyle/>
          <a:p>
            <a:pPr algn="l"/>
            <a:r>
              <a:rPr sz="1800" b="1">
                <a:solidFill>
                  <a:srgbClr val="2C5FF5"/>
                </a:solidFill>
                <a:latin typeface="Calibri"/>
              </a:rPr>
              <a:t>This Week's Labs</a:t>
            </a:r>
          </a:p>
        </p:txBody>
      </p:sp>
      <p:sp>
        <p:nvSpPr>
          <p:cNvPr id="4" name="TextBox 3"/>
          <p:cNvSpPr txBox="1"/>
          <p:nvPr/>
        </p:nvSpPr>
        <p:spPr>
          <a:xfrm>
            <a:off x="640080" y="1463040"/>
            <a:ext cx="10972800" cy="457200"/>
          </a:xfrm>
          <a:prstGeom prst="rect">
            <a:avLst/>
          </a:prstGeom>
          <a:noFill/>
        </p:spPr>
        <p:txBody>
          <a:bodyPr wrap="square">
            <a:spAutoFit/>
          </a:bodyPr>
          <a:lstStyle/>
          <a:p>
            <a:pPr algn="l"/>
            <a:r>
              <a:rPr sz="1800" b="1">
                <a:solidFill>
                  <a:srgbClr val="FFFFFF"/>
                </a:solidFill>
                <a:latin typeface="Calibri"/>
              </a:rPr>
              <a:t>Lab A: Semantic cache plus agentic RAG</a:t>
            </a:r>
          </a:p>
        </p:txBody>
      </p:sp>
      <p:sp>
        <p:nvSpPr>
          <p:cNvPr id="5" name="TextBox 4"/>
          <p:cNvSpPr txBox="1"/>
          <p:nvPr/>
        </p:nvSpPr>
        <p:spPr>
          <a:xfrm>
            <a:off x="822960" y="1828800"/>
            <a:ext cx="10972800" cy="640080"/>
          </a:xfrm>
          <a:prstGeom prst="rect">
            <a:avLst/>
          </a:prstGeom>
          <a:noFill/>
        </p:spPr>
        <p:txBody>
          <a:bodyPr wrap="square">
            <a:spAutoFit/>
          </a:bodyPr>
          <a:lstStyle/>
          <a:p>
            <a:pPr algn="l"/>
            <a:r>
              <a:rPr sz="1200" b="0">
                <a:solidFill>
                  <a:srgbClr val="FFFFFF"/>
                </a:solidFill>
                <a:latin typeface="Calibri"/>
              </a:rPr>
              <a:t>Layer semantic caching under an agentic RAG. Measure cache hit rate and end-to-end cost on a 200-question test.</a:t>
            </a:r>
          </a:p>
        </p:txBody>
      </p:sp>
      <p:sp>
        <p:nvSpPr>
          <p:cNvPr id="6" name="TextBox 5"/>
          <p:cNvSpPr txBox="1"/>
          <p:nvPr/>
        </p:nvSpPr>
        <p:spPr>
          <a:xfrm>
            <a:off x="640080" y="2286000"/>
            <a:ext cx="10972800" cy="457200"/>
          </a:xfrm>
          <a:prstGeom prst="rect">
            <a:avLst/>
          </a:prstGeom>
          <a:noFill/>
        </p:spPr>
        <p:txBody>
          <a:bodyPr wrap="square">
            <a:spAutoFit/>
          </a:bodyPr>
          <a:lstStyle/>
          <a:p>
            <a:pPr algn="l"/>
            <a:r>
              <a:rPr sz="1800" b="1">
                <a:solidFill>
                  <a:srgbClr val="FFFFFF"/>
                </a:solidFill>
                <a:latin typeface="Calibri"/>
              </a:rPr>
              <a:t>Lab B: ADK, MCP, and A2A condensed</a:t>
            </a:r>
          </a:p>
        </p:txBody>
      </p:sp>
      <p:sp>
        <p:nvSpPr>
          <p:cNvPr id="7" name="TextBox 6"/>
          <p:cNvSpPr txBox="1"/>
          <p:nvPr/>
        </p:nvSpPr>
        <p:spPr>
          <a:xfrm>
            <a:off x="822960" y="2651760"/>
            <a:ext cx="10972800" cy="640080"/>
          </a:xfrm>
          <a:prstGeom prst="rect">
            <a:avLst/>
          </a:prstGeom>
          <a:noFill/>
        </p:spPr>
        <p:txBody>
          <a:bodyPr wrap="square">
            <a:spAutoFit/>
          </a:bodyPr>
          <a:lstStyle/>
          <a:p>
            <a:pPr algn="l"/>
            <a:r>
              <a:rPr sz="1200" b="0">
                <a:solidFill>
                  <a:srgbClr val="FFFFFF"/>
                </a:solidFill>
                <a:latin typeface="Calibri"/>
              </a:rPr>
              <a:t>Build a Text-to-SQL agent using Google ADK with MCP for tool exposure. Add an A2A endpoint for cross-team consumption.</a:t>
            </a:r>
          </a:p>
        </p:txBody>
      </p:sp>
      <p:sp>
        <p:nvSpPr>
          <p:cNvPr id="8" name="TextBox 7"/>
          <p:cNvSpPr txBox="1"/>
          <p:nvPr/>
        </p:nvSpPr>
        <p:spPr>
          <a:xfrm>
            <a:off x="640080" y="6217920"/>
            <a:ext cx="10972800" cy="365760"/>
          </a:xfrm>
          <a:prstGeom prst="rect">
            <a:avLst/>
          </a:prstGeom>
          <a:noFill/>
        </p:spPr>
        <p:txBody>
          <a:bodyPr wrap="square">
            <a:spAutoFit/>
          </a:bodyPr>
          <a:lstStyle/>
          <a:p>
            <a:pPr algn="l"/>
            <a:r>
              <a:rPr sz="1200" b="0">
                <a:solidFill>
                  <a:srgbClr val="FFFFFF"/>
                </a:solidFill>
                <a:latin typeface="Calibri"/>
              </a:rPr>
              <a:t>Quiz Tuesday | Project due next Saturday | Instructor: Pavan R</a:t>
            </a:r>
          </a:p>
        </p:txBody>
      </p:sp>
      <p:sp>
        <p:nvSpPr>
          <p:cNvPr id="9" name="TextBox 8"/>
          <p:cNvSpPr txBox="1"/>
          <p:nvPr/>
        </p:nvSpPr>
        <p:spPr>
          <a:xfrm>
            <a:off x="457200" y="6620256"/>
            <a:ext cx="11247120" cy="201168"/>
          </a:xfrm>
          <a:prstGeom prst="rect">
            <a:avLst/>
          </a:prstGeom>
          <a:noFill/>
        </p:spPr>
        <p:txBody>
          <a:bodyPr wrap="square">
            <a:spAutoFit/>
          </a:bodyPr>
          <a:lstStyle/>
          <a:p>
            <a:pPr algn="ctr"/>
            <a:r>
              <a:rPr sz="800" b="0">
                <a:solidFill>
                  <a:srgbClr val="FFFFFF"/>
                </a:solidFill>
                <a:latin typeface="Calibri"/>
              </a:rPr>
              <a:t>© 2026 Proxiant Academy | info@proxiant.com | proxiant.ai/training</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