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12</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Evals</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Retrieval metrics, Ragas, LLM-as-judge, and verification asymmetry</a:t>
            </a:r>
          </a:p>
        </p:txBody>
      </p:sp>
      <p:sp>
        <p:nvSpPr>
          <p:cNvPr id="7" name="TextBox 6"/>
          <p:cNvSpPr txBox="1"/>
          <p:nvPr/>
        </p:nvSpPr>
        <p:spPr>
          <a:xfrm>
            <a:off x="548640" y="5760720"/>
            <a:ext cx="7315200" cy="365760"/>
          </a:xfrm>
          <a:prstGeom prst="rect">
            <a:avLst/>
          </a:prstGeom>
          <a:noFill/>
        </p:spPr>
        <p:txBody>
          <a:bodyPr wrap="square">
            <a:spAutoFit/>
          </a:bodyPr>
          <a:lstStyle/>
          <a:p>
            <a:pPr algn="l"/>
            <a:r>
              <a:rPr sz="1200" b="0">
                <a:solidFill>
                  <a:srgbClr val="FFFFFF"/>
                </a:solidFill>
                <a:latin typeface="Calibri"/>
              </a:rPr>
              <a:t>Saturday, December 19, 2026</a:t>
            </a:r>
          </a:p>
        </p:txBody>
      </p:sp>
      <p:sp>
        <p:nvSpPr>
          <p:cNvPr id="8" name="TextBox 7"/>
          <p:cNvSpPr txBox="1"/>
          <p:nvPr/>
        </p:nvSpPr>
        <p:spPr>
          <a:xfrm>
            <a:off x="548640" y="6126480"/>
            <a:ext cx="9144000" cy="365760"/>
          </a:xfrm>
          <a:prstGeom prst="rect">
            <a:avLst/>
          </a:prstGeom>
          <a:noFill/>
        </p:spPr>
        <p:txBody>
          <a:bodyPr wrap="square">
            <a:spAutoFit/>
          </a:bodyPr>
          <a:lstStyle/>
          <a:p>
            <a:pPr algn="l"/>
            <a:r>
              <a:rPr sz="1200" b="0">
                <a:solidFill>
                  <a:srgbClr val="FFFFFF"/>
                </a:solidFill>
                <a:latin typeface="Calibri"/>
              </a:rPr>
              <a:t>LLM and Enterprise RAG Bootcamp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Evaluation week. Cover retrieval metrics (Precision@k, Recall@k, MRR, MAP, NDCG). Ragas for end-to-end RAG metrics (faithfulness, answer relevance, context precision/recall). LLM-as-a-judge: when it works, when it does not. The RGB benchmark for robustness. Verification asymmetry as the core principle behind good eval design.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Compute and interpret Precision@k, Recall@k, MRR, MAP, and NDCG correctly</a:t>
            </a:r>
          </a:p>
          <a:p>
            <a:pPr>
              <a:spcAft>
                <a:spcPts val="600"/>
              </a:spcAft>
            </a:pPr>
            <a:r>
              <a:rPr sz="1500">
                <a:solidFill>
                  <a:srgbClr val="333333"/>
                </a:solidFill>
                <a:latin typeface="Calibri"/>
              </a:rPr>
              <a:t>  •  Run Ragas on a RAG pipeline and interpret each metric</a:t>
            </a:r>
          </a:p>
          <a:p>
            <a:pPr>
              <a:spcAft>
                <a:spcPts val="600"/>
              </a:spcAft>
            </a:pPr>
            <a:r>
              <a:rPr sz="1500">
                <a:solidFill>
                  <a:srgbClr val="333333"/>
                </a:solidFill>
                <a:latin typeface="Calibri"/>
              </a:rPr>
              <a:t>  •  Use LLM-as-a-judge while controlling for known biases</a:t>
            </a:r>
          </a:p>
          <a:p>
            <a:pPr>
              <a:spcAft>
                <a:spcPts val="600"/>
              </a:spcAft>
            </a:pPr>
            <a:r>
              <a:rPr sz="1500">
                <a:solidFill>
                  <a:srgbClr val="333333"/>
                </a:solidFill>
                <a:latin typeface="Calibri"/>
              </a:rPr>
              <a:t>  •  Apply the RGB benchmark to test robustness against noise</a:t>
            </a:r>
          </a:p>
          <a:p>
            <a:pPr>
              <a:spcAft>
                <a:spcPts val="600"/>
              </a:spcAft>
            </a:pPr>
            <a:r>
              <a:rPr sz="1500">
                <a:solidFill>
                  <a:srgbClr val="333333"/>
                </a:solidFill>
                <a:latin typeface="Calibri"/>
              </a:rPr>
              <a:t>  •  Design an eval where verification is cheaper than generation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Retrieval metrics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Precision@k: how many of the top k are relevant. Recall@k: what fraction of all relevant were retrieved. MRR: rank of the first relevant. MAP: averaged precision across queries. NDCG: graded relevance with rank discount. Pick the metric that matches the downstream use.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Ragas for end-to-end RAG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Four metrics: faithfulness (answer grounded in context), answer relevance (answer addresses the question), context precision (retrieved context is relevant), context recall (retrieved context covers what is needed).</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LLM-as-a-judge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Use a separate strong model to judge answer quality. Cheap and scalable. Beware: position bias (first answer wins), verbosity bias (longer is judged better), and self-preference bias (model prefers its own outputs).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The RGB benchmark</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Tests retrieval robustness against noise, negative passages, information integration, and counterfactual robustness. A real RAG should hold up against all four.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Verification asymmetry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When verification is cheaper than generation, you can score many candidates with a verifier and pick the best. This is the foundation of self-consistency, best-of-N, and RLVR.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Building an eval that does not lie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Held-out test set. Stable scoring rubric. Multiple judges or a single judge with calibration. Reproducible seed. Publish the variance, not just the mean.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Retrieval metrics in one screen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Precision@k: fraction of top-k that are relevant. Recall@k: fraction of all relevant retrieved. MRR: rank of the first relevant. MAP: averaged precision across queries. NDCG: graded relevance with rank discount. Pick the metric that matches your downstream use.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NDCG correctly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Most teams report NDCG@10 with binary relevance, which is the same as recall@10 weighted by position. Use graded relevance (0, 1, 2, 3) for the metric to earn its keep. Otherwise stick to recall@k.</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Ragas for end-to-end RAG</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from ragas import evaluate</a:t>
            </a:r>
          </a:p>
          <a:p>
            <a:pPr>
              <a:spcAft>
                <a:spcPts val="0"/>
              </a:spcAft>
            </a:pPr>
            <a:r>
              <a:rPr sz="1300">
                <a:solidFill>
                  <a:srgbClr val="E6ECF5"/>
                </a:solidFill>
                <a:latin typeface="Consolas"/>
              </a:rPr>
              <a:t>from ragas.metrics import (</a:t>
            </a:r>
          </a:p>
          <a:p>
            <a:pPr>
              <a:spcAft>
                <a:spcPts val="0"/>
              </a:spcAft>
            </a:pPr>
            <a:r>
              <a:rPr sz="1300">
                <a:solidFill>
                  <a:srgbClr val="E6ECF5"/>
                </a:solidFill>
                <a:latin typeface="Consolas"/>
              </a:rPr>
              <a:t>    faithfulness, answer_relevancy,</a:t>
            </a:r>
          </a:p>
          <a:p>
            <a:pPr>
              <a:spcAft>
                <a:spcPts val="0"/>
              </a:spcAft>
            </a:pPr>
            <a:r>
              <a:rPr sz="1300">
                <a:solidFill>
                  <a:srgbClr val="E6ECF5"/>
                </a:solidFill>
                <a:latin typeface="Consolas"/>
              </a:rPr>
              <a:t>    context_precision, context_recall)</a:t>
            </a:r>
          </a:p>
          <a:p>
            <a:pPr>
              <a:spcAft>
                <a:spcPts val="0"/>
              </a:spcAft>
            </a:pPr>
            <a:r>
              <a:rPr sz="1300">
                <a:solidFill>
                  <a:srgbClr val="E6ECF5"/>
                </a:solidFill>
                <a:latin typeface="Consolas"/>
              </a:rPr>
              <a:t> </a:t>
            </a:r>
          </a:p>
          <a:p>
            <a:pPr>
              <a:spcAft>
                <a:spcPts val="0"/>
              </a:spcAft>
            </a:pPr>
            <a:r>
              <a:rPr sz="1300">
                <a:solidFill>
                  <a:srgbClr val="E6ECF5"/>
                </a:solidFill>
                <a:latin typeface="Consolas"/>
              </a:rPr>
              <a:t>results = evaluate(</a:t>
            </a:r>
          </a:p>
          <a:p>
            <a:pPr>
              <a:spcAft>
                <a:spcPts val="0"/>
              </a:spcAft>
            </a:pPr>
            <a:r>
              <a:rPr sz="1300">
                <a:solidFill>
                  <a:srgbClr val="E6ECF5"/>
                </a:solidFill>
                <a:latin typeface="Consolas"/>
              </a:rPr>
              <a:t>    dataset,</a:t>
            </a:r>
          </a:p>
          <a:p>
            <a:pPr>
              <a:spcAft>
                <a:spcPts val="0"/>
              </a:spcAft>
            </a:pPr>
            <a:r>
              <a:rPr sz="1300">
                <a:solidFill>
                  <a:srgbClr val="E6ECF5"/>
                </a:solidFill>
                <a:latin typeface="Consolas"/>
              </a:rPr>
              <a:t>    metrics=[faithfulness, answer_relevancy,</a:t>
            </a:r>
          </a:p>
          <a:p>
            <a:pPr>
              <a:spcAft>
                <a:spcPts val="0"/>
              </a:spcAft>
            </a:pPr>
            <a:r>
              <a:rPr sz="1300">
                <a:solidFill>
                  <a:srgbClr val="E6ECF5"/>
                </a:solidFill>
                <a:latin typeface="Consolas"/>
              </a:rPr>
              <a:t>             context_precision, context_recall],</a:t>
            </a:r>
          </a:p>
          <a:p>
            <a:pPr>
              <a:spcAft>
                <a:spcPts val="0"/>
              </a:spcAft>
            </a:pPr>
            <a:r>
              <a:rPr sz="1300">
                <a:solidFill>
                  <a:srgbClr val="E6ECF5"/>
                </a:solidFill>
                <a:latin typeface="Consolas"/>
              </a:rPr>
              <a:t>)</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LLM-as-a-judge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Use a separate strong model to judge. Cheap and scalable. Beware: position bias (first answer wins), verbosity bias (longer is preferred), self-preference bias (model favors its own outputs). Control via randomization, length normalization, and a different judge model.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The RGB benchmark</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Tests RAG against four robustness axes: noise (do irrelevant passages confuse the model?), negative passages (does the model refuse when no answer is supported?), integration (does the model combine facts across passages?), and counterfactual (does the model trust evidence over its prior?).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Verification asymmetry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When verification is cheaper than generation, you can score many candidates with a verifier and pick the best. This is the principle behind self-consistency, best-of-N, and RLVR. Build verifiers before you build generators when you can.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An eval that does not lie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Held-out test set never touches training. Stable scoring rubric. Multiple judges or a calibrated single judge. Reproducible seed. Report variance, not just the mean. Publish the eval set so others can falsify.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RAGAS: Automated Evaluation of Retrieval Augmented Generation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Es et al., 2023 (arXiv:2309.15217).</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Benchmarking Large Language Models in Retrieval-Augmented Generation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Chen et al., 2023 (arXiv:2309.01431). The RGB benchmark paper.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Judging LLM-as-a-Judge with MT-Bench and Chatbot Arena</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Zheng et al., 2023 (arXiv:2306.05685).</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Evals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Pick a task where MRR is the right metric and explain.</a:t>
            </a:r>
          </a:p>
          <a:p>
            <a:pPr>
              <a:spcAft>
                <a:spcPts val="600"/>
              </a:spcAft>
            </a:pPr>
            <a:r>
              <a:rPr sz="1500">
                <a:solidFill>
                  <a:srgbClr val="333333"/>
                </a:solidFill>
                <a:latin typeface="Calibri"/>
              </a:rPr>
              <a:t>  •  Sketch a Ragas configuration for a multi-hop legal RAG.</a:t>
            </a:r>
          </a:p>
          <a:p>
            <a:pPr>
              <a:spcAft>
                <a:spcPts val="600"/>
              </a:spcAft>
            </a:pPr>
            <a:r>
              <a:rPr sz="1500">
                <a:solidFill>
                  <a:srgbClr val="333333"/>
                </a:solidFill>
                <a:latin typeface="Calibri"/>
              </a:rPr>
              <a:t>  •  Design an LLM-as-judge protocol that controls all three biases.</a:t>
            </a:r>
          </a:p>
          <a:p>
            <a:pPr>
              <a:spcAft>
                <a:spcPts val="600"/>
              </a:spcAft>
            </a:pPr>
            <a:r>
              <a:rPr sz="1500">
                <a:solidFill>
                  <a:srgbClr val="333333"/>
                </a:solidFill>
                <a:latin typeface="Calibri"/>
              </a:rPr>
              <a:t>  •  Apply verification asymmetry to a problem you have shipped.</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Unsloth walkthrough for fast fine-tuning</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Use Unsloth to fine-tune a 7B model with LoRA in under 30 minutes on a single GPU. Compare to vanilla TRL.</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Full RAG eval suite</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Run Ragas on the RAG pipeline you built this week. Add LLM-as-a-judge for answer quality. Add an RGB-style robustness test.</a:t>
            </a:r>
          </a:p>
        </p:txBody>
      </p:sp>
      <p:sp>
        <p:nvSpPr>
          <p:cNvPr id="8" name="TextBox 7"/>
          <p:cNvSpPr txBox="1"/>
          <p:nvPr/>
        </p:nvSpPr>
        <p:spPr>
          <a:xfrm>
            <a:off x="640080" y="6217920"/>
            <a:ext cx="10972800" cy="365760"/>
          </a:xfrm>
          <a:prstGeom prst="rect">
            <a:avLst/>
          </a:prstGeom>
          <a:noFill/>
        </p:spPr>
        <p:txBody>
          <a:bodyPr wrap="square">
            <a:spAutoFit/>
          </a:bodyPr>
          <a:lstStyle/>
          <a:p>
            <a:pPr algn="l"/>
            <a:r>
              <a:rPr sz="1200" b="0">
                <a:solidFill>
                  <a:srgbClr val="FFFFFF"/>
                </a:solidFill>
                <a:latin typeface="Calibri"/>
              </a:rPr>
              <a:t>Quiz Tuesday | Project due next Saturday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