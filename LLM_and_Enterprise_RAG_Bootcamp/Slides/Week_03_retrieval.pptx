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457200"/>
          </a:xfrm>
          <a:prstGeom prst="rect">
            <a:avLst/>
          </a:prstGeom>
          <a:noFill/>
        </p:spPr>
        <p:txBody>
          <a:bodyPr wrap="square">
            <a:spAutoFit/>
          </a:bodyPr>
          <a:lstStyle/>
          <a:p>
            <a:pPr algn="l"/>
            <a:r>
              <a:rPr sz="1400" b="0">
                <a:solidFill>
                  <a:srgbClr val="FFFFFF"/>
                </a:solidFill>
                <a:latin typeface="Calibri"/>
              </a:rPr>
              <a:t>Proxiant Academy</a:t>
            </a:r>
          </a:p>
        </p:txBody>
      </p:sp>
      <p:sp>
        <p:nvSpPr>
          <p:cNvPr id="4" name="TextBox 3"/>
          <p:cNvSpPr txBox="1"/>
          <p:nvPr/>
        </p:nvSpPr>
        <p:spPr>
          <a:xfrm>
            <a:off x="548640" y="1828800"/>
            <a:ext cx="7315200" cy="640080"/>
          </a:xfrm>
          <a:prstGeom prst="rect">
            <a:avLst/>
          </a:prstGeom>
          <a:noFill/>
        </p:spPr>
        <p:txBody>
          <a:bodyPr wrap="square">
            <a:spAutoFit/>
          </a:bodyPr>
          <a:lstStyle/>
          <a:p>
            <a:pPr algn="l"/>
            <a:r>
              <a:rPr sz="2800" b="1">
                <a:solidFill>
                  <a:srgbClr val="2C5FF5"/>
                </a:solidFill>
                <a:latin typeface="Calibri"/>
              </a:rPr>
              <a:t>Week 3</a:t>
            </a:r>
          </a:p>
        </p:txBody>
      </p:sp>
      <p:sp>
        <p:nvSpPr>
          <p:cNvPr id="5" name="TextBox 4"/>
          <p:cNvSpPr txBox="1"/>
          <p:nvPr/>
        </p:nvSpPr>
        <p:spPr>
          <a:xfrm>
            <a:off x="548640" y="2560320"/>
            <a:ext cx="10972800" cy="1280160"/>
          </a:xfrm>
          <a:prstGeom prst="rect">
            <a:avLst/>
          </a:prstGeom>
          <a:noFill/>
        </p:spPr>
        <p:txBody>
          <a:bodyPr wrap="square">
            <a:spAutoFit/>
          </a:bodyPr>
          <a:lstStyle/>
          <a:p>
            <a:pPr algn="l"/>
            <a:r>
              <a:rPr sz="4400" b="1">
                <a:solidFill>
                  <a:srgbClr val="FFFFFF"/>
                </a:solidFill>
                <a:latin typeface="Calibri"/>
              </a:rPr>
              <a:t>Retrieval</a:t>
            </a:r>
          </a:p>
        </p:txBody>
      </p:sp>
      <p:sp>
        <p:nvSpPr>
          <p:cNvPr id="6" name="TextBox 5"/>
          <p:cNvSpPr txBox="1"/>
          <p:nvPr/>
        </p:nvSpPr>
        <p:spPr>
          <a:xfrm>
            <a:off x="548640" y="4206240"/>
            <a:ext cx="10972800" cy="914400"/>
          </a:xfrm>
          <a:prstGeom prst="rect">
            <a:avLst/>
          </a:prstGeom>
          <a:noFill/>
        </p:spPr>
        <p:txBody>
          <a:bodyPr wrap="square">
            <a:spAutoFit/>
          </a:bodyPr>
          <a:lstStyle/>
          <a:p>
            <a:pPr algn="l"/>
            <a:r>
              <a:rPr sz="2000" b="0">
                <a:solidFill>
                  <a:srgbClr val="FFFFFF"/>
                </a:solidFill>
                <a:latin typeface="Calibri"/>
              </a:rPr>
              <a:t>Enterprise RAG foundations, chunking, and hierarchical retrieval</a:t>
            </a:r>
          </a:p>
        </p:txBody>
      </p:sp>
      <p:sp>
        <p:nvSpPr>
          <p:cNvPr id="7" name="TextBox 6"/>
          <p:cNvSpPr txBox="1"/>
          <p:nvPr/>
        </p:nvSpPr>
        <p:spPr>
          <a:xfrm>
            <a:off x="548640" y="6035040"/>
            <a:ext cx="7315200" cy="365760"/>
          </a:xfrm>
          <a:prstGeom prst="rect">
            <a:avLst/>
          </a:prstGeom>
          <a:noFill/>
        </p:spPr>
        <p:txBody>
          <a:bodyPr wrap="square">
            <a:spAutoFit/>
          </a:bodyPr>
          <a:lstStyle/>
          <a:p>
            <a:pPr algn="l"/>
            <a:r>
              <a:rPr sz="1200" b="0">
                <a:solidFill>
                  <a:srgbClr val="FFFFFF"/>
                </a:solidFill>
                <a:latin typeface="Calibri"/>
              </a:rPr>
              <a:t>Saturday, June 20, 2026</a:t>
            </a:r>
          </a:p>
        </p:txBody>
      </p:sp>
      <p:sp>
        <p:nvSpPr>
          <p:cNvPr id="8" name="TextBox 7"/>
          <p:cNvSpPr txBox="1"/>
          <p:nvPr/>
        </p:nvSpPr>
        <p:spPr>
          <a:xfrm>
            <a:off x="548640" y="6400800"/>
            <a:ext cx="9144000" cy="365760"/>
          </a:xfrm>
          <a:prstGeom prst="rect">
            <a:avLst/>
          </a:prstGeom>
          <a:noFill/>
        </p:spPr>
        <p:txBody>
          <a:bodyPr wrap="square">
            <a:spAutoFit/>
          </a:bodyPr>
          <a:lstStyle/>
          <a:p>
            <a:pPr algn="l"/>
            <a:r>
              <a:rPr sz="1200" b="0">
                <a:solidFill>
                  <a:srgbClr val="FFFFFF"/>
                </a:solidFill>
                <a:latin typeface="Calibri"/>
              </a:rPr>
              <a:t>LLM and Enterprise RAG Bootcamp | Instructor: Pavan 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1</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Today's 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Where we are in the bootcamp</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The chunking week. Chunking is where most RAG systems quietly fail. Cover the philosophy first (precision vs context), then semantic, late, and contextual chunking. End with hierarchical retrieval using mother and child chunks. The lab implements four chunking strategies on the same corpus and ranks them.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Learning Objectives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Articulate the precision-vs-context tradeoff in chunking</a:t>
            </a:r>
          </a:p>
          <a:p>
            <a:pPr>
              <a:spcAft>
                <a:spcPts val="600"/>
              </a:spcAft>
            </a:pPr>
            <a:r>
              <a:rPr sz="1500">
                <a:solidFill>
                  <a:srgbClr val="333333"/>
                </a:solidFill>
                <a:latin typeface="Calibri"/>
              </a:rPr>
              <a:t>  •  Implement fixed-size, semantic, late, and contextual chunking</a:t>
            </a:r>
          </a:p>
          <a:p>
            <a:pPr>
              <a:spcAft>
                <a:spcPts val="600"/>
              </a:spcAft>
            </a:pPr>
            <a:r>
              <a:rPr sz="1500">
                <a:solidFill>
                  <a:srgbClr val="333333"/>
                </a:solidFill>
                <a:latin typeface="Calibri"/>
              </a:rPr>
              <a:t>  •  Build a mother-and-child hierarchical retrieval flow</a:t>
            </a:r>
          </a:p>
          <a:p>
            <a:pPr>
              <a:spcAft>
                <a:spcPts val="600"/>
              </a:spcAft>
            </a:pPr>
            <a:r>
              <a:rPr sz="1500">
                <a:solidFill>
                  <a:srgbClr val="333333"/>
                </a:solidFill>
                <a:latin typeface="Calibri"/>
              </a:rPr>
              <a:t>  •  Measure chunking quality with retrieval recall and answer faithfulness</a:t>
            </a:r>
          </a:p>
          <a:p>
            <a:pPr>
              <a:spcAft>
                <a:spcPts val="600"/>
              </a:spcAft>
            </a:pPr>
            <a:r>
              <a:rPr sz="1500">
                <a:solidFill>
                  <a:srgbClr val="333333"/>
                </a:solidFill>
                <a:latin typeface="Calibri"/>
              </a:rPr>
              <a:t>  •  Pick a chunking strategy for a given corpus and task</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2</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Concepts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chunking philosophy</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Small chunks give precise hits but lose surrounding context. Large chunks preserve context but dilute relevance signals. Pick the chunk size with the downstream answer in mind.</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Fixed-size vs semantic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Fixed-size splits on tokens; cheap and predictable. Semantic chunking splits on similarity drops between adjacent sentences; respects natural boundaries.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Late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Embed the whole document first, then split the resulting token-level embeddings into chunks. Preserves cross-chunk context in each chunk's embedding.</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Contextual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Prepend a short LLM-generated summary of the surrounding context to each chunk before embedding. Anthropic's contextual retrieval paper showed 35% retrieval improvement on average.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Hierarchical retrieval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Embed and retrieve at multiple granularities. Mother chunks for context, child chunks for precision. Return the parent of the matched child to the LLM.</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Precision vs context as a system question</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The right chunk size also depends on the LLM's context window and the cost per token. Optimize the system, not the chunker in isolation.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3</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Deeper Look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1. The precision-context tradeoff</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Small chunks (under 200 tokens) give precise hits and high relevance scores but lose surrounding context. Large chunks (1000+ tokens) preserve context but dilute the relevance score and may push out other useful chunks from the top-k. The sweet spot is corpus-specific and downstream-specific.</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2. Fixed-size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Split on token count with overlap (typically 10-20%). Cheap. Predictable. Ignores natural boundaries. Often good enough for homogeneous corpora; bad for heterogeneous ones where document structure matters.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3. Semantic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Embed each sentence. Split where adjacent sentence similarity drops below a threshold. Respects natural topic boundaries. More expensive than fixed-size but produces more coherent chunks.</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4. Late chunking</a:t>
            </a:r>
          </a:p>
        </p:txBody>
      </p:sp>
      <p:sp>
        <p:nvSpPr>
          <p:cNvPr id="5" name="Rectangle 4"/>
          <p:cNvSpPr/>
          <p:nvPr/>
        </p:nvSpPr>
        <p:spPr>
          <a:xfrm>
            <a:off x="457200" y="1554480"/>
            <a:ext cx="11247120" cy="4937760"/>
          </a:xfrm>
          <a:prstGeom prst="rect">
            <a:avLst/>
          </a:prstGeom>
          <a:solidFill>
            <a:srgbClr val="1B1B2C"/>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spcAft>
                <a:spcPts val="0"/>
              </a:spcAft>
            </a:pPr>
            <a:r>
              <a:rPr sz="1300">
                <a:solidFill>
                  <a:srgbClr val="E6ECF5"/>
                </a:solidFill>
                <a:latin typeface="Consolas"/>
              </a:rPr>
              <a:t>def late_chunking(text, model, chunk_size=256):</a:t>
            </a:r>
          </a:p>
          <a:p>
            <a:pPr>
              <a:spcAft>
                <a:spcPts val="0"/>
              </a:spcAft>
            </a:pPr>
            <a:r>
              <a:rPr sz="1300">
                <a:solidFill>
                  <a:srgbClr val="E6ECF5"/>
                </a:solidFill>
                <a:latin typeface="Consolas"/>
              </a:rPr>
              <a:t>    token_embeddings = model.encode_tokens(text)</a:t>
            </a:r>
          </a:p>
          <a:p>
            <a:pPr>
              <a:spcAft>
                <a:spcPts val="0"/>
              </a:spcAft>
            </a:pPr>
            <a:r>
              <a:rPr sz="1300">
                <a:solidFill>
                  <a:srgbClr val="E6ECF5"/>
                </a:solidFill>
                <a:latin typeface="Consolas"/>
              </a:rPr>
              <a:t>    chunks = []</a:t>
            </a:r>
          </a:p>
          <a:p>
            <a:pPr>
              <a:spcAft>
                <a:spcPts val="0"/>
              </a:spcAft>
            </a:pPr>
            <a:r>
              <a:rPr sz="1300">
                <a:solidFill>
                  <a:srgbClr val="E6ECF5"/>
                </a:solidFill>
                <a:latin typeface="Consolas"/>
              </a:rPr>
              <a:t>    for i in range(0, len(token_embeddings), chunk_size):</a:t>
            </a:r>
          </a:p>
          <a:p>
            <a:pPr>
              <a:spcAft>
                <a:spcPts val="0"/>
              </a:spcAft>
            </a:pPr>
            <a:r>
              <a:rPr sz="1300">
                <a:solidFill>
                  <a:srgbClr val="E6ECF5"/>
                </a:solidFill>
                <a:latin typeface="Consolas"/>
              </a:rPr>
              <a:t>        chunk_emb = token_embeddings[i:i+chunk_size].mean(0)</a:t>
            </a:r>
          </a:p>
          <a:p>
            <a:pPr>
              <a:spcAft>
                <a:spcPts val="0"/>
              </a:spcAft>
            </a:pPr>
            <a:r>
              <a:rPr sz="1300">
                <a:solidFill>
                  <a:srgbClr val="E6ECF5"/>
                </a:solidFill>
                <a:latin typeface="Consolas"/>
              </a:rPr>
              <a:t>        chunks.append(chunk_emb)</a:t>
            </a:r>
          </a:p>
          <a:p>
            <a:pPr>
              <a:spcAft>
                <a:spcPts val="0"/>
              </a:spcAft>
            </a:pPr>
            <a:r>
              <a:rPr sz="1300">
                <a:solidFill>
                  <a:srgbClr val="E6ECF5"/>
                </a:solidFill>
                <a:latin typeface="Consolas"/>
              </a:rPr>
              <a:t>    return chunks</a:t>
            </a:r>
          </a:p>
          <a:p>
            <a:pPr>
              <a:spcAft>
                <a:spcPts val="0"/>
              </a:spcAft>
            </a:pPr>
            <a:r>
              <a:rPr sz="1300">
                <a:solidFill>
                  <a:srgbClr val="E6ECF5"/>
                </a:solidFill>
                <a:latin typeface="Consolas"/>
              </a:rPr>
              <a:t> </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5. Contextual chunking</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Before embedding each chunk, prepend a short LLM-generated summary of the surrounding context. Anthropic reported a 35% retrieval improvement on average. The cost is one LLM call per chunk at ingestion time.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6. Hierarchical retrieval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Embed at two granularities: small child chunks (250 tokens) for matching, large mother chunks (1000 tokens) for context. Match against children; return the parent mother chunk to the LLM. Best of both worlds, modest extra storage.</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4</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Papers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Late Chunking: Contextual Chunk Embeddings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Günther et al., 2024 (arXiv:2409.04701).</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Contextual Retrieval</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Anthropic, 2024. Reading guide ships with the lab.</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4F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88952" cy="45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94560"/>
            <a:ext cx="7315200" cy="457200"/>
          </a:xfrm>
          <a:prstGeom prst="rect">
            <a:avLst/>
          </a:prstGeom>
          <a:noFill/>
        </p:spPr>
        <p:txBody>
          <a:bodyPr wrap="square">
            <a:spAutoFit/>
          </a:bodyPr>
          <a:lstStyle/>
          <a:p>
            <a:pPr algn="l"/>
            <a:r>
              <a:rPr sz="1600" b="1">
                <a:solidFill>
                  <a:srgbClr val="2C5FF5"/>
                </a:solidFill>
                <a:latin typeface="Calibri"/>
              </a:rPr>
              <a:t>Section 5</a:t>
            </a:r>
          </a:p>
        </p:txBody>
      </p:sp>
      <p:sp>
        <p:nvSpPr>
          <p:cNvPr id="5" name="TextBox 4"/>
          <p:cNvSpPr txBox="1"/>
          <p:nvPr/>
        </p:nvSpPr>
        <p:spPr>
          <a:xfrm>
            <a:off x="640080" y="2651760"/>
            <a:ext cx="10972800" cy="1280160"/>
          </a:xfrm>
          <a:prstGeom prst="rect">
            <a:avLst/>
          </a:prstGeom>
          <a:noFill/>
        </p:spPr>
        <p:txBody>
          <a:bodyPr wrap="square">
            <a:spAutoFit/>
          </a:bodyPr>
          <a:lstStyle/>
          <a:p>
            <a:pPr algn="l"/>
            <a:r>
              <a:rPr sz="3600" b="1">
                <a:solidFill>
                  <a:srgbClr val="1E2761"/>
                </a:solidFill>
                <a:latin typeface="Calibri"/>
              </a:rPr>
              <a:t>Review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4114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10972800" cy="274320"/>
          </a:xfrm>
          <a:prstGeom prst="rect">
            <a:avLst/>
          </a:prstGeom>
          <a:noFill/>
        </p:spPr>
        <p:txBody>
          <a:bodyPr wrap="square">
            <a:spAutoFit/>
          </a:bodyPr>
          <a:lstStyle/>
          <a:p>
            <a:pPr algn="l"/>
            <a:r>
              <a:rPr sz="1100" b="0">
                <a:solidFill>
                  <a:srgbClr val="FFFFFF"/>
                </a:solidFill>
                <a:latin typeface="Calibri"/>
              </a:rPr>
              <a:t>Week 3 | Retrieval</a:t>
            </a:r>
          </a:p>
        </p:txBody>
      </p:sp>
      <p:sp>
        <p:nvSpPr>
          <p:cNvPr id="4" name="TextBox 3"/>
          <p:cNvSpPr txBox="1"/>
          <p:nvPr/>
        </p:nvSpPr>
        <p:spPr>
          <a:xfrm>
            <a:off x="457200" y="640080"/>
            <a:ext cx="11430000" cy="731520"/>
          </a:xfrm>
          <a:prstGeom prst="rect">
            <a:avLst/>
          </a:prstGeom>
          <a:noFill/>
        </p:spPr>
        <p:txBody>
          <a:bodyPr wrap="square">
            <a:spAutoFit/>
          </a:bodyPr>
          <a:lstStyle/>
          <a:p>
            <a:pPr algn="l"/>
            <a:r>
              <a:rPr sz="2600" b="1">
                <a:solidFill>
                  <a:srgbClr val="1E2761"/>
                </a:solidFill>
                <a:latin typeface="Calibri"/>
              </a:rPr>
              <a:t>Review Questions</a:t>
            </a:r>
          </a:p>
        </p:txBody>
      </p:sp>
      <p:sp>
        <p:nvSpPr>
          <p:cNvPr id="5" name="TextBox 4"/>
          <p:cNvSpPr txBox="1"/>
          <p:nvPr/>
        </p:nvSpPr>
        <p:spPr>
          <a:xfrm>
            <a:off x="640080" y="1554480"/>
            <a:ext cx="10972800" cy="5120640"/>
          </a:xfrm>
          <a:prstGeom prst="rect">
            <a:avLst/>
          </a:prstGeom>
          <a:noFill/>
        </p:spPr>
        <p:txBody>
          <a:bodyPr wrap="square">
            <a:spAutoFit/>
          </a:bodyPr>
          <a:lstStyle/>
          <a:p>
            <a:pPr>
              <a:spcAft>
                <a:spcPts val="600"/>
              </a:spcAft>
            </a:pPr>
            <a:r>
              <a:rPr sz="1500">
                <a:solidFill>
                  <a:srgbClr val="333333"/>
                </a:solidFill>
                <a:latin typeface="Calibri"/>
              </a:rPr>
              <a:t>  •  Pick a corpus type where contextual chunking is worth the cost.</a:t>
            </a:r>
          </a:p>
          <a:p>
            <a:pPr>
              <a:spcAft>
                <a:spcPts val="600"/>
              </a:spcAft>
            </a:pPr>
            <a:r>
              <a:rPr sz="1500">
                <a:solidFill>
                  <a:srgbClr val="333333"/>
                </a:solidFill>
                <a:latin typeface="Calibri"/>
              </a:rPr>
              <a:t>  •  When does late chunking fail to help?</a:t>
            </a:r>
          </a:p>
          <a:p>
            <a:pPr>
              <a:spcAft>
                <a:spcPts val="600"/>
              </a:spcAft>
            </a:pPr>
            <a:r>
              <a:rPr sz="1500">
                <a:solidFill>
                  <a:srgbClr val="333333"/>
                </a:solidFill>
                <a:latin typeface="Calibri"/>
              </a:rPr>
              <a:t>  •  Sketch a hierarchical retrieval flow for a medical knowledge base.</a:t>
            </a:r>
          </a:p>
          <a:p>
            <a:pPr>
              <a:spcAft>
                <a:spcPts val="600"/>
              </a:spcAft>
            </a:pPr>
            <a:r>
              <a:rPr sz="1500">
                <a:solidFill>
                  <a:srgbClr val="333333"/>
                </a:solidFill>
                <a:latin typeface="Calibri"/>
              </a:rPr>
              <a:t>  •  What latency does each chunking strategy add at ingestion?</a:t>
            </a:r>
          </a:p>
        </p:txBody>
      </p:sp>
      <p:sp>
        <p:nvSpPr>
          <p:cNvPr id="6" name="Rectangle 5"/>
          <p:cNvSpPr/>
          <p:nvPr/>
        </p:nvSpPr>
        <p:spPr>
          <a:xfrm>
            <a:off x="0" y="6675120"/>
            <a:ext cx="12188952" cy="1828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9144000" cy="548640"/>
          </a:xfrm>
          <a:prstGeom prst="rect">
            <a:avLst/>
          </a:prstGeom>
          <a:noFill/>
        </p:spPr>
        <p:txBody>
          <a:bodyPr wrap="square">
            <a:spAutoFit/>
          </a:bodyPr>
          <a:lstStyle/>
          <a:p>
            <a:pPr algn="l"/>
            <a:r>
              <a:rPr sz="1800" b="1">
                <a:solidFill>
                  <a:srgbClr val="2C5FF5"/>
                </a:solidFill>
                <a:latin typeface="Calibri"/>
              </a:rPr>
              <a:t>This Week's Labs</a:t>
            </a:r>
          </a:p>
        </p:txBody>
      </p:sp>
      <p:sp>
        <p:nvSpPr>
          <p:cNvPr id="4" name="TextBox 3"/>
          <p:cNvSpPr txBox="1"/>
          <p:nvPr/>
        </p:nvSpPr>
        <p:spPr>
          <a:xfrm>
            <a:off x="640080" y="1463040"/>
            <a:ext cx="10972800" cy="457200"/>
          </a:xfrm>
          <a:prstGeom prst="rect">
            <a:avLst/>
          </a:prstGeom>
          <a:noFill/>
        </p:spPr>
        <p:txBody>
          <a:bodyPr wrap="square">
            <a:spAutoFit/>
          </a:bodyPr>
          <a:lstStyle/>
          <a:p>
            <a:pPr algn="l"/>
            <a:r>
              <a:rPr sz="1800" b="1">
                <a:solidFill>
                  <a:srgbClr val="FFFFFF"/>
                </a:solidFill>
                <a:latin typeface="Calibri"/>
              </a:rPr>
              <a:t>Lab A: Four chunking strategies head to head</a:t>
            </a:r>
          </a:p>
        </p:txBody>
      </p:sp>
      <p:sp>
        <p:nvSpPr>
          <p:cNvPr id="5" name="TextBox 4"/>
          <p:cNvSpPr txBox="1"/>
          <p:nvPr/>
        </p:nvSpPr>
        <p:spPr>
          <a:xfrm>
            <a:off x="822960" y="1828800"/>
            <a:ext cx="10972800" cy="640080"/>
          </a:xfrm>
          <a:prstGeom prst="rect">
            <a:avLst/>
          </a:prstGeom>
          <a:noFill/>
        </p:spPr>
        <p:txBody>
          <a:bodyPr wrap="square">
            <a:spAutoFit/>
          </a:bodyPr>
          <a:lstStyle/>
          <a:p>
            <a:pPr algn="l"/>
            <a:r>
              <a:rPr sz="1200" b="0">
                <a:solidFill>
                  <a:srgbClr val="FFFFFF"/>
                </a:solidFill>
                <a:latin typeface="Calibri"/>
              </a:rPr>
              <a:t>Implement fixed-size, semantic, late, and contextual chunking on the same 1000-document corpus. Rank by retrieval recall@10.</a:t>
            </a:r>
          </a:p>
        </p:txBody>
      </p:sp>
      <p:sp>
        <p:nvSpPr>
          <p:cNvPr id="6" name="TextBox 5"/>
          <p:cNvSpPr txBox="1"/>
          <p:nvPr/>
        </p:nvSpPr>
        <p:spPr>
          <a:xfrm>
            <a:off x="640080" y="2286000"/>
            <a:ext cx="10972800" cy="457200"/>
          </a:xfrm>
          <a:prstGeom prst="rect">
            <a:avLst/>
          </a:prstGeom>
          <a:noFill/>
        </p:spPr>
        <p:txBody>
          <a:bodyPr wrap="square">
            <a:spAutoFit/>
          </a:bodyPr>
          <a:lstStyle/>
          <a:p>
            <a:pPr algn="l"/>
            <a:r>
              <a:rPr sz="1800" b="1">
                <a:solidFill>
                  <a:srgbClr val="FFFFFF"/>
                </a:solidFill>
                <a:latin typeface="Calibri"/>
              </a:rPr>
              <a:t>Lab B: Mother-and-child hierarchical retrieval</a:t>
            </a:r>
          </a:p>
        </p:txBody>
      </p:sp>
      <p:sp>
        <p:nvSpPr>
          <p:cNvPr id="7" name="TextBox 6"/>
          <p:cNvSpPr txBox="1"/>
          <p:nvPr/>
        </p:nvSpPr>
        <p:spPr>
          <a:xfrm>
            <a:off x="822960" y="2651760"/>
            <a:ext cx="10972800" cy="640080"/>
          </a:xfrm>
          <a:prstGeom prst="rect">
            <a:avLst/>
          </a:prstGeom>
          <a:noFill/>
        </p:spPr>
        <p:txBody>
          <a:bodyPr wrap="square">
            <a:spAutoFit/>
          </a:bodyPr>
          <a:lstStyle/>
          <a:p>
            <a:pPr algn="l"/>
            <a:r>
              <a:rPr sz="1200" b="0">
                <a:solidFill>
                  <a:srgbClr val="FFFFFF"/>
                </a:solidFill>
                <a:latin typeface="Calibri"/>
              </a:rPr>
              <a:t>Build a two-level retrieval that matches against child chunks but returns mother chunks to the LLM.</a:t>
            </a:r>
          </a:p>
        </p:txBody>
      </p:sp>
      <p:sp>
        <p:nvSpPr>
          <p:cNvPr id="8" name="TextBox 7"/>
          <p:cNvSpPr txBox="1"/>
          <p:nvPr/>
        </p:nvSpPr>
        <p:spPr>
          <a:xfrm>
            <a:off x="640080" y="6400800"/>
            <a:ext cx="10972800" cy="365760"/>
          </a:xfrm>
          <a:prstGeom prst="rect">
            <a:avLst/>
          </a:prstGeom>
          <a:noFill/>
        </p:spPr>
        <p:txBody>
          <a:bodyPr wrap="square">
            <a:spAutoFit/>
          </a:bodyPr>
          <a:lstStyle/>
          <a:p>
            <a:pPr algn="l"/>
            <a:r>
              <a:rPr sz="1200" b="0">
                <a:solidFill>
                  <a:srgbClr val="FFFFFF"/>
                </a:solidFill>
                <a:latin typeface="Calibri"/>
              </a:rPr>
              <a:t>Quiz Tuesday | Project due next Saturday | Instructor: Pavan 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