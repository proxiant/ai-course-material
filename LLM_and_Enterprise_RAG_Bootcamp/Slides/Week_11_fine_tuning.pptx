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457200"/>
          </a:xfrm>
          <a:prstGeom prst="rect">
            <a:avLst/>
          </a:prstGeom>
          <a:noFill/>
        </p:spPr>
        <p:txBody>
          <a:bodyPr wrap="square">
            <a:spAutoFit/>
          </a:bodyPr>
          <a:lstStyle/>
          <a:p>
            <a:pPr algn="l"/>
            <a:r>
              <a:rPr sz="1400" b="0">
                <a:solidFill>
                  <a:srgbClr val="FFFFFF"/>
                </a:solidFill>
                <a:latin typeface="Calibri"/>
              </a:rPr>
              <a:t>Proxiant Academy</a:t>
            </a:r>
          </a:p>
        </p:txBody>
      </p:sp>
      <p:sp>
        <p:nvSpPr>
          <p:cNvPr id="4" name="TextBox 3"/>
          <p:cNvSpPr txBox="1"/>
          <p:nvPr/>
        </p:nvSpPr>
        <p:spPr>
          <a:xfrm>
            <a:off x="548640" y="1828800"/>
            <a:ext cx="7315200" cy="640080"/>
          </a:xfrm>
          <a:prstGeom prst="rect">
            <a:avLst/>
          </a:prstGeom>
          <a:noFill/>
        </p:spPr>
        <p:txBody>
          <a:bodyPr wrap="square">
            <a:spAutoFit/>
          </a:bodyPr>
          <a:lstStyle/>
          <a:p>
            <a:pPr algn="l"/>
            <a:r>
              <a:rPr sz="2800" b="1">
                <a:solidFill>
                  <a:srgbClr val="2C5FF5"/>
                </a:solidFill>
                <a:latin typeface="Calibri"/>
              </a:rPr>
              <a:t>Week 11</a:t>
            </a:r>
          </a:p>
        </p:txBody>
      </p:sp>
      <p:sp>
        <p:nvSpPr>
          <p:cNvPr id="5" name="TextBox 4"/>
          <p:cNvSpPr txBox="1"/>
          <p:nvPr/>
        </p:nvSpPr>
        <p:spPr>
          <a:xfrm>
            <a:off x="548640" y="2560320"/>
            <a:ext cx="10972800" cy="1280160"/>
          </a:xfrm>
          <a:prstGeom prst="rect">
            <a:avLst/>
          </a:prstGeom>
          <a:noFill/>
        </p:spPr>
        <p:txBody>
          <a:bodyPr wrap="square">
            <a:spAutoFit/>
          </a:bodyPr>
          <a:lstStyle/>
          <a:p>
            <a:pPr algn="l"/>
            <a:r>
              <a:rPr sz="4400" b="1">
                <a:solidFill>
                  <a:srgbClr val="FFFFFF"/>
                </a:solidFill>
                <a:latin typeface="Calibri"/>
              </a:rPr>
              <a:t>Fine-Tuning</a:t>
            </a:r>
          </a:p>
        </p:txBody>
      </p:sp>
      <p:sp>
        <p:nvSpPr>
          <p:cNvPr id="6" name="TextBox 5"/>
          <p:cNvSpPr txBox="1"/>
          <p:nvPr/>
        </p:nvSpPr>
        <p:spPr>
          <a:xfrm>
            <a:off x="548640" y="4206240"/>
            <a:ext cx="10972800" cy="914400"/>
          </a:xfrm>
          <a:prstGeom prst="rect">
            <a:avLst/>
          </a:prstGeom>
          <a:noFill/>
        </p:spPr>
        <p:txBody>
          <a:bodyPr wrap="square">
            <a:spAutoFit/>
          </a:bodyPr>
          <a:lstStyle/>
          <a:p>
            <a:pPr algn="l"/>
            <a:r>
              <a:rPr sz="2000" b="0">
                <a:solidFill>
                  <a:srgbClr val="FFFFFF"/>
                </a:solidFill>
                <a:latin typeface="Calibri"/>
              </a:rPr>
              <a:t>Chinchilla, PEFT/LoRA, RLHF, and RL with verifiable rewards</a:t>
            </a:r>
          </a:p>
        </p:txBody>
      </p:sp>
      <p:sp>
        <p:nvSpPr>
          <p:cNvPr id="7" name="TextBox 6"/>
          <p:cNvSpPr txBox="1"/>
          <p:nvPr/>
        </p:nvSpPr>
        <p:spPr>
          <a:xfrm>
            <a:off x="548640" y="5760720"/>
            <a:ext cx="7315200" cy="365760"/>
          </a:xfrm>
          <a:prstGeom prst="rect">
            <a:avLst/>
          </a:prstGeom>
          <a:noFill/>
        </p:spPr>
        <p:txBody>
          <a:bodyPr wrap="square">
            <a:spAutoFit/>
          </a:bodyPr>
          <a:lstStyle/>
          <a:p>
            <a:pPr algn="l"/>
            <a:r>
              <a:rPr sz="1200" b="0">
                <a:solidFill>
                  <a:srgbClr val="FFFFFF"/>
                </a:solidFill>
                <a:latin typeface="Calibri"/>
              </a:rPr>
              <a:t>Saturday, December 12, 2026</a:t>
            </a:r>
          </a:p>
        </p:txBody>
      </p:sp>
      <p:sp>
        <p:nvSpPr>
          <p:cNvPr id="8" name="TextBox 7"/>
          <p:cNvSpPr txBox="1"/>
          <p:nvPr/>
        </p:nvSpPr>
        <p:spPr>
          <a:xfrm>
            <a:off x="548640" y="6126480"/>
            <a:ext cx="9144000" cy="365760"/>
          </a:xfrm>
          <a:prstGeom prst="rect">
            <a:avLst/>
          </a:prstGeom>
          <a:noFill/>
        </p:spPr>
        <p:txBody>
          <a:bodyPr wrap="square">
            <a:spAutoFit/>
          </a:bodyPr>
          <a:lstStyle/>
          <a:p>
            <a:pPr algn="l"/>
            <a:r>
              <a:rPr sz="1200" b="0">
                <a:solidFill>
                  <a:srgbClr val="FFFFFF"/>
                </a:solidFill>
                <a:latin typeface="Calibri"/>
              </a:rPr>
              <a:t>LLM and Enterprise RAG Bootcamp | Instructor: Pavan R</a:t>
            </a:r>
          </a:p>
        </p:txBody>
      </p:sp>
      <p:sp>
        <p:nvSpPr>
          <p:cNvPr id="9" name="TextBox 8"/>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1</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Today's Map</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Where we are in the bootcamp</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The fine-tuning week. Cover Chinchilla scaling for sizing decisions. PEFT with LoRA and qLoRA. The full RLHF pipeline (SFT, reward model, PPO). RL with verifiable rewards (RLVR) for tasks where the reward can be checked programmatically. The lab pair runs Text-to-SQL fine-tuning and a basic TRL GRPO experiment.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Learning Objectives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Apply Chinchilla scaling to estimate the right model size for a token budget</a:t>
            </a:r>
          </a:p>
          <a:p>
            <a:pPr>
              <a:spcAft>
                <a:spcPts val="600"/>
              </a:spcAft>
            </a:pPr>
            <a:r>
              <a:rPr sz="1500">
                <a:solidFill>
                  <a:srgbClr val="333333"/>
                </a:solidFill>
                <a:latin typeface="Calibri"/>
              </a:rPr>
              <a:t>  •  Configure LoRA with appropriate rank, alpha, and target modules</a:t>
            </a:r>
          </a:p>
          <a:p>
            <a:pPr>
              <a:spcAft>
                <a:spcPts val="600"/>
              </a:spcAft>
            </a:pPr>
            <a:r>
              <a:rPr sz="1500">
                <a:solidFill>
                  <a:srgbClr val="333333"/>
                </a:solidFill>
                <a:latin typeface="Calibri"/>
              </a:rPr>
              <a:t>  •  Walk the full RLHF pipeline: SFT, reward model, PPO</a:t>
            </a:r>
          </a:p>
          <a:p>
            <a:pPr>
              <a:spcAft>
                <a:spcPts val="600"/>
              </a:spcAft>
            </a:pPr>
            <a:r>
              <a:rPr sz="1500">
                <a:solidFill>
                  <a:srgbClr val="333333"/>
                </a:solidFill>
                <a:latin typeface="Calibri"/>
              </a:rPr>
              <a:t>  •  Use RLVR for tasks with programmatically checkable correctness</a:t>
            </a:r>
          </a:p>
          <a:p>
            <a:pPr>
              <a:spcAft>
                <a:spcPts val="600"/>
              </a:spcAft>
            </a:pPr>
            <a:r>
              <a:rPr sz="1500">
                <a:solidFill>
                  <a:srgbClr val="333333"/>
                </a:solidFill>
                <a:latin typeface="Calibri"/>
              </a:rPr>
              <a:t>  •  Run a basic GRPO loop with TRL on a small base model</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2</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Concepts</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Chinchilla scaling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For a fixed compute budget, optimal model size and tokens scale together at roughly 20 tokens per parameter. Knowing your token budget tells you the right model size. Over-trained smaller models often beat under-trained larger.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PEFT and LoRA</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Freeze the base. Adapt with a low-rank update BA. Train only BA. Recover near-full-precision performance on most downstream tasks at 0.5% to 2% of trainable parameters.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qLoRA</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Quantize the base to 4-bit. Train LoRA in 16-bit. Memory drops 4x. Accuracy stays within 1-2 points on most tasks.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The RLHF pipeline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SFT on demonstrations. Train a reward model on preferences. PPO against the reward model with KL penalty to a reference. Three stages, each with its own failure modes.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RL with verifiable rewards (RLVR)</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When correctness can be checked programmatically (unit tests, SQL execution, theorem checker), skip the reward model. The verifier becomes the reward.</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GRPO</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Group Relative Policy Optimization. Sample N completions per prompt; use relative advantage. Drops the value head, halves memory, matches PPO on many tasks.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7. Evaluating fine-tuned models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Held-out eval for the target task. Regression suite for base capabilities. Drift checks over time. Explicit harm tests.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3</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Deeper Look</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Chinchilla scaling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For a fixed compute budget, optimal model size and training tokens scale together at roughly 20 tokens per parameter. A 7B model wants about 140B tokens. Knowing your token budget tells you the right model size. Over-trained smaller models often beat under-trained larger ones.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PEFT and LoRA</a:t>
            </a:r>
          </a:p>
        </p:txBody>
      </p:sp>
      <p:sp>
        <p:nvSpPr>
          <p:cNvPr id="5" name="Rectangle 4"/>
          <p:cNvSpPr/>
          <p:nvPr/>
        </p:nvSpPr>
        <p:spPr>
          <a:xfrm>
            <a:off x="457200" y="1554480"/>
            <a:ext cx="11247120" cy="4937760"/>
          </a:xfrm>
          <a:prstGeom prst="rect">
            <a:avLst/>
          </a:prstGeom>
          <a:solidFill>
            <a:srgbClr val="1B1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0"/>
              </a:spcAft>
            </a:pPr>
            <a:r>
              <a:rPr sz="1300">
                <a:solidFill>
                  <a:srgbClr val="E6ECF5"/>
                </a:solidFill>
                <a:latin typeface="Consolas"/>
              </a:rPr>
              <a:t>from peft import LoraConfig, get_peft_model</a:t>
            </a:r>
          </a:p>
          <a:p>
            <a:pPr>
              <a:spcAft>
                <a:spcPts val="0"/>
              </a:spcAft>
            </a:pPr>
            <a:r>
              <a:rPr sz="1300">
                <a:solidFill>
                  <a:srgbClr val="E6ECF5"/>
                </a:solidFill>
                <a:latin typeface="Consolas"/>
              </a:rPr>
              <a:t> </a:t>
            </a:r>
          </a:p>
          <a:p>
            <a:pPr>
              <a:spcAft>
                <a:spcPts val="0"/>
              </a:spcAft>
            </a:pPr>
            <a:r>
              <a:rPr sz="1300">
                <a:solidFill>
                  <a:srgbClr val="E6ECF5"/>
                </a:solidFill>
                <a:latin typeface="Consolas"/>
              </a:rPr>
              <a:t>config = LoraConfig(</a:t>
            </a:r>
          </a:p>
          <a:p>
            <a:pPr>
              <a:spcAft>
                <a:spcPts val="0"/>
              </a:spcAft>
            </a:pPr>
            <a:r>
              <a:rPr sz="1300">
                <a:solidFill>
                  <a:srgbClr val="E6ECF5"/>
                </a:solidFill>
                <a:latin typeface="Consolas"/>
              </a:rPr>
              <a:t>    r=16, lora_alpha=32,</a:t>
            </a:r>
          </a:p>
          <a:p>
            <a:pPr>
              <a:spcAft>
                <a:spcPts val="0"/>
              </a:spcAft>
            </a:pPr>
            <a:r>
              <a:rPr sz="1300">
                <a:solidFill>
                  <a:srgbClr val="E6ECF5"/>
                </a:solidFill>
                <a:latin typeface="Consolas"/>
              </a:rPr>
              <a:t>    target_modules=['q_proj', 'v_proj', 'o_proj'],</a:t>
            </a:r>
          </a:p>
          <a:p>
            <a:pPr>
              <a:spcAft>
                <a:spcPts val="0"/>
              </a:spcAft>
            </a:pPr>
            <a:r>
              <a:rPr sz="1300">
                <a:solidFill>
                  <a:srgbClr val="E6ECF5"/>
                </a:solidFill>
                <a:latin typeface="Consolas"/>
              </a:rPr>
              <a:t>    lora_dropout=0.05,</a:t>
            </a:r>
          </a:p>
          <a:p>
            <a:pPr>
              <a:spcAft>
                <a:spcPts val="0"/>
              </a:spcAft>
            </a:pPr>
            <a:r>
              <a:rPr sz="1300">
                <a:solidFill>
                  <a:srgbClr val="E6ECF5"/>
                </a:solidFill>
                <a:latin typeface="Consolas"/>
              </a:rPr>
              <a:t>    task_type='CAUSAL_LM',</a:t>
            </a:r>
          </a:p>
          <a:p>
            <a:pPr>
              <a:spcAft>
                <a:spcPts val="0"/>
              </a:spcAft>
            </a:pPr>
            <a:r>
              <a:rPr sz="1300">
                <a:solidFill>
                  <a:srgbClr val="E6ECF5"/>
                </a:solidFill>
                <a:latin typeface="Consolas"/>
              </a:rPr>
              <a:t>)</a:t>
            </a:r>
          </a:p>
          <a:p>
            <a:pPr>
              <a:spcAft>
                <a:spcPts val="0"/>
              </a:spcAft>
            </a:pPr>
            <a:r>
              <a:rPr sz="1300">
                <a:solidFill>
                  <a:srgbClr val="E6ECF5"/>
                </a:solidFill>
                <a:latin typeface="Consolas"/>
              </a:rPr>
              <a:t>model = get_peft_model(base, config)</a:t>
            </a:r>
          </a:p>
          <a:p>
            <a:pPr>
              <a:spcAft>
                <a:spcPts val="0"/>
              </a:spcAft>
            </a:pPr>
            <a:r>
              <a:rPr sz="1300">
                <a:solidFill>
                  <a:srgbClr val="E6ECF5"/>
                </a:solidFill>
                <a:latin typeface="Consolas"/>
              </a:rPr>
              <a:t> </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qLoRA</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Quantize the base to 4-bit (NF4 with double quantization). Train LoRA in 16-bit. Memory drops 4x. Accuracy stays within 1-2 points on most tasks. The free lunch is real, with caveats on very small models and very long contexts.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The RLHF pipeline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Three stages. SFT on demonstrations. Reward model trained on preference pairs. PPO against the reward model with KL penalty to a reference model. Each stage has its own failure modes (overfitting, reward hacking, KL collapse).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RL with verifiable rewards (RLVR)</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When correctness can be checked programmatically (SQL execution, unit tests, theorem checker), skip the reward model. The verifier becomes the reward function. Faster, more honest, less reward hacking.</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GRPO</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Sample N completions per prompt. Compute group-relative advantage. Drop the value head. Halves memory. Matches PPO on many tasks. Default for RLVR-style training.</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7. Evaluating fine-tuned models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Held-out eval set for the target task. Regression suite for base capabilities (so fine-tuning has not broken math, code, or reasoning). Drift checks. Explicit harm tests.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4</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Papers</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Training Compute-Optimal Large Language Models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Hoffmann et al., 2022 (arXiv:2203.15556). The Chinchilla paper.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LoRA: Low-Rank Adaptation of Large Language Models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Hu et al., 2021 (arXiv:2106.09685).</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DeepSeekMath: Pushing the Limits of Mathematical Reasoning in Open Language Models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Shao et al., 2024 (arXiv:2402.03300). Introduces GRPO.</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5</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Review</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11 | Fine-Tuning</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Review Questions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Given a 50B-token corpus and 8 H100 weeks, what model size do you train?</a:t>
            </a:r>
          </a:p>
          <a:p>
            <a:pPr>
              <a:spcAft>
                <a:spcPts val="600"/>
              </a:spcAft>
            </a:pPr>
            <a:r>
              <a:rPr sz="1500">
                <a:solidFill>
                  <a:srgbClr val="333333"/>
                </a:solidFill>
                <a:latin typeface="Calibri"/>
              </a:rPr>
              <a:t>  •  Pick LoRA rank and alpha for a SQL-generation task on a 7B base.</a:t>
            </a:r>
          </a:p>
          <a:p>
            <a:pPr>
              <a:spcAft>
                <a:spcPts val="600"/>
              </a:spcAft>
            </a:pPr>
            <a:r>
              <a:rPr sz="1500">
                <a:solidFill>
                  <a:srgbClr val="333333"/>
                </a:solidFill>
                <a:latin typeface="Calibri"/>
              </a:rPr>
              <a:t>  •  When does qLoRA degrade more than 2 points and what is the cause?</a:t>
            </a:r>
          </a:p>
          <a:p>
            <a:pPr>
              <a:spcAft>
                <a:spcPts val="600"/>
              </a:spcAft>
            </a:pPr>
            <a:r>
              <a:rPr sz="1500">
                <a:solidFill>
                  <a:srgbClr val="333333"/>
                </a:solidFill>
                <a:latin typeface="Calibri"/>
              </a:rPr>
              <a:t>  •  Sketch an RLVR setup for a code-generation agent.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22960"/>
            <a:ext cx="9144000" cy="548640"/>
          </a:xfrm>
          <a:prstGeom prst="rect">
            <a:avLst/>
          </a:prstGeom>
          <a:noFill/>
        </p:spPr>
        <p:txBody>
          <a:bodyPr wrap="square">
            <a:spAutoFit/>
          </a:bodyPr>
          <a:lstStyle/>
          <a:p>
            <a:pPr algn="l"/>
            <a:r>
              <a:rPr sz="1800" b="1">
                <a:solidFill>
                  <a:srgbClr val="2C5FF5"/>
                </a:solidFill>
                <a:latin typeface="Calibri"/>
              </a:rPr>
              <a:t>This Week's Labs</a:t>
            </a:r>
          </a:p>
        </p:txBody>
      </p:sp>
      <p:sp>
        <p:nvSpPr>
          <p:cNvPr id="4" name="TextBox 3"/>
          <p:cNvSpPr txBox="1"/>
          <p:nvPr/>
        </p:nvSpPr>
        <p:spPr>
          <a:xfrm>
            <a:off x="640080" y="1463040"/>
            <a:ext cx="10972800" cy="457200"/>
          </a:xfrm>
          <a:prstGeom prst="rect">
            <a:avLst/>
          </a:prstGeom>
          <a:noFill/>
        </p:spPr>
        <p:txBody>
          <a:bodyPr wrap="square">
            <a:spAutoFit/>
          </a:bodyPr>
          <a:lstStyle/>
          <a:p>
            <a:pPr algn="l"/>
            <a:r>
              <a:rPr sz="1800" b="1">
                <a:solidFill>
                  <a:srgbClr val="FFFFFF"/>
                </a:solidFill>
                <a:latin typeface="Calibri"/>
              </a:rPr>
              <a:t>Lab A: Text2SQL fine-tuning on Spider</a:t>
            </a:r>
          </a:p>
        </p:txBody>
      </p:sp>
      <p:sp>
        <p:nvSpPr>
          <p:cNvPr id="5" name="TextBox 4"/>
          <p:cNvSpPr txBox="1"/>
          <p:nvPr/>
        </p:nvSpPr>
        <p:spPr>
          <a:xfrm>
            <a:off x="822960" y="1828800"/>
            <a:ext cx="10972800" cy="640080"/>
          </a:xfrm>
          <a:prstGeom prst="rect">
            <a:avLst/>
          </a:prstGeom>
          <a:noFill/>
        </p:spPr>
        <p:txBody>
          <a:bodyPr wrap="square">
            <a:spAutoFit/>
          </a:bodyPr>
          <a:lstStyle/>
          <a:p>
            <a:pPr algn="l"/>
            <a:r>
              <a:rPr sz="1200" b="0">
                <a:solidFill>
                  <a:srgbClr val="FFFFFF"/>
                </a:solidFill>
                <a:latin typeface="Calibri"/>
              </a:rPr>
              <a:t>Fine-tune a small base model on the Spider dataset with LoRA. Compare to a few-shot baseline.</a:t>
            </a:r>
          </a:p>
        </p:txBody>
      </p:sp>
      <p:sp>
        <p:nvSpPr>
          <p:cNvPr id="6" name="TextBox 5"/>
          <p:cNvSpPr txBox="1"/>
          <p:nvPr/>
        </p:nvSpPr>
        <p:spPr>
          <a:xfrm>
            <a:off x="640080" y="2286000"/>
            <a:ext cx="10972800" cy="457200"/>
          </a:xfrm>
          <a:prstGeom prst="rect">
            <a:avLst/>
          </a:prstGeom>
          <a:noFill/>
        </p:spPr>
        <p:txBody>
          <a:bodyPr wrap="square">
            <a:spAutoFit/>
          </a:bodyPr>
          <a:lstStyle/>
          <a:p>
            <a:pPr algn="l"/>
            <a:r>
              <a:rPr sz="1800" b="1">
                <a:solidFill>
                  <a:srgbClr val="FFFFFF"/>
                </a:solidFill>
                <a:latin typeface="Calibri"/>
              </a:rPr>
              <a:t>Lab B: Basic TRL GRPO loop</a:t>
            </a:r>
          </a:p>
        </p:txBody>
      </p:sp>
      <p:sp>
        <p:nvSpPr>
          <p:cNvPr id="7" name="TextBox 6"/>
          <p:cNvSpPr txBox="1"/>
          <p:nvPr/>
        </p:nvSpPr>
        <p:spPr>
          <a:xfrm>
            <a:off x="822960" y="2651760"/>
            <a:ext cx="10972800" cy="640080"/>
          </a:xfrm>
          <a:prstGeom prst="rect">
            <a:avLst/>
          </a:prstGeom>
          <a:noFill/>
        </p:spPr>
        <p:txBody>
          <a:bodyPr wrap="square">
            <a:spAutoFit/>
          </a:bodyPr>
          <a:lstStyle/>
          <a:p>
            <a:pPr algn="l"/>
            <a:r>
              <a:rPr sz="1200" b="0">
                <a:solidFill>
                  <a:srgbClr val="FFFFFF"/>
                </a:solidFill>
                <a:latin typeface="Calibri"/>
              </a:rPr>
              <a:t>Set up a minimal GRPO training run on a small base model with an executable reward.</a:t>
            </a:r>
          </a:p>
        </p:txBody>
      </p:sp>
      <p:sp>
        <p:nvSpPr>
          <p:cNvPr id="8" name="TextBox 7"/>
          <p:cNvSpPr txBox="1"/>
          <p:nvPr/>
        </p:nvSpPr>
        <p:spPr>
          <a:xfrm>
            <a:off x="640080" y="6217920"/>
            <a:ext cx="10972800" cy="365760"/>
          </a:xfrm>
          <a:prstGeom prst="rect">
            <a:avLst/>
          </a:prstGeom>
          <a:noFill/>
        </p:spPr>
        <p:txBody>
          <a:bodyPr wrap="square">
            <a:spAutoFit/>
          </a:bodyPr>
          <a:lstStyle/>
          <a:p>
            <a:pPr algn="l"/>
            <a:r>
              <a:rPr sz="1200" b="0">
                <a:solidFill>
                  <a:srgbClr val="FFFFFF"/>
                </a:solidFill>
                <a:latin typeface="Calibri"/>
              </a:rPr>
              <a:t>Quiz Tuesday | Project due next Saturday | Instructor: Pavan R</a:t>
            </a:r>
          </a:p>
        </p:txBody>
      </p:sp>
      <p:sp>
        <p:nvSpPr>
          <p:cNvPr id="9" name="TextBox 8"/>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