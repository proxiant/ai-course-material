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8</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Overcoming RAG Challenges</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Guardrails, grounding, NLI verification, P95 latency</a:t>
            </a:r>
          </a:p>
        </p:txBody>
      </p:sp>
      <p:sp>
        <p:nvSpPr>
          <p:cNvPr id="7" name="TextBox 6"/>
          <p:cNvSpPr txBox="1"/>
          <p:nvPr/>
        </p:nvSpPr>
        <p:spPr>
          <a:xfrm>
            <a:off x="548640" y="5760720"/>
            <a:ext cx="7315200" cy="365760"/>
          </a:xfrm>
          <a:prstGeom prst="rect">
            <a:avLst/>
          </a:prstGeom>
          <a:noFill/>
        </p:spPr>
        <p:txBody>
          <a:bodyPr wrap="square">
            <a:spAutoFit/>
          </a:bodyPr>
          <a:lstStyle/>
          <a:p>
            <a:pPr algn="l"/>
            <a:r>
              <a:rPr sz="1200" b="0">
                <a:solidFill>
                  <a:srgbClr val="FFFFFF"/>
                </a:solidFill>
                <a:latin typeface="Calibri"/>
              </a:rPr>
              <a:t>Saturday, November 21, 2026</a:t>
            </a:r>
          </a:p>
        </p:txBody>
      </p:sp>
      <p:sp>
        <p:nvSpPr>
          <p:cNvPr id="8" name="TextBox 7"/>
          <p:cNvSpPr txBox="1"/>
          <p:nvPr/>
        </p:nvSpPr>
        <p:spPr>
          <a:xfrm>
            <a:off x="548640" y="6126480"/>
            <a:ext cx="9144000" cy="365760"/>
          </a:xfrm>
          <a:prstGeom prst="rect">
            <a:avLst/>
          </a:prstGeom>
          <a:noFill/>
        </p:spPr>
        <p:txBody>
          <a:bodyPr wrap="square">
            <a:spAutoFit/>
          </a:bodyPr>
          <a:lstStyle/>
          <a:p>
            <a:pPr algn="l"/>
            <a:r>
              <a:rPr sz="1200" b="0">
                <a:solidFill>
                  <a:srgbClr val="FFFFFF"/>
                </a:solidFill>
                <a:latin typeface="Calibri"/>
              </a:rPr>
              <a:t>LLM and Enterprise RAG Bootcamp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RAG in production hits real walls: hallucinations, prompt injection, PII leakage, latency. Today covers guardrail pipelines (syntax, PII, toxicity, intent), adversarial threats, grounding via NLI verification, and the P95 latency budget. The lab builds a guardrail pipeline and an NLI-based grounding checker.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Build a guardrail pipeline with syntax, PII, toxicity, and intent stages</a:t>
            </a:r>
          </a:p>
          <a:p>
            <a:pPr>
              <a:spcAft>
                <a:spcPts val="600"/>
              </a:spcAft>
            </a:pPr>
            <a:r>
              <a:rPr sz="1500">
                <a:solidFill>
                  <a:srgbClr val="333333"/>
                </a:solidFill>
                <a:latin typeface="Calibri"/>
              </a:rPr>
              <a:t>  •  Defend against prompt injection at each layer of the system</a:t>
            </a:r>
          </a:p>
          <a:p>
            <a:pPr>
              <a:spcAft>
                <a:spcPts val="600"/>
              </a:spcAft>
            </a:pPr>
            <a:r>
              <a:rPr sz="1500">
                <a:solidFill>
                  <a:srgbClr val="333333"/>
                </a:solidFill>
                <a:latin typeface="Calibri"/>
              </a:rPr>
              <a:t>  •  Verify answers against retrieved evidence using an NLI model</a:t>
            </a:r>
          </a:p>
          <a:p>
            <a:pPr>
              <a:spcAft>
                <a:spcPts val="600"/>
              </a:spcAft>
            </a:pPr>
            <a:r>
              <a:rPr sz="1500">
                <a:solidFill>
                  <a:srgbClr val="333333"/>
                </a:solidFill>
                <a:latin typeface="Calibri"/>
              </a:rPr>
              <a:t>  •  Hit a P95 latency target while keeping all guardrails enabled</a:t>
            </a:r>
          </a:p>
          <a:p>
            <a:pPr>
              <a:spcAft>
                <a:spcPts val="600"/>
              </a:spcAft>
            </a:pPr>
            <a:r>
              <a:rPr sz="1500">
                <a:solidFill>
                  <a:srgbClr val="333333"/>
                </a:solidFill>
                <a:latin typeface="Calibri"/>
              </a:rPr>
              <a:t>  •  Detect and quantify hallucination rate in production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guardrail pipeline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Four stages, ordered cheap to expensive: syntax (well-formed JSON), PII detection, toxicity scoring, intent classification. Each stage can refuse independently.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PII handling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Detect PII in inputs and outputs. Redact in logs and traces. Use scoped retention policies. Different jurisdictions have different rules; build for the strictest.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Prompt injection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Treat retrieved content as untrusted data. Use system-prompt delimiters that fetched text cannot reproduce. Strip instruction-like patterns from retrievals.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NLI verification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After generation, run the (answer, evidence) pair through a natural language inference model. Entailment = grounded. Contradiction = block. Neutral = flag for review.</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Grounding frameworks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Train the model to cite which retrieved passage supports each claim. Verify at inference. Reject answers that fail verification.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P95 latency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Means lie about user experience. P95 is what users feel. Budget every stage of the pipeline; nothing exceeds its allotment without explicit justification.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Hallucination detection in production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Sample 1% of traffic for offline grounding verification. Alert when the hallucination rate drifts above baseline.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guardrail pipeline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Four stages, ordered cheap to expensive. Stage 1 syntax: well-formed JSON, schema-valid. Stage 2 PII: detect and redact. Stage 3 toxicity: score and block. Stage 4 intent: route to allowed or out-of-scope. Each stage can refuse independently and short-circuit the rest.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PII handling at the boundary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Detect PII on inputs and outputs. Redact in logs. Use scoped retention. Different jurisdictions have different rules (GDPR, CCPA, HIPAA). Build for the strictest. Use Presidio or a similar mature library; do not roll your own.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Prompt injection defense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Retrieved content is untrusted data. Treat it that way. Use system-prompt delimiters that fetched text cannot reproduce (random tokens, structured headers). Strip instruction-like patterns. Log suspicious patterns for review.</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NLI verification</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def verify_grounding(answer, context, nli_model):</a:t>
            </a:r>
          </a:p>
          <a:p>
            <a:pPr>
              <a:spcAft>
                <a:spcPts val="0"/>
              </a:spcAft>
            </a:pPr>
            <a:r>
              <a:rPr sz="1300">
                <a:solidFill>
                  <a:srgbClr val="E6ECF5"/>
                </a:solidFill>
                <a:latin typeface="Consolas"/>
              </a:rPr>
              <a:t>    claims = split_into_claims(answer)</a:t>
            </a:r>
          </a:p>
          <a:p>
            <a:pPr>
              <a:spcAft>
                <a:spcPts val="0"/>
              </a:spcAft>
            </a:pPr>
            <a:r>
              <a:rPr sz="1300">
                <a:solidFill>
                  <a:srgbClr val="E6ECF5"/>
                </a:solidFill>
                <a:latin typeface="Consolas"/>
              </a:rPr>
              <a:t>    for claim in claims:</a:t>
            </a:r>
          </a:p>
          <a:p>
            <a:pPr>
              <a:spcAft>
                <a:spcPts val="0"/>
              </a:spcAft>
            </a:pPr>
            <a:r>
              <a:rPr sz="1300">
                <a:solidFill>
                  <a:srgbClr val="E6ECF5"/>
                </a:solidFill>
                <a:latin typeface="Consolas"/>
              </a:rPr>
              <a:t>        verdict = nli_model.predict(context, claim)</a:t>
            </a:r>
          </a:p>
          <a:p>
            <a:pPr>
              <a:spcAft>
                <a:spcPts val="0"/>
              </a:spcAft>
            </a:pPr>
            <a:r>
              <a:rPr sz="1300">
                <a:solidFill>
                  <a:srgbClr val="E6ECF5"/>
                </a:solidFill>
                <a:latin typeface="Consolas"/>
              </a:rPr>
              <a:t>        if verdict == 'contradiction':</a:t>
            </a:r>
          </a:p>
          <a:p>
            <a:pPr>
              <a:spcAft>
                <a:spcPts val="0"/>
              </a:spcAft>
            </a:pPr>
            <a:r>
              <a:rPr sz="1300">
                <a:solidFill>
                  <a:srgbClr val="E6ECF5"/>
                </a:solidFill>
                <a:latin typeface="Consolas"/>
              </a:rPr>
              <a:t>            return False</a:t>
            </a:r>
          </a:p>
          <a:p>
            <a:pPr>
              <a:spcAft>
                <a:spcPts val="0"/>
              </a:spcAft>
            </a:pPr>
            <a:r>
              <a:rPr sz="1300">
                <a:solidFill>
                  <a:srgbClr val="E6ECF5"/>
                </a:solidFill>
                <a:latin typeface="Consolas"/>
              </a:rPr>
              <a:t>    return True</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Grounding via citation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Have the model cite which retrieved passage supports each claim. Verify the citations match. Reject answers that fail. The model learns to be more honest when it knows it will be checked.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The P95 latency discipline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Means hide tails; users feel P95. Budget each stage (retrieval, rerank, generation, verification). Nothing exceeds its allotment without explicit justification. Standard production target: 2-4 seconds P95 for a single RAG turn.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7. Hallucination monitoring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Sample 1% of traffic for offline grounding verification. Trend the hallucination rate weekly. Alert when it drifts above baseline. Without monitoring, you discover problems through customer complaints.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RAGAS: Automated Evaluation of Retrieval Augmented Generation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Es et al., 2023 (arXiv:2309.15217).</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Constitutional AI: Harmlessness from AI Feedback</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Bai et al., 2022 (arXiv:2212.08073). Relevant for guardrail design.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8 | Overcoming RAG Challenges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Pick a guardrail order for a customer-service RAG. Justify.</a:t>
            </a:r>
          </a:p>
          <a:p>
            <a:pPr>
              <a:spcAft>
                <a:spcPts val="600"/>
              </a:spcAft>
            </a:pPr>
            <a:r>
              <a:rPr sz="1500">
                <a:solidFill>
                  <a:srgbClr val="333333"/>
                </a:solidFill>
                <a:latin typeface="Calibri"/>
              </a:rPr>
              <a:t>  •  Sketch a prompt-injection defense that does not break legitimate retrieval.</a:t>
            </a:r>
          </a:p>
          <a:p>
            <a:pPr>
              <a:spcAft>
                <a:spcPts val="600"/>
              </a:spcAft>
            </a:pPr>
            <a:r>
              <a:rPr sz="1500">
                <a:solidFill>
                  <a:srgbClr val="333333"/>
                </a:solidFill>
                <a:latin typeface="Calibri"/>
              </a:rPr>
              <a:t>  •  What is the right action on a 'neutral' NLI verdict?</a:t>
            </a:r>
          </a:p>
          <a:p>
            <a:pPr>
              <a:spcAft>
                <a:spcPts val="600"/>
              </a:spcAft>
            </a:pPr>
            <a:r>
              <a:rPr sz="1500">
                <a:solidFill>
                  <a:srgbClr val="333333"/>
                </a:solidFill>
                <a:latin typeface="Calibri"/>
              </a:rPr>
              <a:t>  •  Allocate a 4-second P95 budget across a 4-stage RAG.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Four-stage guardrail pipeline</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Build a pipeline with syntax, PII, toxicity, and intent stages. Measure throughput and false-positive rates.</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NLI-based response grounding</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Implement an NLI verifier that scores answer grounding against the retrieved context.</a:t>
            </a:r>
          </a:p>
        </p:txBody>
      </p:sp>
      <p:sp>
        <p:nvSpPr>
          <p:cNvPr id="8" name="TextBox 7"/>
          <p:cNvSpPr txBox="1"/>
          <p:nvPr/>
        </p:nvSpPr>
        <p:spPr>
          <a:xfrm>
            <a:off x="640080" y="6217920"/>
            <a:ext cx="10972800" cy="365760"/>
          </a:xfrm>
          <a:prstGeom prst="rect">
            <a:avLst/>
          </a:prstGeom>
          <a:noFill/>
        </p:spPr>
        <p:txBody>
          <a:bodyPr wrap="square">
            <a:spAutoFit/>
          </a:bodyPr>
          <a:lstStyle/>
          <a:p>
            <a:pPr algn="l"/>
            <a:r>
              <a:rPr sz="1200" b="0">
                <a:solidFill>
                  <a:srgbClr val="FFFFFF"/>
                </a:solidFill>
                <a:latin typeface="Calibri"/>
              </a:rPr>
              <a:t>Quiz Tuesday | Project due next Saturday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