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Proxiant Academy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C5FF5"/>
                </a:solidFill>
                <a:latin typeface="Calibri"/>
              </a:rPr>
              <a:t>Week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56032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Calibri"/>
              </a:rPr>
              <a:t>Retrieval Funnel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062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Calibri"/>
              </a:rPr>
              <a:t>Sparse + dense, Matryoshka, ColBERT, and cross-encoder fusion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76072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Saturday, October 24,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1264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LLM and Enterprise RAG Bootcamp | Instructor: Pavan 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6202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FFFFF"/>
                </a:solidFill>
                <a:latin typeface="Calibri"/>
              </a:rPr>
              <a:t>© 2026 Proxiant Academy | info@proxiant.com | proxiant.ai/training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88952" cy="4572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1945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C5FF5"/>
                </a:solidFill>
                <a:latin typeface="Calibri"/>
              </a:rPr>
              <a:t>Section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65176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E2761"/>
                </a:solidFill>
                <a:latin typeface="Calibri"/>
              </a:rPr>
              <a:t>Today's Map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6202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E2761"/>
                </a:solidFill>
                <a:latin typeface="Calibri"/>
              </a:rPr>
              <a:t>© 2026 Proxiant Academy | info@proxiant.com | proxiant.ai/training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4 | Retrieval Funnel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Where we are in the bootcamp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Production retrieval is a funnel: many candidates in, few well-scored results out. Cover sparse (BM25, SPLADE) vs dense, Matryoshka Representation Learning for fast pruning, ColBERT for token-level interaction, and cross-encoder fusion at the top. The lab builds the full four-stage funnel.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6202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FFFFF"/>
                </a:solidFill>
                <a:latin typeface="Calibri"/>
              </a:rPr>
              <a:t>© 2026 Proxiant Academy | info@proxiant.com | proxiant.ai/training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4 | Retrieval Funnel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Learning Objectives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Combine BM25 and dense retrieval in a single retrieve step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Use Matryoshka embeddings to prune cheap candidates quickly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Apply ColBERT (late-interaction) for token-level scoring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Use a cross-encoder for final re-ranking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Measure and tune the funnel end to end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6202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FFFFF"/>
                </a:solidFill>
                <a:latin typeface="Calibri"/>
              </a:rPr>
              <a:t>© 2026 Proxiant Academy | info@proxiant.com | proxiant.ai/training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88952" cy="4572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1945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C5FF5"/>
                </a:solidFill>
                <a:latin typeface="Calibri"/>
              </a:rPr>
              <a:t>Section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65176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E2761"/>
                </a:solidFill>
                <a:latin typeface="Calibri"/>
              </a:rPr>
              <a:t>Concepts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6202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E2761"/>
                </a:solidFill>
                <a:latin typeface="Calibri"/>
              </a:rPr>
              <a:t>© 2026 Proxiant Academy | info@proxiant.com | proxiant.ai/training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4 | Retrieval Funnel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1. Sparse retrieval (BM25, SPLADE)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BM25 is the classical baseline. SPLADE learns sparse representations that match BM25's efficiency with neural semantics.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6202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FFFFF"/>
                </a:solidFill>
                <a:latin typeface="Calibri"/>
              </a:rPr>
              <a:t>© 2026 Proxiant Academy | info@proxiant.com | proxiant.ai/training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4 | Retrieval Funnel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2. Dense retrieval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Bi-encoders project queries and documents into a shared space. Cosine similarity gives the score. Cheap at query time once the index is built.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6202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FFFFF"/>
                </a:solidFill>
                <a:latin typeface="Calibri"/>
              </a:rPr>
              <a:t>© 2026 Proxiant Academy | info@proxiant.com | proxiant.ai/training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4 | Retrieval Funnel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3. Hybrid retrieval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Combine sparse and dense via reciprocal rank fusion or weighted score sum. Almost always beats either alone.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6202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FFFFF"/>
                </a:solidFill>
                <a:latin typeface="Calibri"/>
              </a:rPr>
              <a:t>© 2026 Proxiant Academy | info@proxiant.com | proxiant.ai/training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4 | Retrieval Funnel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4. Matryoshka Representation Learning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Train embeddings that work at multiple truncation lengths (64, 128, 512). Use the short truncation for cheap pruning, the full length for final scoring.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6202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FFFFF"/>
                </a:solidFill>
                <a:latin typeface="Calibri"/>
              </a:rPr>
              <a:t>© 2026 Proxiant Academy | info@proxiant.com | proxiant.ai/training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4 | Retrieval Funnel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5. ColBERT (late interaction)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Score by summing the maximum similarity of each query token to any document token. More expressive than bi-encoders, cheaper than cross-encoders.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6202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FFFFF"/>
                </a:solidFill>
                <a:latin typeface="Calibri"/>
              </a:rPr>
              <a:t>© 2026 Proxiant Academy | info@proxiant.com | proxiant.ai/training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4 | Retrieval Funnel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6. Cross-encoder fusion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Encode the (query, document) pair jointly. Most accurate, most expensive. Use only on the final 20 to 100 candidates.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6202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FFFFF"/>
                </a:solidFill>
                <a:latin typeface="Calibri"/>
              </a:rPr>
              <a:t>© 2026 Proxiant Academy | info@proxiant.com | proxiant.ai/training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4 | Retrieval Funnel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7. The four-stage funnel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Stage 1: BM25 + dense in parallel (200 candidates each). Stage 2: Matryoshka prune to top 100. Stage 3: ColBERT score to top 30. Stage 4: cross-encoder rerank to top 5.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6202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FFFFF"/>
                </a:solidFill>
                <a:latin typeface="Calibri"/>
              </a:rPr>
              <a:t>© 2026 Proxiant Academy | info@proxiant.com | proxiant.ai/training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88952" cy="4572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1945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C5FF5"/>
                </a:solidFill>
                <a:latin typeface="Calibri"/>
              </a:rPr>
              <a:t>Section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65176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E2761"/>
                </a:solidFill>
                <a:latin typeface="Calibri"/>
              </a:rPr>
              <a:t>Deeper Look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6202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E2761"/>
                </a:solidFill>
                <a:latin typeface="Calibri"/>
              </a:rPr>
              <a:t>© 2026 Proxiant Academy | info@proxiant.com | proxiant.ai/training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4 | Retrieval Funnel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1. Sparse retrieval still matters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BM25 finds exact and rare term matches that dense models miss. SPLADE adds neural query and document expansion while preserving BM25's efficient inverted index. In production, hybrid (sparse + dense) almost always beats either alone.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6202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FFFFF"/>
                </a:solidFill>
                <a:latin typeface="Calibri"/>
              </a:rPr>
              <a:t>© 2026 Proxiant Academy | info@proxiant.com | proxiant.ai/training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4 | Retrieval Funnel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2. Dense retrieval realities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Bi-encoders independently encode query and documents. Cosine similarity at query time. Cheap, fast, scales. Weak on rare terms, named entities, and domain-specific abbreviations until fine-tuned.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6202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FFFFF"/>
                </a:solidFill>
                <a:latin typeface="Calibri"/>
              </a:rPr>
              <a:t>© 2026 Proxiant Academy | info@proxiant.com | proxiant.ai/training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4 | Retrieval Funnel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3. Reciprocal rank fusion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11247120" cy="4937760"/>
          </a:xfrm>
          <a:prstGeom prst="rect">
            <a:avLst/>
          </a:prstGeom>
          <a:solidFill>
            <a:srgbClr val="1B1B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/>
          <a:lstStyle/>
          <a:p>
            <a:pPr algn="ctr">
              <a:spcAft>
                <a:spcPts val="0"/>
              </a:spcAft>
            </a:pPr>
            <a:r>
              <a:rPr sz="1300">
                <a:solidFill>
                  <a:srgbClr val="E6ECF5"/>
                </a:solidFill>
                <a:latin typeface="Consolas"/>
              </a:rPr>
              <a:t>def rrf(rankings, k=60):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E6ECF5"/>
                </a:solidFill>
                <a:latin typeface="Consolas"/>
              </a:rPr>
              <a:t>    scores = {}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E6ECF5"/>
                </a:solidFill>
                <a:latin typeface="Consolas"/>
              </a:rPr>
              <a:t>    for ranking in rankings: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E6ECF5"/>
                </a:solidFill>
                <a:latin typeface="Consolas"/>
              </a:rPr>
              <a:t>        for rank, doc in enumerate(ranking):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E6ECF5"/>
                </a:solidFill>
                <a:latin typeface="Consolas"/>
              </a:rPr>
              <a:t>            scores[doc] = scores.get(doc, 0) + 1.0/(k + rank)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E6ECF5"/>
                </a:solidFill>
                <a:latin typeface="Consolas"/>
              </a:rPr>
              <a:t>    return sorted(scores.items(), key=lambda x: -x[1])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E6ECF5"/>
                </a:solidFill>
                <a:latin typeface="Consolas"/>
              </a:rPr>
              <a:t> 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6202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FFFFF"/>
                </a:solidFill>
                <a:latin typeface="Calibri"/>
              </a:rPr>
              <a:t>© 2026 Proxiant Academy | info@proxiant.com | proxiant.ai/training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4 | Retrieval Funnel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4. Matryoshka Representation Learning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Train embeddings that work at multiple truncation lengths. A 768-dim embedding also functions as a useful 64-dim embedding for cheap pruning. Use the short truncation to filter, the full length to score.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6202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FFFFF"/>
                </a:solidFill>
                <a:latin typeface="Calibri"/>
              </a:rPr>
              <a:t>© 2026 Proxiant Academy | info@proxiant.com | proxiant.ai/training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4 | Retrieval Funnel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5. ColBERT late interaction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Score by sum of maximum query-token-to-doc-token similarities. More expressive than single-vector bi-encoders, far cheaper than cross-encoders. The PLAID engine makes it fast enough for production.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6202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FFFFF"/>
                </a:solidFill>
                <a:latin typeface="Calibri"/>
              </a:rPr>
              <a:t>© 2026 Proxiant Academy | info@proxiant.com | proxiant.ai/training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4 | Retrieval Funnel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6. Cross-encoder fusion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Encode the (query, doc) pair jointly with full attention. Most accurate, most expensive. Reserve for the final 20-100 candidates.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6202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FFFFF"/>
                </a:solidFill>
                <a:latin typeface="Calibri"/>
              </a:rPr>
              <a:t>© 2026 Proxiant Academy | info@proxiant.com | proxiant.ai/training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4 | Retrieval Funnel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7. The four-stage funnel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Stage 1: sparse + dense in parallel, 200 candidates each. Stage 2: Matryoshka prune to 100. Stage 3: ColBERT score to 30. Stage 4: cross-encoder rerank to top 5. Tune candidate counts per stage on your data.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6202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FFFFF"/>
                </a:solidFill>
                <a:latin typeface="Calibri"/>
              </a:rPr>
              <a:t>© 2026 Proxiant Academy | info@proxiant.com | proxiant.ai/training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88952" cy="4572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1945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C5FF5"/>
                </a:solidFill>
                <a:latin typeface="Calibri"/>
              </a:rPr>
              <a:t>Section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65176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E2761"/>
                </a:solidFill>
                <a:latin typeface="Calibri"/>
              </a:rPr>
              <a:t>Papers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6202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E2761"/>
                </a:solidFill>
                <a:latin typeface="Calibri"/>
              </a:rPr>
              <a:t>© 2026 Proxiant Academy | info@proxiant.com | proxiant.ai/training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4 | Retrieval Funnel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ColBERT: Efficient and Effective Passage Search via Contextualized Late Interaction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Khattab and Zaharia, 2020 (arXiv:2004.12832).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6202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FFFFF"/>
                </a:solidFill>
                <a:latin typeface="Calibri"/>
              </a:rPr>
              <a:t>© 2026 Proxiant Academy | info@proxiant.com | proxiant.ai/training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4 | Retrieval Funnel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Matryoshka Representation Learning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Kusupati et al., 2022 (arXiv:2205.13147).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6202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FFFFF"/>
                </a:solidFill>
                <a:latin typeface="Calibri"/>
              </a:rPr>
              <a:t>© 2026 Proxiant Academy | info@proxiant.com | proxiant.ai/training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4 | Retrieval Funnel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SPLADE: Sparse Lexical and Expansion Model for First Stage Ranking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Formal et al., 2021 (arXiv:2107.05720).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6202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FFFFF"/>
                </a:solidFill>
                <a:latin typeface="Calibri"/>
              </a:rPr>
              <a:t>© 2026 Proxiant Academy | info@proxiant.com | proxiant.ai/training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88952" cy="4572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1945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C5FF5"/>
                </a:solidFill>
                <a:latin typeface="Calibri"/>
              </a:rPr>
              <a:t>Section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65176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E2761"/>
                </a:solidFill>
                <a:latin typeface="Calibri"/>
              </a:rPr>
              <a:t>Review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6202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E2761"/>
                </a:solidFill>
                <a:latin typeface="Calibri"/>
              </a:rPr>
              <a:t>© 2026 Proxiant Academy | info@proxiant.com | proxiant.ai/training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4 | Retrieval Funnel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Review Questions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Pick a query type where BM25 must be in the funnel.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Why does RRF beat weighted-sum fusion in many cases?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What is the marginal benefit of ColBERT given a strong cross-encoder?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When can you drop the Matryoshka stage?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6202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FFFFF"/>
                </a:solidFill>
                <a:latin typeface="Calibri"/>
              </a:rPr>
              <a:t>© 2026 Proxiant Academy | info@proxiant.com | proxiant.ai/training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C5FF5"/>
                </a:solidFill>
                <a:latin typeface="Calibri"/>
              </a:rPr>
              <a:t>This Week's Labs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</a:rPr>
              <a:t>Lab A: Matryoshka embeddings and progressive pruning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Train or load a Matryoshka embedder. Build a two-stage retrieval: 64-dim prune, full-dim score.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286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</a:rPr>
              <a:t>Lab B: Four-stage retrieval funnel end to end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517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Build the full four-stage funnel and benchmark against the dense-only baseline.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2179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Quiz Tuesday | Project due next Saturday | Instructor: Pavan 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6202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FFFFF"/>
                </a:solidFill>
                <a:latin typeface="Calibri"/>
              </a:rPr>
              <a:t>© 2026 Proxiant Academy | info@proxiant.com | proxiant.ai/training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