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457200"/>
          </a:xfrm>
          <a:prstGeom prst="rect">
            <a:avLst/>
          </a:prstGeom>
          <a:noFill/>
        </p:spPr>
        <p:txBody>
          <a:bodyPr wrap="square">
            <a:spAutoFit/>
          </a:bodyPr>
          <a:lstStyle/>
          <a:p>
            <a:pPr algn="l"/>
            <a:r>
              <a:rPr sz="1400" b="0">
                <a:solidFill>
                  <a:srgbClr val="FFFFFF"/>
                </a:solidFill>
                <a:latin typeface="Calibri"/>
              </a:rPr>
              <a:t>Proxiant Academy</a:t>
            </a:r>
          </a:p>
        </p:txBody>
      </p:sp>
      <p:sp>
        <p:nvSpPr>
          <p:cNvPr id="4" name="TextBox 3"/>
          <p:cNvSpPr txBox="1"/>
          <p:nvPr/>
        </p:nvSpPr>
        <p:spPr>
          <a:xfrm>
            <a:off x="548640" y="1828800"/>
            <a:ext cx="7315200" cy="640080"/>
          </a:xfrm>
          <a:prstGeom prst="rect">
            <a:avLst/>
          </a:prstGeom>
          <a:noFill/>
        </p:spPr>
        <p:txBody>
          <a:bodyPr wrap="square">
            <a:spAutoFit/>
          </a:bodyPr>
          <a:lstStyle/>
          <a:p>
            <a:pPr algn="l"/>
            <a:r>
              <a:rPr sz="2800" b="1">
                <a:solidFill>
                  <a:srgbClr val="2C5FF5"/>
                </a:solidFill>
                <a:latin typeface="Calibri"/>
              </a:rPr>
              <a:t>Week 9</a:t>
            </a:r>
          </a:p>
        </p:txBody>
      </p:sp>
      <p:sp>
        <p:nvSpPr>
          <p:cNvPr id="5" name="TextBox 4"/>
          <p:cNvSpPr txBox="1"/>
          <p:nvPr/>
        </p:nvSpPr>
        <p:spPr>
          <a:xfrm>
            <a:off x="548640" y="2560320"/>
            <a:ext cx="10972800" cy="1280160"/>
          </a:xfrm>
          <a:prstGeom prst="rect">
            <a:avLst/>
          </a:prstGeom>
          <a:noFill/>
        </p:spPr>
        <p:txBody>
          <a:bodyPr wrap="square">
            <a:spAutoFit/>
          </a:bodyPr>
          <a:lstStyle/>
          <a:p>
            <a:pPr algn="l"/>
            <a:r>
              <a:rPr sz="4400" b="1">
                <a:solidFill>
                  <a:srgbClr val="FFFFFF"/>
                </a:solidFill>
                <a:latin typeface="Calibri"/>
              </a:rPr>
              <a:t>Towards Enterprise RAG</a:t>
            </a:r>
          </a:p>
        </p:txBody>
      </p:sp>
      <p:sp>
        <p:nvSpPr>
          <p:cNvPr id="6" name="TextBox 5"/>
          <p:cNvSpPr txBox="1"/>
          <p:nvPr/>
        </p:nvSpPr>
        <p:spPr>
          <a:xfrm>
            <a:off x="548640" y="4206240"/>
            <a:ext cx="10972800" cy="914400"/>
          </a:xfrm>
          <a:prstGeom prst="rect">
            <a:avLst/>
          </a:prstGeom>
          <a:noFill/>
        </p:spPr>
        <p:txBody>
          <a:bodyPr wrap="square">
            <a:spAutoFit/>
          </a:bodyPr>
          <a:lstStyle/>
          <a:p>
            <a:pPr algn="l"/>
            <a:r>
              <a:rPr sz="2000" b="0">
                <a:solidFill>
                  <a:srgbClr val="FFFFFF"/>
                </a:solidFill>
                <a:latin typeface="Calibri"/>
              </a:rPr>
              <a:t>Derivative artifacts, query transformation, semantic cache</a:t>
            </a:r>
          </a:p>
        </p:txBody>
      </p:sp>
      <p:sp>
        <p:nvSpPr>
          <p:cNvPr id="7" name="TextBox 6"/>
          <p:cNvSpPr txBox="1"/>
          <p:nvPr/>
        </p:nvSpPr>
        <p:spPr>
          <a:xfrm>
            <a:off x="548640" y="5760720"/>
            <a:ext cx="7315200" cy="365760"/>
          </a:xfrm>
          <a:prstGeom prst="rect">
            <a:avLst/>
          </a:prstGeom>
          <a:noFill/>
        </p:spPr>
        <p:txBody>
          <a:bodyPr wrap="square">
            <a:spAutoFit/>
          </a:bodyPr>
          <a:lstStyle/>
          <a:p>
            <a:pPr algn="l"/>
            <a:r>
              <a:rPr sz="1200" b="0">
                <a:solidFill>
                  <a:srgbClr val="FFFFFF"/>
                </a:solidFill>
                <a:latin typeface="Calibri"/>
              </a:rPr>
              <a:t>Saturday, November 28, 2026</a:t>
            </a:r>
          </a:p>
        </p:txBody>
      </p:sp>
      <p:sp>
        <p:nvSpPr>
          <p:cNvPr id="8" name="TextBox 7"/>
          <p:cNvSpPr txBox="1"/>
          <p:nvPr/>
        </p:nvSpPr>
        <p:spPr>
          <a:xfrm>
            <a:off x="548640" y="6126480"/>
            <a:ext cx="9144000" cy="365760"/>
          </a:xfrm>
          <a:prstGeom prst="rect">
            <a:avLst/>
          </a:prstGeom>
          <a:noFill/>
        </p:spPr>
        <p:txBody>
          <a:bodyPr wrap="square">
            <a:spAutoFit/>
          </a:bodyPr>
          <a:lstStyle/>
          <a:p>
            <a:pPr algn="l"/>
            <a:r>
              <a:rPr sz="1200" b="0">
                <a:solidFill>
                  <a:srgbClr val="FFFFFF"/>
                </a:solidFill>
                <a:latin typeface="Calibri"/>
              </a:rPr>
              <a:t>LLM and Enterprise RAG Bootcamp | Instructor: Pavan R</a:t>
            </a:r>
          </a:p>
        </p:txBody>
      </p:sp>
      <p:sp>
        <p:nvSpPr>
          <p:cNvPr id="9" name="TextBox 8"/>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1</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Today's Map</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9 | Towards Enterprise RAG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Where we are in the bootcamp</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Enterprise RAG goes beyond chunk-and-retrieve. Cover derivative artifacts (factoids, QA pairs) that enrich the index; query transformation with HyDE and multi-hop decomposition; semantic caching for cost control; hard negative mining for embedding fine-tuning. The lab builds three of these and measures the cumulative effect.</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9 | Towards Enterprise RAG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Learning Objectives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Generate factoids and QA pairs from a corpus to enrich retrieval</a:t>
            </a:r>
          </a:p>
          <a:p>
            <a:pPr>
              <a:spcAft>
                <a:spcPts val="600"/>
              </a:spcAft>
            </a:pPr>
            <a:r>
              <a:rPr sz="1500">
                <a:solidFill>
                  <a:srgbClr val="333333"/>
                </a:solidFill>
                <a:latin typeface="Calibri"/>
              </a:rPr>
              <a:t>  •  Apply HyDE and query decomposition for harder questions</a:t>
            </a:r>
          </a:p>
          <a:p>
            <a:pPr>
              <a:spcAft>
                <a:spcPts val="600"/>
              </a:spcAft>
            </a:pPr>
            <a:r>
              <a:rPr sz="1500">
                <a:solidFill>
                  <a:srgbClr val="333333"/>
                </a:solidFill>
                <a:latin typeface="Calibri"/>
              </a:rPr>
              <a:t>  •  Build a semantic cache that cuts inference cost by at least 30%</a:t>
            </a:r>
          </a:p>
          <a:p>
            <a:pPr>
              <a:spcAft>
                <a:spcPts val="600"/>
              </a:spcAft>
            </a:pPr>
            <a:r>
              <a:rPr sz="1500">
                <a:solidFill>
                  <a:srgbClr val="333333"/>
                </a:solidFill>
                <a:latin typeface="Calibri"/>
              </a:rPr>
              <a:t>  •  Mine hard negatives and fine-tune an embedder</a:t>
            </a:r>
          </a:p>
          <a:p>
            <a:pPr>
              <a:spcAft>
                <a:spcPts val="600"/>
              </a:spcAft>
            </a:pPr>
            <a:r>
              <a:rPr sz="1500">
                <a:solidFill>
                  <a:srgbClr val="333333"/>
                </a:solidFill>
                <a:latin typeface="Calibri"/>
              </a:rPr>
              <a:t>  •  Quantify the cumulative effect of these techniques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2</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Concepts</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9 | Towards Enterprise RAG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1. Derivative artifacts: factoids and QA pairs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Use an LLM to extract short factoids from each document. Also generate plausible QA pairs. Index both alongside the raw chunks. Retrieval improves on questions that match the generated artifacts better than the raw text.</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9 | Towards Enterprise RAG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2. Query transformation: HyDE</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Hypothetical Document Embeddings. Generate a plausible answer first; embed that; retrieve against the result. Closes the query-document distribution gap. One extra LLM call per query.</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9 | Towards Enterprise RAG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3. Multi-hop decomposition</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Hard questions need multiple retrievals. A planner emits sub-queries. Each sub-query retrieves; partial answers inform the next sub-query.</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9 | Towards Enterprise RAG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4. Semantic caching</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Cache answers by query embedding similarity, not exact match. Typical hit rate: 20% to 40% on production traffic. Cost savings compound with traffic.</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9 | Towards Enterprise RAG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5. Hard negative mining</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Find documents that look similar to positives but are wrong. Train the embedder to push them apart. Single biggest embedding improvement after the base model.</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9 | Towards Enterprise RAG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6. Embedding fine-tuning at enterprise scale</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Pull in-domain queries from logs (with consent). Mine hard negatives. Fine-tune with InfoNCE. Re-index. Repeat quarterly.</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3</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Deeper Look</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9 | Towards Enterprise RAG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1. Derivative artifacts: factoids and QA pairs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Use an LLM to extract short factoids from each document at ingestion. Also generate plausible QA pairs. Index both alongside the raw chunks. Retrieval improves on questions that match the generated artifacts better than the raw text. Cost: one-time ingestion expense per document.</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9 | Towards Enterprise RAG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2. HyDE</a:t>
            </a:r>
          </a:p>
        </p:txBody>
      </p:sp>
      <p:sp>
        <p:nvSpPr>
          <p:cNvPr id="5" name="Rectangle 4"/>
          <p:cNvSpPr/>
          <p:nvPr/>
        </p:nvSpPr>
        <p:spPr>
          <a:xfrm>
            <a:off x="457200" y="1554480"/>
            <a:ext cx="11247120" cy="4937760"/>
          </a:xfrm>
          <a:prstGeom prst="rect">
            <a:avLst/>
          </a:prstGeom>
          <a:solidFill>
            <a:srgbClr val="1B1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spcAft>
                <a:spcPts val="0"/>
              </a:spcAft>
            </a:pPr>
            <a:r>
              <a:rPr sz="1300">
                <a:solidFill>
                  <a:srgbClr val="E6ECF5"/>
                </a:solidFill>
                <a:latin typeface="Consolas"/>
              </a:rPr>
              <a:t>def hyde_retrieve(query, k=8):</a:t>
            </a:r>
          </a:p>
          <a:p>
            <a:pPr>
              <a:spcAft>
                <a:spcPts val="0"/>
              </a:spcAft>
            </a:pPr>
            <a:r>
              <a:rPr sz="1300">
                <a:solidFill>
                  <a:srgbClr val="E6ECF5"/>
                </a:solidFill>
                <a:latin typeface="Consolas"/>
              </a:rPr>
              <a:t>    hypo = llm.generate(</a:t>
            </a:r>
          </a:p>
          <a:p>
            <a:pPr>
              <a:spcAft>
                <a:spcPts val="0"/>
              </a:spcAft>
            </a:pPr>
            <a:r>
              <a:rPr sz="1300">
                <a:solidFill>
                  <a:srgbClr val="E6ECF5"/>
                </a:solidFill>
                <a:latin typeface="Consolas"/>
              </a:rPr>
              <a:t>        f'Write a passage that answers: {query}')</a:t>
            </a:r>
          </a:p>
          <a:p>
            <a:pPr>
              <a:spcAft>
                <a:spcPts val="0"/>
              </a:spcAft>
            </a:pPr>
            <a:r>
              <a:rPr sz="1300">
                <a:solidFill>
                  <a:srgbClr val="E6ECF5"/>
                </a:solidFill>
                <a:latin typeface="Consolas"/>
              </a:rPr>
              <a:t>    return vector_store.search(embed(hypo), k=k)</a:t>
            </a:r>
          </a:p>
          <a:p>
            <a:pPr>
              <a:spcAft>
                <a:spcPts val="0"/>
              </a:spcAft>
            </a:pPr>
            <a:r>
              <a:rPr sz="1300">
                <a:solidFill>
                  <a:srgbClr val="E6ECF5"/>
                </a:solidFill>
                <a:latin typeface="Consolas"/>
              </a:rPr>
              <a:t> </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9 | Towards Enterprise RAG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3. Multi-hop decomposition</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A planner emits sub-queries. Each sub-query retrieves. Partial answers inform the next sub-query. Two flavors: predetermined (all sub-queries up front) and adaptive (each step depends on prior results).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9 | Towards Enterprise RAG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4. Semantic caching</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Cache answers by query embedding similarity, not exact match. Typical hit rate: 20-40% on production traffic. Threshold sensitivity matters: too low and you serve wrong answers; too high and the cache rarely hits.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9 | Towards Enterprise RAG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5. Hard negative mining</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Find documents that look similar to positives but are wrong (BM25 high-overlap, dense high-similarity but labeled negative). Train the embedder to push them apart. Single biggest embedding improvement after the base model.</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9 | Towards Enterprise RAG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6. Embedding fine-tuning at enterprise scale</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Pull in-domain queries from production logs (with consent and privacy review). Build (query, clicked-doc) positive pairs. Mine hard negatives. Fine-tune with InfoNCE. Re-index. Re-evaluate. Repeat quarterly.</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4</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Papers</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9 | Towards Enterprise RAG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Precise Zero-Shot Dense Retrieval without Relevance Labels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Gao et al., 2022 (arXiv:2212.10496). The HyDE paper.</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9 | Towards Enterprise RAG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MultiHop-RAG: Benchmarking Retrieval-Augmented Generation for Multi-Hop Queries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Tang and Yang, 2024 (arXiv:2401.15391).</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5</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Review</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9 | Towards Enterprise RAG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Review Questions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Pick a corpus where QA-pair derivatives help, and one where they do not.</a:t>
            </a:r>
          </a:p>
          <a:p>
            <a:pPr>
              <a:spcAft>
                <a:spcPts val="600"/>
              </a:spcAft>
            </a:pPr>
            <a:r>
              <a:rPr sz="1500">
                <a:solidFill>
                  <a:srgbClr val="333333"/>
                </a:solidFill>
                <a:latin typeface="Calibri"/>
              </a:rPr>
              <a:t>  •  When does HyDE add latency without quality benefit?</a:t>
            </a:r>
          </a:p>
          <a:p>
            <a:pPr>
              <a:spcAft>
                <a:spcPts val="600"/>
              </a:spcAft>
            </a:pPr>
            <a:r>
              <a:rPr sz="1500">
                <a:solidFill>
                  <a:srgbClr val="333333"/>
                </a:solidFill>
                <a:latin typeface="Calibri"/>
              </a:rPr>
              <a:t>  •  Set a semantic cache threshold for a customer-service RAG and defend it.</a:t>
            </a:r>
          </a:p>
          <a:p>
            <a:pPr>
              <a:spcAft>
                <a:spcPts val="600"/>
              </a:spcAft>
            </a:pPr>
            <a:r>
              <a:rPr sz="1500">
                <a:solidFill>
                  <a:srgbClr val="333333"/>
                </a:solidFill>
                <a:latin typeface="Calibri"/>
              </a:rPr>
              <a:t>  •  Sketch the hard-negative mining loop for a code-search corpus.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22960"/>
            <a:ext cx="9144000" cy="548640"/>
          </a:xfrm>
          <a:prstGeom prst="rect">
            <a:avLst/>
          </a:prstGeom>
          <a:noFill/>
        </p:spPr>
        <p:txBody>
          <a:bodyPr wrap="square">
            <a:spAutoFit/>
          </a:bodyPr>
          <a:lstStyle/>
          <a:p>
            <a:pPr algn="l"/>
            <a:r>
              <a:rPr sz="1800" b="1">
                <a:solidFill>
                  <a:srgbClr val="2C5FF5"/>
                </a:solidFill>
                <a:latin typeface="Calibri"/>
              </a:rPr>
              <a:t>This Week's Labs</a:t>
            </a:r>
          </a:p>
        </p:txBody>
      </p:sp>
      <p:sp>
        <p:nvSpPr>
          <p:cNvPr id="4" name="TextBox 3"/>
          <p:cNvSpPr txBox="1"/>
          <p:nvPr/>
        </p:nvSpPr>
        <p:spPr>
          <a:xfrm>
            <a:off x="640080" y="1463040"/>
            <a:ext cx="10972800" cy="457200"/>
          </a:xfrm>
          <a:prstGeom prst="rect">
            <a:avLst/>
          </a:prstGeom>
          <a:noFill/>
        </p:spPr>
        <p:txBody>
          <a:bodyPr wrap="square">
            <a:spAutoFit/>
          </a:bodyPr>
          <a:lstStyle/>
          <a:p>
            <a:pPr algn="l"/>
            <a:r>
              <a:rPr sz="1800" b="1">
                <a:solidFill>
                  <a:srgbClr val="FFFFFF"/>
                </a:solidFill>
                <a:latin typeface="Calibri"/>
              </a:rPr>
              <a:t>Lab A: Derivative artifacts and query transformation</a:t>
            </a:r>
          </a:p>
        </p:txBody>
      </p:sp>
      <p:sp>
        <p:nvSpPr>
          <p:cNvPr id="5" name="TextBox 4"/>
          <p:cNvSpPr txBox="1"/>
          <p:nvPr/>
        </p:nvSpPr>
        <p:spPr>
          <a:xfrm>
            <a:off x="822960" y="1828800"/>
            <a:ext cx="10972800" cy="640080"/>
          </a:xfrm>
          <a:prstGeom prst="rect">
            <a:avLst/>
          </a:prstGeom>
          <a:noFill/>
        </p:spPr>
        <p:txBody>
          <a:bodyPr wrap="square">
            <a:spAutoFit/>
          </a:bodyPr>
          <a:lstStyle/>
          <a:p>
            <a:pPr algn="l"/>
            <a:r>
              <a:rPr sz="1200" b="0">
                <a:solidFill>
                  <a:srgbClr val="FFFFFF"/>
                </a:solidFill>
                <a:latin typeface="Calibri"/>
              </a:rPr>
              <a:t>Generate factoids and QA pairs for a 1000-document corpus. Add HyDE to retrieval. Measure cumulative effect on recall.</a:t>
            </a:r>
          </a:p>
        </p:txBody>
      </p:sp>
      <p:sp>
        <p:nvSpPr>
          <p:cNvPr id="6" name="TextBox 5"/>
          <p:cNvSpPr txBox="1"/>
          <p:nvPr/>
        </p:nvSpPr>
        <p:spPr>
          <a:xfrm>
            <a:off x="640080" y="2286000"/>
            <a:ext cx="10972800" cy="457200"/>
          </a:xfrm>
          <a:prstGeom prst="rect">
            <a:avLst/>
          </a:prstGeom>
          <a:noFill/>
        </p:spPr>
        <p:txBody>
          <a:bodyPr wrap="square">
            <a:spAutoFit/>
          </a:bodyPr>
          <a:lstStyle/>
          <a:p>
            <a:pPr algn="l"/>
            <a:r>
              <a:rPr sz="1800" b="1">
                <a:solidFill>
                  <a:srgbClr val="FFFFFF"/>
                </a:solidFill>
                <a:latin typeface="Calibri"/>
              </a:rPr>
              <a:t>Lab B: Semantic cache layer</a:t>
            </a:r>
          </a:p>
        </p:txBody>
      </p:sp>
      <p:sp>
        <p:nvSpPr>
          <p:cNvPr id="7" name="TextBox 6"/>
          <p:cNvSpPr txBox="1"/>
          <p:nvPr/>
        </p:nvSpPr>
        <p:spPr>
          <a:xfrm>
            <a:off x="822960" y="2651760"/>
            <a:ext cx="10972800" cy="640080"/>
          </a:xfrm>
          <a:prstGeom prst="rect">
            <a:avLst/>
          </a:prstGeom>
          <a:noFill/>
        </p:spPr>
        <p:txBody>
          <a:bodyPr wrap="square">
            <a:spAutoFit/>
          </a:bodyPr>
          <a:lstStyle/>
          <a:p>
            <a:pPr algn="l"/>
            <a:r>
              <a:rPr sz="1200" b="0">
                <a:solidFill>
                  <a:srgbClr val="FFFFFF"/>
                </a:solidFill>
                <a:latin typeface="Calibri"/>
              </a:rPr>
              <a:t>Build a semantic cache that caches answers by embedding similarity. Measure hit rate and cost savings on a synthetic 1000-query stream.</a:t>
            </a:r>
          </a:p>
        </p:txBody>
      </p:sp>
      <p:sp>
        <p:nvSpPr>
          <p:cNvPr id="8" name="TextBox 7"/>
          <p:cNvSpPr txBox="1"/>
          <p:nvPr/>
        </p:nvSpPr>
        <p:spPr>
          <a:xfrm>
            <a:off x="640080" y="6217920"/>
            <a:ext cx="10972800" cy="365760"/>
          </a:xfrm>
          <a:prstGeom prst="rect">
            <a:avLst/>
          </a:prstGeom>
          <a:noFill/>
        </p:spPr>
        <p:txBody>
          <a:bodyPr wrap="square">
            <a:spAutoFit/>
          </a:bodyPr>
          <a:lstStyle/>
          <a:p>
            <a:pPr algn="l"/>
            <a:r>
              <a:rPr sz="1200" b="0">
                <a:solidFill>
                  <a:srgbClr val="FFFFFF"/>
                </a:solidFill>
                <a:latin typeface="Calibri"/>
              </a:rPr>
              <a:t>Quiz Tuesday | Project due next Saturday | Instructor: Pavan R</a:t>
            </a:r>
          </a:p>
        </p:txBody>
      </p:sp>
      <p:sp>
        <p:nvSpPr>
          <p:cNvPr id="9" name="TextBox 8"/>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