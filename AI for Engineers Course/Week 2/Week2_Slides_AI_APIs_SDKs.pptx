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notesMasterIdLst>
    <p:notesMasterId r:id="rId4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notesMaster" Target="notesMasters/notesMaster1.xml"/><Relationship Id="rId42" Type="http://schemas.openxmlformats.org/officeDocument/2006/relationships/presProps" Target="presProps.xml"/><Relationship Id="rId43" Type="http://schemas.openxmlformats.org/officeDocument/2006/relationships/viewProps" Target="viewProps.xml"/><Relationship Id="rId44" Type="http://schemas.openxmlformats.org/officeDocument/2006/relationships/theme" Target="theme/theme1.xml"/><Relationship Id="rId4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E8F4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Week 2: Working with AI APIs &amp; SDKs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2651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2E86A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Sessions 4-6: OpenAI, Claude, &amp; Open-Source Models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Week 2 Learning Path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18288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31520" y="109728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4: OpenAI API deep dive (chat, embeddings, moderation)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50876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5: Anthropic Claude API (messages, tool use, vision)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6: Open-source models and cost optimization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33172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multi-provider AI applications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74320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strengths and trade-offs of each provider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315468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production-ready AI integrations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API Landscape 2026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18288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31520" y="109728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OpenAI: GPT-4 (most capable), GPT-4 Turbo, GPT-3.5-Turbo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50876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Anthropic: Claude 3 (Sonnet, Opus, Haiku) - safety-focused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Google: Gemini (multimodal), Gemini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33172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Meta: Llama 2/3 (open-source, local inference)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74320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varies: GPT-4 ($0.03/$0.06), Claude ($0.01/$0.03)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315468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Trade-offs: cost, speed, capability, safety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OpenAI: Chat Completions API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18288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31520" y="109728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 format: system prompt + user + assistant messages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50876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Parameters: temperature (0-2), max_tokens, top_p, presence_penalty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Streaming: stream=True for real-time token response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33172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format: message content + usage (tokens consumed)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74320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Cost: billed by input/output tokens (not requests)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315468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limits: tokens per minute, requests per minute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Temperature &amp; Sampling Explained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18288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31520" y="109728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temperature=0: deterministic, always same response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50876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temperature=0.5: consistent, some variation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temperature=1.0: balanced (default)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33172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temperature=2.0: very creative, more errors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74320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top_p: nucleus sampling (0-1), probability mass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315468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frequency_penalty: reduce repetition of tokens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" y="356616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presence_penalty: encourage new tokens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OpenAI: Function Calling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18288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31520" y="109728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use: define functions AI can call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50876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schema: describe parameters and types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returns: function name + arguments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33172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execute: run actual function with returned args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74320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output: control what model can do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315468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cases: fetch weather, query database, perform calculations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OpenAI: Embeddings API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18288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31520" y="109728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text to dense vectors (1536 dimensions)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50876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Enables: semantic search, similarity, clustering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text-embedding-3-small: fast, 1536 dimensions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33172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text-embedding-3-large: higher quality, 3072 dimensions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74320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Usage: compare embeddings with cosine similarity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315468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Cost: $0.02 per 1M tokens (very cheap)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OpenAI: Moderation API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18288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31520" y="109728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Detect: violence, self-harm, sexual, hateful content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50876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Returns: severity scores and category flags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text-moderation-latest: GPT-based classifier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33172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Cost: $0.001 per request (negligible)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74320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before sending to user-facing API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315468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with human review for edge cases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API Error Handling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18288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31520" y="109728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401 Unauthorized: invalid API key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50876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429 Too Many Requests: rate limit exceeded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Server Error: retry with exponential backoff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33172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circuit breaker: fail fast if service down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74320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errors: timestamp, request, response, retry count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315468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Monitor: track costs, latency, error rates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Anthropic Claude: Overview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18288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31520" y="109728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 API: similar to OpenAI but different semantics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50876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Models: Claude 3 Opus (most capable), Sonnet (balanced), Haiku (fast)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Constitutional AI: trained with safety principles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33172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Strengths: better reasoning, fewer hallucinations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74320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Price: Opus $15/$45, Sonnet $3/$15 per 1M tokens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315468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Tokens: 200K context window (Claude 3 launched at 200K)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Claude: Messages API Format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18288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31520" y="109728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prompt: instructions (optional but recommended)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50876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messages: list of {role, content} pairs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max_tokens: required parameter (not optional)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33172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temperature: same as OpenAI (0-1)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74320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top_k, top_p: nucleus sampling parameters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315468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Usage: tracks input/output tokens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Claude: Tool Use / Function Calling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18288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31520" y="109728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define structured functions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50876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calls: tools when needed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results: you provide outputs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33172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Multi-turn: Claude can iterate (chain calls)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74320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Agentic: Claude decides when to use tools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315468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API calls, database queries, calculations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Claude: Vision Capabilities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18288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31520" y="109728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images: JPG, PNG, GIF, WebP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50876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input: base64 or URL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Capabilities: object detection, OCR, scene understanding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33172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Pricing: included in token count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74320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cases: document analysis, content moderation, UI testing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315468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with tool use for complex workflows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Claude: Extended Thinking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18288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31520" y="109728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budget_tokens: allow model more processing time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50876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Slower but better results on complex tasks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block: visible reasoning (useful for debugging)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33172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for: math, logic, deep analysis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74320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Cost: billable but more accurate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315468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Trade-off: latency vs accuracy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OpenAI vs Anthropic Comparison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18288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31520" y="109728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OpenAI: faster, more models, larger ecosystem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50876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Claude: safer, better reasoning, longer context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price: GPT-4 more expensive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33172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Claude: more cost-effective for many tasks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74320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Ecosystem: OpenAI has more integrations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315468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Strategy: use both, abstract provider differences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Building Provider Abstraction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18288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31520" y="109728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common interface: predict(message) -&gt; response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50876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per provider: OpenAIClient, AnthropicClient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Config-based switching: select provider at runtime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33172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handling: use Claude if OpenAI fails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74320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tracking: log usage per provider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315468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Testing: mock clients for unit tests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Open-Source LLMs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18288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31520" y="109728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2 (70B), Llama 3: Meta (Apache license)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50876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 7B: fast, efficient, good performance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Zephyr: fine-tuned Mistral for chat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33172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Falcon 40B: strong baseline model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74320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Benefits: privacy, no API costs, custom fine-tuning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315468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Trade-offs: self-hosting, GPU requirements, inference latency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Hugging Face: Transformers Library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18288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31520" y="109728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from_pretrained(): download and load models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50876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pipeline(): high-level API for common tasks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Tokenizer: convert text to token IDs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33172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inference: forward pass (tokens -&gt; logits)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74320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support: move model to device for speed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315468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Quantization: reduce model size without quality loss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Running Models Locally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18288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31520" y="109728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GPU-accelerated: NVIDIA (CUDA), AMD (ROCm), Intel (oneAPI)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50876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Frameworks: Ollama, LM Studio, vLLM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Ollama: simplest (ollama run llama2)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33172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vLLM: optimized inference (40-100x faster)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74320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requirements: 7B=16GB, 13B=32GB, 70B=80GB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315468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Cost: zero per-inference, high infrastructure cost</a:t>
            </a:r>
            <a:endParaRPr lang="en-US" sz="1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Selection Strategy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18288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31520" y="109728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Task-specific: fine-tuned models beat general-purpose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50876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 vs speed: GPT-4 slower but better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Cost: Haiku for simple, Opus for complex tasks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33172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Latency: local inference faster (no network)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74320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Privacy: local keeps data on-device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315468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Benchmarks: test on your data, don't trust marketing</a:t>
            </a:r>
            <a:endParaRPr lang="en-US" sz="1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Cost Optimization Techniques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18288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31520" y="109728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caching: cache system prompts (saves 90% on long contexts)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50876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caching: detect similar requests, reuse responses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routing: use cheaper models for easy tasks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33172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processing: lower API costs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74320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cheaper models: Haiku on domain data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315468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fallback: serve local model when API fails</a:t>
            </a:r>
            <a:endParaRPr lang="en-US" sz="1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Prompt Compression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18288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31520" y="109728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padding: trim unnecessary whitespace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50876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 examples: use summary instead of full examples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Selective context: only include relevant documents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33172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prompts: use JSON for clarity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74320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counting: estimate cost before calling API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315468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LLMLingua compresses prompts by 2-4x</a:t>
            </a:r>
            <a:endParaRPr lang="en-US" sz="1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Building Multi-Provider System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18288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31520" y="109728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Factory pattern: create_client(provider) -&gt; client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50876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Interface: define common methods (predict, embeddings)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Failover: try primary, fall back to secondary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33172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balancing: distribute requests across providers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74320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Monitoring: track success rate, latency per provider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315468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Configuration: environment variables or config file</a:t>
            </a:r>
            <a:endParaRPr lang="en-US" sz="1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Streaming &amp; Real-Time Responses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18288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31520" y="109728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stream=True: get tokens as they're generated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50876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case: user-facing chat, reduce perceived latency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Server-Sent Events: HTTP streaming protocol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33172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WebSocket: bidirectional real-time (chat apps)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74320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Buffering: collect tokens for better UX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315468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handling: handle mid-stream errors gracefully</a:t>
            </a:r>
            <a:endParaRPr lang="en-US" sz="1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Evaluating AI Responses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18288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31520" y="109728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metrics: BLEU, ROUGE (machine translation)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50876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similarity: compare embeddings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evaluation: Likert scale, A/B testing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33172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Benchmarks: MMLU (knowledge), HumanEval (coding)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74320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analysis: token usage vs quality trade-off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315468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analysis: categorize failure modes</a:t>
            </a:r>
            <a:endParaRPr lang="en-US" sz="1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RAG Pattern: Grounded AI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18288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31520" y="109728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LLMs hallucinate when answering questions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50876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retrieve relevant documents first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Steps: embed query, search vector database, prompt with docs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33172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Pinecone, Weaviate, Milvus (vector databases)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74320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Quality: cite sources, allow follow-up questions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315468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cases: customer support, knowledge base Q&amp;A</a:t>
            </a:r>
            <a:endParaRPr lang="en-US" sz="1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Token Economics &amp; Billing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18288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31520" y="109728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tokens: cheaper (read/context)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50876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tokens: more expensive (generation)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caching: pay 10% of input token cost (if cached)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33172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Batching: 50% discount on batch API calls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74320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tier: limited tokens per month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315468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monitoring: track via API, set budgets</a:t>
            </a:r>
            <a:endParaRPr lang="en-US" sz="1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Safety &amp; Responsible AI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18288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31520" y="109728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Bias: test for unfair outputs across demographics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50876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Misuse: prevent harmful use cases (gating)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Privacy: redact PII before sending to API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33172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Transparency: disclose that content is AI-generated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74320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Monitoring: flag anomalous outputs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315468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Compliance: GDPR, healthcare regulations</a:t>
            </a:r>
            <a:endParaRPr lang="en-US" sz="1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Deploying AI to Production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18288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31520" y="109728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handling: timeouts, rate limits, API failures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50876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Monitoring: log all requests/responses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Gradual rollout: A/B test new models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33172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Latency: optimize for user experience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74320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control: budgets, alerts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315468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Versioning: track model changes, allow rollback</a:t>
            </a:r>
            <a:endParaRPr lang="en-US" sz="1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Week 2 Projects &amp; Exercises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18288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31520" y="109728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Assignment: build multi-provider AI client with failover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50876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Project: complete AI application with routing logic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Exercises: API calls, streaming, function calling, embedding generation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33172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Benchmarking: compare providers on latency, cost, quality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74320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Integration: test with real applications (chatbot, RAG)</a:t>
            </a:r>
            <a:endParaRPr lang="en-US" sz="1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Common API Patterns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18288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31520" y="109728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with exponential backoff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50876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 breaker for resilience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queuing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33172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caching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74320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checks</a:t>
            </a:r>
            <a:endParaRPr lang="en-US" sz="18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Debugging AI Responses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18288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31520" y="109728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prompt engineering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50876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temperature/sampling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context window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33172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token usage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74320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 test variations</a:t>
            </a:r>
            <a:endParaRPr lang="en-US" sz="18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Cost Monitoring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18288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31520" y="109728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tokens used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50876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budget alerts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cheapest models first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33172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when possible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74320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when applicable</a:t>
            </a:r>
            <a:endParaRPr lang="en-US" sz="18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Performance Optimization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18288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31520" y="109728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API calls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50876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 pooling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compression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33172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caching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74320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quantization</a:t>
            </a:r>
            <a:endParaRPr lang="en-US" sz="18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Scaling AI Systems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18288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31520" y="109728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balancing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50876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Queue-based processing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architecture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33172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Monitoring/alerting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74320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analysis</a:t>
            </a:r>
            <a:endParaRPr lang="en-US" sz="18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Best Practices Summary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18288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31520" y="109728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have error handling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50876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thoroughly before deploy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production systems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33172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provider abstraction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74320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 for cost and latency</a:t>
            </a:r>
            <a:endParaRPr lang="en-US" sz="18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Resources &amp; Further Learning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18288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31520" y="109728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docs: platform.openai.com/docs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50876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docs: docs.anthropic.com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 Face: huggingface.co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33172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Papers: arxiv.org (Attention is All You Need)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74320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YouTube: lectures on transformers</a:t>
            </a:r>
            <a:endParaRPr lang="en-US" sz="18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Q&amp;A &amp; Discussion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18288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31520" y="109728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questions do you have?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50876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your AI project ideas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 challenges you've faced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33172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with classmates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74320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hours available</a:t>
            </a:r>
            <a:endParaRPr lang="en-US" sz="18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E8F4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Week 2 Complete!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build AI-powered applications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 | AI for Engineers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39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2026-02-14T01:52:12Z</dcterms:created>
  <dcterms:modified xsi:type="dcterms:W3CDTF">2026-02-14T01:52:12Z</dcterms:modified>
</cp:coreProperties>
</file>