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AI-Driven Finance Landscape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Modern AI in Financial Services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| Class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Covered Today: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Taxonomy for Finance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Architectures Overview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AI Platforms Comparison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 in Finance Industry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657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AI &amp; Governance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Taxonomy for Finance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56032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097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Supervised Learning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37744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830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237744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17830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097280"/>
            <a:ext cx="256032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200400" y="1097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Unsupervised Learning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91840" y="1737360"/>
            <a:ext cx="237744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383280" y="17830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2240280"/>
            <a:ext cx="237744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383280" y="17830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Dim. Reduction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0" y="1097280"/>
            <a:ext cx="256032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0" y="1097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Reinforcement Learning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35040" y="1737360"/>
            <a:ext cx="237744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126480" y="17830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2240280"/>
            <a:ext cx="2377440" cy="41148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126480" y="17830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Gradient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Learning Architectures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640080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097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▲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80160" y="1097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4173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&amp; pattern recognition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640080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▲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280160" y="1920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RNNs/LSTMs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22402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&amp; time-series data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640080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▲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280160" y="2743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30632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&amp; attention-based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640080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7200" y="35661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▲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280160" y="3566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3886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generation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Platforms Comparison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743200" cy="5029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1430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SageMaker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Autopilot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6517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$0.06-0.31/hr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097280"/>
            <a:ext cx="2743200" cy="5029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383280" y="11430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DevOps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20440" y="22402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20440" y="26517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hour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1097280"/>
            <a:ext cx="2743200" cy="5029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09360" y="11430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Vertex AI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interface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46520" y="22402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46520" y="26517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training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Adoption in Finance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560320" cy="1828800"/>
          </a:xfrm>
          <a:prstGeom prst="rect">
            <a:avLst/>
          </a:prstGeom>
          <a:solidFill>
            <a:srgbClr val="F0F4F8"/>
          </a:solidFill>
          <a:ln w="254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463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$35B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Size by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08960" y="1097280"/>
            <a:ext cx="2560320" cy="1828800"/>
          </a:xfrm>
          <a:prstGeom prst="rect">
            <a:avLst/>
          </a:prstGeom>
          <a:solidFill>
            <a:srgbClr val="F0F4F8"/>
          </a:solidFill>
          <a:ln w="254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108960" y="1463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108960" y="2194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2023-2027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60720" y="1097280"/>
            <a:ext cx="2560320" cy="1828800"/>
          </a:xfrm>
          <a:prstGeom prst="rect">
            <a:avLst/>
          </a:prstGeom>
          <a:solidFill>
            <a:srgbClr val="F0F4F8"/>
          </a:solidFill>
          <a:ln w="254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760720" y="1463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760720" y="2194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Firms Using AI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Adopters: JPMorgan, Goldman Sachs, BlackRock, Two Sigma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Laggards: Smaller regional banks, traditional investment firms adapting legacy systems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Ethical AI in Finance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73152" cy="8229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097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in Lending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attributes (race, gender) in credit models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73152" cy="8229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Metrics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 parity, equalized odds, calibration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73152" cy="8229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3383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749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trails, explainability, regulatory compliance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Applications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182880" cy="182880"/>
          </a:xfrm>
          <a:prstGeom prst="circl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1097280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Detection: Real-time transaction monitoring with XGBoost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182880" cy="182880"/>
          </a:xfrm>
          <a:prstGeom prst="circl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783080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Scoring: Neural networks replacing FICO scores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468880"/>
            <a:ext cx="182880" cy="182880"/>
          </a:xfrm>
          <a:prstGeom prst="circl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468880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Trading: Reinforcement learning for portfolio management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154680"/>
            <a:ext cx="182880" cy="182880"/>
          </a:xfrm>
          <a:prstGeom prst="circl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154680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Assessment: Deep learning for market volatility prediction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840480"/>
            <a:ext cx="182880" cy="182880"/>
          </a:xfrm>
          <a:prstGeom prst="circl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840480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Compliance: NLP for regulatory text analysis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Governance &amp; Compliance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828800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1430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Rule 10b5-1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0" y="109728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trading compliance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1828800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920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Article 22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0" y="187452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to explanation for decisions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1828800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2697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Lending Laws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65176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ECOA compliance for credit models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1828800" cy="64008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3474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 IV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342900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risk for AI systems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Challenges &amp; Opportunities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&amp; historical bias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interpretability requirements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uncertainty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legacy systems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14630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 in trading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937760" y="20116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reduction in operations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37760" y="25603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customer personalization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31089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decision-making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Trends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5720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097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1097280"/>
            <a:ext cx="7589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 (XAI)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353312"/>
            <a:ext cx="7589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SHAP, LIME gaining adoption for regulatory compliance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45720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1965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1965960"/>
            <a:ext cx="7589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221992"/>
            <a:ext cx="7589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Privacy-preserving ML across institutions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" y="2834640"/>
            <a:ext cx="7589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Computing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090672"/>
            <a:ext cx="7589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optimization in early research phase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703320"/>
            <a:ext cx="45720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720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97280" y="3703320"/>
            <a:ext cx="7589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3959352"/>
            <a:ext cx="7589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inference on low-latency trading systems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Started with AI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743200" cy="4572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097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use cases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1031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data quality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097280"/>
            <a:ext cx="2743200" cy="4572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83280" y="1097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Prototype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52044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POC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20440" y="21031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ROI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09360" y="1097280"/>
            <a:ext cx="2743200" cy="45720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09360" y="1097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Scale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46520" y="21031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Resources &amp; Tools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011680" cy="3657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097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51760" y="109728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TensorFlow, PyTorch, Scikit-learn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141732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XGBoost, LightGBM, CatBoost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011680" cy="3657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21031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51760" y="210312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SageMaker, Azure ML, GCP Vertex AI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51760" y="242316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Databricks, Alteryx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2011680" cy="3657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31089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51760" y="310896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Coursera, edX, Proxiant Academy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51760" y="342900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arXiv, conference papers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solidFill>
            <a:srgbClr val="2E86AB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1430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transforming finance across trading, risk, compliance, and operations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83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deep learning architectures serve different use cases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822960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platforms democratize access to enterprise ML infrastructure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30632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AI and model governance are non-negotiable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solidFill>
            <a:srgbClr val="F0F4F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70332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requires data quality, business alignment, and regulatory awareness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proxiant.ai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2026-02-14T05:25:21Z</dcterms:created>
  <dcterms:modified xsi:type="dcterms:W3CDTF">2026-02-14T05:25:21Z</dcterms:modified>
</cp:coreProperties>
</file>