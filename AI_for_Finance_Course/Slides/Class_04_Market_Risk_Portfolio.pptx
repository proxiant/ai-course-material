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Risk &amp; Portfolio Optimization with 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VaR, Risk Models, and Deep Reinforcement Learning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AI. Professionally.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| Class 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Today: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Methods: Parametric, Historical, ML Monte Carlo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Surrogate Models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 for Portfolio Allocation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Factor Models &amp; Risk Decomposition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Risk &amp; Extreme Value Theory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Value-at-Risk (VaR) Methods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828800" cy="5943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043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09728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distribution, linear payoffs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828800" cy="5943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019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Simulation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8288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returns are representative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828800" cy="5943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6334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Monte Carlo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56032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Copula + GARCH/LSTM for dependence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1828800" cy="5943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3649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Cornish-Fisher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329184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&amp; kurtosis adjustments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Parametric VaR with ML Covariance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Constant covariance matrix (Limited)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returns are multivariate normal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fixed over time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 to market regimes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Approach: Dynamic covariance estimation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models capture volatility clustering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learn regime-dependent covariance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adaptation to market conditions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 Surrogate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Pricing exotic derivatives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371600" cy="6858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60020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price, strikes, time to maturity, volatility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371600" cy="6858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37744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layers (128-256 units) with ReLU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1371600" cy="6858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315468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price or Greeks (delta, gamma, vega)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1371600" cy="6858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023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93192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on Black-Scholes benchmarks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Reinforcement Learning for Portfolio Allocation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64592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0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09728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weights, market returns, risk metrics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64592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93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92024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adjustment: Δw₁, Δw₂, ..., Δwₙ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164592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8163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(r)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74320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or return - λ·transaction_cost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164592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6393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356616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(discrete) or PPO (continuous weights)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 Algorithms: DQN vs PPO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155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1155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11155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8229600" cy="6858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45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6459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(buy/hold/sell)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16459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(weight allocation)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77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Efficiency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3774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23774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8229600" cy="6858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08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31089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(replay buffer)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0" y="31089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stable (clipping)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840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38404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selection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38404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Multi-asset allocation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 Portfolio Optimization 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1600200"/>
            <a:ext cx="320040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011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Agent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2331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policy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0" y="1371600"/>
            <a:ext cx="45720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97480" y="1600200"/>
            <a:ext cx="320040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2011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Loop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2331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in historical market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31920" y="1371600"/>
            <a:ext cx="45720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34840" y="1600200"/>
            <a:ext cx="320040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011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2331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transitions &amp; rewards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69280" y="1371600"/>
            <a:ext cx="45720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2200" y="1600200"/>
            <a:ext cx="320040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2011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Policy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2331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on loss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06640" y="1371600"/>
            <a:ext cx="45720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2011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0" y="2331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backtesting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Factor Models &amp; Risk Decomposition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Approach: Pre-defined factors (Fama-French)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Value, Momentum, Quality, Size, Low Volatility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exposures &amp; loadings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Approach: Autoencoder factor extraction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to discover hidden factors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loading: factors adapt to market regimes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out-of-sample predictive power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 Risk Metrics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011680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(95%)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-2.5%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011680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745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(Expected Shortfall)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8288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-3.8%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2011680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514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24688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2011680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1546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31089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-15%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2011680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7947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37490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 Risk &amp; Extreme Value Theory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Value Theory (EVT)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Generalized Pareto Distribution to losses &gt; threshold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73152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Copula Models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tail dependence across assets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73152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34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Stressed VaR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under historical crisis periods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73152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03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CVaR/ES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 beyond VaR threshold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Copula Models for Dependence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64592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04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Copula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09728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analytical | Symmetric, misses tail dependence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64592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93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Student-t Copula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92024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tails, tail dependence | Symmetric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164592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8163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Clayton Copula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74320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Asymmetric, lower tail | Unidirectional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164592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6393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Archimedean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356616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families | High-dimensional challenges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Best Practices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on multiple market regimes (normal, crisis, trending)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for transaction costs and market impact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robust optimization to hedge against model uncertainty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718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model drift; retrain monthly or on volatility spikes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118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portfolio under extreme scenarios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ML predictions with expert judgment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outperform parametric models for non-linear risk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 is promising for multi-asset allocation but requires careful backtesting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models with ML capture dynamic market regimes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63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risk requires specialized techniques (EVT, copulas)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 need real-time monitoring and human oversight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www.proxiant.com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AI. Professionally.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2026-02-14T05:25:21Z</dcterms:created>
  <dcterms:modified xsi:type="dcterms:W3CDTF">2026-02-14T05:25:21Z</dcterms:modified>
</cp:coreProperties>
</file>