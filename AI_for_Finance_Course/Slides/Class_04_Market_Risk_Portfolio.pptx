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Risk &amp; Portfolio Optimization with AI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VaR, Risk Models, and Deep Reinforcement Learning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AI. Professionally.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| Class 4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Today: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16459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Methods: Parametric, Historical, ML Monte Carlo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1488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 Surrogate Models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6517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 for Portfolio Allocation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1546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Factor Models &amp; Risk Decomposition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3657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 Risk &amp; Extreme Value Theory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Value-at-Risk (VaR) Methods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828800" cy="59436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94360" y="117043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468880" y="1097280"/>
            <a:ext cx="6217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distribution, linear payoffs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1828800" cy="59436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94360" y="190195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Simulation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468880" y="1828800"/>
            <a:ext cx="6217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returns are representative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560320"/>
            <a:ext cx="1828800" cy="59436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94360" y="26334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Monte Carlo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468880" y="2560320"/>
            <a:ext cx="6217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Copula + GARCH/LSTM for dependence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291840"/>
            <a:ext cx="1828800" cy="59436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94360" y="336499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Cornish-Fisher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468880" y="3291840"/>
            <a:ext cx="6217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Skewness &amp; kurtosis adjustments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Parametric VaR with ML Covariance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Traditional: Constant covariance matrix (Limited)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Assumes returns are multivariate normal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Covariance fixed over time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14884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response to market regimes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Approach: Dynamic covariance estimation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15468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 models capture volatility clustering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47472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networks learn regime-dependent covariance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379476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adaptation to market conditions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Neural Network Surrogate Models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Case: Pricing exotic derivatives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1371600" cy="685800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94360" y="16916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103120" y="1600200"/>
            <a:ext cx="6583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price, strikes, time to maturity, volatility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1371600" cy="685800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94360" y="2468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Layers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03120" y="2377440"/>
            <a:ext cx="6583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layers (128-256 units) with ReLU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1371600" cy="685800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94360" y="32461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103120" y="3154680"/>
            <a:ext cx="6583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price or Greeks (delta, gamma, vega)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931920"/>
            <a:ext cx="1371600" cy="685800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94360" y="4023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03120" y="3931920"/>
            <a:ext cx="6583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learning on Black-Scholes benchmarks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 Reinforcement Learning for Portfolio Allocation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645920" cy="73152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94360" y="117043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(s)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0" y="1097280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weights, market returns, risk metrics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1645920" cy="73152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94360" y="19933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(a)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286000" y="1920240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adjustment: Δw₁, Δw₂, ..., Δwₙ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1645920" cy="73152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94360" y="281635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(r)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2743200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ratio or return - λ·transaction_cost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1645920" cy="7315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94360" y="363931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86000" y="3566160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DQN (discrete) or PPO (continuous weights)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RL Algorithms: DQN vs PPO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111556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468880" y="1115568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577840" y="1115568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600200"/>
            <a:ext cx="8229600" cy="68580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48640" y="16459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Space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560320" y="164592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(buy/hold/sell)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0" y="164592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(weight allocation)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331720"/>
            <a:ext cx="8229600" cy="6858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48640" y="23774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Efficiency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560320" y="23774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669280" y="23774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8229600" cy="68580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48640" y="310896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560320" y="310896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Unstable (replay buffer)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669280" y="310896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stable (clipping)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8229600" cy="6858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48640" y="38404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560320" y="384048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selection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669280" y="384048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Multi-asset allocation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RL Portfolio Optimization Flow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57200" cy="4572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1371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60120" y="1600200"/>
            <a:ext cx="320040" cy="0"/>
          </a:xfrm>
          <a:prstGeom prst="line">
            <a:avLst/>
          </a:prstGeom>
          <a:noFill/>
          <a:ln w="25400">
            <a:solidFill>
              <a:srgbClr val="1B365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74320" y="20116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Initialize Agent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2880" y="233172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policy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194560" y="1371600"/>
            <a:ext cx="457200" cy="4572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194560" y="1371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697480" y="1600200"/>
            <a:ext cx="320040" cy="0"/>
          </a:xfrm>
          <a:prstGeom prst="line">
            <a:avLst/>
          </a:prstGeom>
          <a:noFill/>
          <a:ln w="25400">
            <a:solidFill>
              <a:srgbClr val="1B365D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011680" y="20116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Loop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920240" y="233172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in historical market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931920" y="1371600"/>
            <a:ext cx="457200" cy="4572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931920" y="1371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434840" y="1600200"/>
            <a:ext cx="320040" cy="0"/>
          </a:xfrm>
          <a:prstGeom prst="line">
            <a:avLst/>
          </a:prstGeom>
          <a:noFill/>
          <a:ln w="25400">
            <a:solidFill>
              <a:srgbClr val="1B365D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749040" y="20116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Data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0" y="233172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transitions &amp; rewards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669280" y="1371600"/>
            <a:ext cx="457200" cy="4572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669280" y="1371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172200" y="1600200"/>
            <a:ext cx="320040" cy="0"/>
          </a:xfrm>
          <a:prstGeom prst="line">
            <a:avLst/>
          </a:prstGeom>
          <a:noFill/>
          <a:ln w="25400">
            <a:solidFill>
              <a:srgbClr val="1B365D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0" y="20116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Policy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394960" y="233172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descent on loss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406640" y="1371600"/>
            <a:ext cx="457200" cy="4572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406640" y="1371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223760" y="20116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0" y="233172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Out-of-sample backtesting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Factor Models &amp; Risk Decomposition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Approach: Pre-defined factors (Fama-French)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Value, Momentum, Quality, Size, Low Volatility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645920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exposures &amp; loadings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Approach: Autoencoder factor extraction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468880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Unsupervised learning to discover hidden factors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2743200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loading: factors adapt to market regimes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Improves out-of-sample predictive power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Comprehensive Risk Metrics Dashboard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011680" cy="5029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94360" y="12344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(95%)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743200" y="1188720"/>
            <a:ext cx="5943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-2.5%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2011680" cy="5029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94360" y="187452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CVaR (Expected Shortfall)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43200" y="1828800"/>
            <a:ext cx="5943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-3.8%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2011680" cy="5029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94360" y="251460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Ratio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43200" y="2468880"/>
            <a:ext cx="5943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0.95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2011680" cy="5029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94360" y="31546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Drawdown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43200" y="3108960"/>
            <a:ext cx="5943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-15%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57200" y="3749040"/>
            <a:ext cx="2011680" cy="5029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4360" y="379476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743200" y="3749040"/>
            <a:ext cx="5943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12%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Tail Risk &amp; Extreme Value Theory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73152" cy="731520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0972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 Value Theory (EVT)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Generalized Pareto Distribution to losses &gt; threshold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73152" cy="731520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9659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Copula Models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286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tail dependence across assets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73152" cy="731520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28346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Stressed VaR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1546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under historical crisis periods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703320"/>
            <a:ext cx="73152" cy="731520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37033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CVaR/ES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0233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loss beyond VaR threshold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Copula Models for Dependence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645920" cy="7315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94360" y="117043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Copula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097280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analytical | Symmetric, misses tail dependence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1645920" cy="7315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94360" y="199339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Student-t Copula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920240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tails, tail dependence | Symmetric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1645920" cy="7315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94360" y="28163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Clayton Copula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743200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Asymmetric, lower tail | Unidirectional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1645920" cy="7315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94360" y="363931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Archimedean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286000" y="3566160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families | High-dimensional challenges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Implementation Best Practices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59436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0515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 on multiple market regimes (normal, crisis, trending)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6916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for transaction costs and market impact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8229600" cy="59436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0080" y="233172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robust optimization to hedge against model uncertainty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92608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29718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model drift; retrain monthly or on volatility spikes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566160"/>
            <a:ext cx="8229600" cy="59436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61188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 portfolio under extreme scenarios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20624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40080" y="42519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ML predictions with expert judgment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14300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networks outperform parametric models for non-linear risk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7830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RL is promising for multi-asset allocation but requires careful backtesting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8229600" cy="54864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0080" y="242316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models with ML capture dynamic market regimes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30632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 risk requires specialized techniques (EVT, copulas)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657600"/>
            <a:ext cx="8229600" cy="54864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70332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systems need real-time monitoring and human oversight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proxiant.ai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AI. Professionally.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2026-02-14T05:25:21Z</dcterms:created>
  <dcterms:modified xsi:type="dcterms:W3CDTF">2026-02-14T05:25:21Z</dcterms:modified>
</cp:coreProperties>
</file>