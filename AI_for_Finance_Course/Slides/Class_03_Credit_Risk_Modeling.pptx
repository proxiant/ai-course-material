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Proxiant Academy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Credit Risk Modeling with Machine Learning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PD, LGD, and EAD Estimation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AI. Professionally.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754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| Class 3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Discuss: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16459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vs ML-Based Credit Models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1488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 for PD Modeling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6517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Network Credit Scoring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1546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Interpretability (SHAP, LIME)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36576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 III IRBA Compliance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Traditional vs ML Credit Models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41148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111556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286000" y="111556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0" y="111556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600200"/>
            <a:ext cx="8229600" cy="50292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48640" y="164592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Interpretability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377440" y="164592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(logistic regression)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577840" y="164592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(requires SHAP/LIME)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148840"/>
            <a:ext cx="822960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48640" y="219456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Non-linear interactions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377440" y="219456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feature engineering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577840" y="219456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discovery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697480"/>
            <a:ext cx="8229600" cy="50292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48640" y="274320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requirements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377440" y="27432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&lt;100K samples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577840" y="27432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from millions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3246120"/>
            <a:ext cx="822960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48640" y="329184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acceptance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377440" y="329184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history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577840" y="329184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Growing acceptance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3794760"/>
            <a:ext cx="8229600" cy="50292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48640" y="38404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power (AUC)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377440" y="384048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0.70-0.78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577840" y="384048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0.78-0.88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Gradient Boosting Models for PD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743200" cy="4572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1143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17830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categorical handling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94360" y="21945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Regularization (L1, L2)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26060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383280" y="1097280"/>
            <a:ext cx="2743200" cy="4572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383280" y="1143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520440" y="17830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Leaf-wise tree growth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520440" y="21945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training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520440" y="26060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 features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309360" y="1097280"/>
            <a:ext cx="2743200" cy="4572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309360" y="1143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CatBoost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46520" y="17830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Ordered boosting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46520" y="21945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target encoding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46520" y="26060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support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Hyperparameters for Credit Models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1371600" cy="594360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94360" y="1170432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max_depth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138988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5-10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103120" y="1097280"/>
            <a:ext cx="6583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→ overfitting on small datasets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1371600" cy="594360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94360" y="1856232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learning_rate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" y="207568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0.01-0.1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103120" y="1783080"/>
            <a:ext cx="6583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→ slower but more stable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468880"/>
            <a:ext cx="1371600" cy="594360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94360" y="2542032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num_leaves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4360" y="276148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31-127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103120" y="2468880"/>
            <a:ext cx="6583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→ more complex interactions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3154680"/>
            <a:ext cx="1371600" cy="594360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94360" y="3227832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subsample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344728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0.7-1.0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103120" y="3154680"/>
            <a:ext cx="6583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Regularization for imbalanced data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1371600" cy="594360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94360" y="3913632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reg_alpha/lambda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94360" y="413308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0.1-10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103120" y="3840480"/>
            <a:ext cx="6583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L1/L2 regularization strength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Neural Network Credit Scoring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2011680" cy="59436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94360" y="105156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Layer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43200" y="1005840"/>
            <a:ext cx="5943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Scaled numerical + embedded categorical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2011680" cy="59436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94360" y="17830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Layers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43200" y="1737360"/>
            <a:ext cx="5943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representations for categories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468880"/>
            <a:ext cx="2011680" cy="59436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94360" y="251460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Layers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743200" y="2468880"/>
            <a:ext cx="5943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 hidden layers (64-256 units)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2011680" cy="59436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94360" y="324612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743200" y="3200400"/>
            <a:ext cx="5943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0.2-0.5 regularization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931920"/>
            <a:ext cx="2011680" cy="594360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94360" y="39776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43200" y="3931920"/>
            <a:ext cx="5943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Sigmoid → probability of default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Neural Network Training Strategies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640080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0515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weighting: Penalize minority default class 10-50x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82296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A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7830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Focal loss: Focus on hard examples during training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8229600" cy="640080"/>
          </a:xfrm>
          <a:prstGeom prst="rect">
            <a:avLst/>
          </a:prstGeom>
          <a:solidFill>
            <a:srgbClr val="F0F4F8"/>
          </a:solidFill>
          <a:ln w="12700">
            <a:solidFill>
              <a:srgbClr val="2E86AB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0080" y="251460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stopping: Monitor validation AUC, stop if no improvement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200400"/>
            <a:ext cx="82296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AB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0080" y="32461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augmentation: SMOTE or mixup for imbalanced classes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8229600" cy="640080"/>
          </a:xfrm>
          <a:prstGeom prst="rect">
            <a:avLst/>
          </a:prstGeom>
          <a:solidFill>
            <a:srgbClr val="F0F4F8"/>
          </a:solidFill>
          <a:ln w="12700">
            <a:solidFill>
              <a:srgbClr val="2E86A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39776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Cross-validation: Stratified K-fold for temporal data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SHAP for Model Interpretability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TreeSHAP: Fast SHAP values for tree models (XGBoost, LightGBM)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228600" cy="228600"/>
          </a:xfrm>
          <a:prstGeom prst="circle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14400" y="16916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Waterfall Plot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20116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prediction decomposition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228600" cy="228600"/>
          </a:xfrm>
          <a:prstGeom prst="circle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14400" y="2468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Plot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27889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 &amp; direction (beeswarm)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383280"/>
            <a:ext cx="228600" cy="228600"/>
          </a:xfrm>
          <a:prstGeom prst="circle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14400" y="3246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Dependence Plot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35661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interaction visualization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160520"/>
            <a:ext cx="228600" cy="228600"/>
          </a:xfrm>
          <a:prstGeom prst="circle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14400" y="40233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Plot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14400" y="43434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features push prediction from base value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Additional Interpretability Techniques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73152" cy="14630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097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463040"/>
            <a:ext cx="3840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linear approximation for any model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29200" y="1097280"/>
            <a:ext cx="73152" cy="14630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212080" y="1097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PDP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212080" y="1463040"/>
            <a:ext cx="3840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Dependence Plot: marginal effect per feature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743200"/>
            <a:ext cx="73152" cy="14630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0080" y="2743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3108960"/>
            <a:ext cx="3840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Accumulated Local Effects: conditional feature effects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0" y="2743200"/>
            <a:ext cx="73152" cy="14630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212080" y="2743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Permutation Importance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212080" y="3108960"/>
            <a:ext cx="3840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 via shuffling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 III Internal Ratings Based (IRBA) Approach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645920" cy="7315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 (Probability of Default)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135331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0.03% - 100%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286000" y="100584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1-year forward-looking estimate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828800"/>
            <a:ext cx="1645920" cy="7315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94360" y="1874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LGD (Loss Given Default)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217627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- 100%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286000" y="18288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exposure lost upon default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1645920" cy="7315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9436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EAD (Exposure At Default)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4360" y="299923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Outstanding balance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286000" y="265176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+ future exposure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1645920" cy="7315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94360" y="35204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(Maturity)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38221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1-5 years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286000" y="347472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maturity of exposure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Validating Discriminatory Power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1371600" cy="685800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94360" y="11430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144475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0.75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03120" y="1097280"/>
            <a:ext cx="6583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under ROC curve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920240"/>
            <a:ext cx="1371600" cy="685800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94360" y="1965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Gini Coefficient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226771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0.50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103120" y="1920240"/>
            <a:ext cx="6583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× AUC - 1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743200"/>
            <a:ext cx="1371600" cy="685800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94360" y="27889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Statistic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309067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0.30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103120" y="2743200"/>
            <a:ext cx="6583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Kolmogorov-Smirnov test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566160"/>
            <a:ext cx="1371600" cy="685800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94360" y="3611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 (Accuracy Ratio)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94360" y="391363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0.50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103120" y="3566160"/>
            <a:ext cx="6583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curve metric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Calibration &amp; Backtesting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Calibration: Model PDs match observed default rates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50876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Isotonic regression to adjust PD scores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Bin-wise comparison: predicted vs. actual defaults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14884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Hosmer-Lemeshow test for calibration quality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8346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Test: Model discriminates borrowers post-deployment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324612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monthly/quarterly default rates vs. predictions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356616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Revalidate annually; retrain if AUC drops &gt;5%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31520" y="388620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for data drift &amp; concept drift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Governance Framework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743200" cy="45720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1143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178308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assumptions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94360" y="214884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review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on holdout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383280" y="1097280"/>
            <a:ext cx="2743200" cy="45720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383280" y="1143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520440" y="178308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 by risk team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520440" y="214884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performance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520440" y="25146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309360" y="1097280"/>
            <a:ext cx="2743200" cy="45720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309360" y="1143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46520" y="178308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KPI tracking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46520" y="214884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Retraining schedule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46520" y="25146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escalation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14300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models outperform logistic regression on discriminatory power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8229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A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7830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provides regulatory-friendly model explanations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8229600" cy="548640"/>
          </a:xfrm>
          <a:prstGeom prst="rect">
            <a:avLst/>
          </a:prstGeom>
          <a:solidFill>
            <a:srgbClr val="F0F4F8"/>
          </a:solidFill>
          <a:ln w="12700">
            <a:solidFill>
              <a:srgbClr val="2E86AB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0080" y="242316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 III IRBA compliance is achievable with proper governance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8229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AB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0080" y="306324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and backtesting are essential for regulatory approval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657600"/>
            <a:ext cx="8229600" cy="548640"/>
          </a:xfrm>
          <a:prstGeom prst="rect">
            <a:avLst/>
          </a:prstGeom>
          <a:solidFill>
            <a:srgbClr val="F0F4F8"/>
          </a:solidFill>
          <a:ln w="12700">
            <a:solidFill>
              <a:srgbClr val="2E86A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370332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documentation and audit trails are as important as accuracy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Proxiant Academy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proxiant.ai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AI. Professionally.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2026-02-14T05:25:21Z</dcterms:created>
  <dcterms:modified xsi:type="dcterms:W3CDTF">2026-02-14T05:25:21Z</dcterms:modified>
</cp:coreProperties>
</file>